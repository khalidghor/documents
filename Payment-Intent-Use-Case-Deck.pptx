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6a45e231-ff69-816a-99cf-e4582fd1d0f5}">
          <p14:sldIdLst>
            <p14:sldId id="256"/>
          </p14:sldIdLst>
        </p14:section>
        <p14:section name="Framing" id="{10cc274f-0bb4-1e48-e2bc-e8ec4710290c}">
          <p14:sldIdLst>
            <p14:sldId id="257"/>
            <p14:sldId id="258"/>
            <p14:sldId id="259"/>
          </p14:sldIdLst>
        </p14:section>
        <p14:section name="Use cases" id="{286940d6-6971-c583-57cf-cc735126d697}">
          <p14:sldIdLst>
            <p14:sldId id="260"/>
            <p14:sldId id="261"/>
            <p14:sldId id="262"/>
            <p14:sldId id="263"/>
            <p14:sldId id="264"/>
            <p14:sldId id="265"/>
            <p14:sldId id="266"/>
          </p14:sldIdLst>
        </p14:section>
        <p14:section name="Reference model" id="{4989d3e0-cc15-7d05-5809-214ccbb584b6}">
          <p14:sldIdLst>
            <p14:sldId id="267"/>
            <p14:sldId id="268"/>
            <p14:sldId id="269"/>
            <p14:sldId id="270"/>
            <p14:sldId id="271"/>
          </p14:sldIdLst>
        </p14:section>
        <p14:section name="Validation and recommendation" id="{05e72971-88df-5572-dff2-894b06384103}">
          <p14:sldIdLst>
            <p14:sldId id="272"/>
            <p14:sldId id="273"/>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The argument in one line: the collection objective persists across many execution decisions; each attempt records one execution. Everything else follows from holding those two apart.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case 1 — Smart retry across rails. Retrying changes the rail, the route, the authentication strategy and the processor references. Those are new execution decisions, and each must be independently auditable.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case 2 — Soft decline followed by 3DS. 3DS is not a flag on an authorization request. It is a customer-authentication workflow with its own lifecycle, and it must never be confused with payment execution.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case 3 — Merchant-selected response-code strategy. The merchant configures policy, not individual execution steps. The platform decides whether the requested action is safe and executable for this particular payment.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case 4 — Multiple partial captures against partial shipment. A capture is not a new authorization attempt. It is a distinct financial operation against an existing authorization, and modelling it as an attempt confuses five different things at once.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case 5 — Authorization timeout and duplicate prevention. A timeout is a transport observation, not a financial outcome. Treating it as a decline is how customers end up holding two authorizations.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case 6 — Credential replacement between attempts. The collection objective has not changed, so the Intent should not. But the next attempt must record exactly which credential was used, and who chose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case 7 — Orders with multiple tenders or collection obligations. Where tenders have independent lifecycles, they are independent collection obligations. The Order coordinates the purchase; separate Intents manage the collections.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recommendation. Never couple payment acceptance to the availability of the Order service: if every payment requires a successful Order creation first, a healthy checkout cannot take money when the Order service is degraded.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0F1A2B"/>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75488" y="6419088"/>
            <a:ext cx="6400800" cy="237744"/>
          </a:xfrm>
          <a:prstGeom prst="rect">
            <a:avLst/>
          </a:prstGeom>
          <a:noFill/>
          <a:ln/>
        </p:spPr>
        <p:txBody>
          <a:bodyPr wrap="square" lIns="0" tIns="0" rIns="0" bIns="0" rtlCol="0" anchor="ctr"/>
          <a:lstStyle/>
          <a:p>
            <a:pPr algn="l" indent="0" marL="0">
              <a:buNone/>
            </a:pPr>
            <a:r>
              <a:rPr lang="en-US" sz="800" dirty="0">
                <a:solidFill>
                  <a:srgbClr val="9AA2AE"/>
                </a:solidFill>
                <a:latin typeface="Consolas" pitchFamily="34" charset="0"/>
                <a:ea typeface="Consolas" pitchFamily="34" charset="-122"/>
                <a:cs typeface="Consolas" pitchFamily="34" charset="-120"/>
              </a:rPr>
              <a:t>JPMorgan Chase Merchant Services  ·  Product Architecture</a:t>
            </a:r>
            <a:endParaRPr lang="en-US" sz="800" dirty="0"/>
          </a:p>
        </p:txBody>
      </p:sp>
      <p:sp>
        <p:nvSpPr>
          <p:cNvPr id="25" name="Slide Number Placeholder 0"/>
          <p:cNvSpPr>
            <a:spLocks noGrp="1"/>
          </p:cNvSpPr>
          <p:nvPr>
            <p:ph type="sldNum" sz="quarter" idx="4294967295"/>
          </p:nvPr>
        </p:nvSpPr>
        <p:spPr>
          <a:xfrm>
            <a:off x="11430000" y="6419088"/>
            <a:ext cx="36576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9AA2AE"/>
                </a:solidFill>
                <a:latin typeface="Consolas"/>
                <a:ea typeface="Consolas"/>
                <a:cs typeface="Consolas"/>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430000" y="6419088"/>
            <a:ext cx="36576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9AA2AE"/>
                </a:solidFill>
                <a:latin typeface="Consolas"/>
                <a:ea typeface="Consolas"/>
                <a:cs typeface="Consolas"/>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475488" y="1188720"/>
            <a:ext cx="1828800" cy="41148"/>
          </a:xfrm>
          <a:prstGeom prst="rect">
            <a:avLst/>
          </a:prstGeom>
          <a:solidFill>
            <a:srgbClr val="B8892F"/>
          </a:solidFill>
          <a:ln w="12700">
            <a:solidFill>
              <a:srgbClr val="333333"/>
            </a:solidFill>
            <a:prstDash val="solid"/>
          </a:ln>
        </p:spPr>
      </p:sp>
      <p:sp>
        <p:nvSpPr>
          <p:cNvPr id="3" name="Text 1"/>
          <p:cNvSpPr txBox="1"/>
          <p:nvPr/>
        </p:nvSpPr>
        <p:spPr>
          <a:xfrm>
            <a:off x="475488" y="1481328"/>
            <a:ext cx="11240719" cy="237744"/>
          </a:xfrm>
          <a:prstGeom prst="rect">
            <a:avLst/>
          </a:prstGeom>
          <a:noFill/>
          <a:ln/>
        </p:spPr>
        <p:txBody>
          <a:bodyPr wrap="square" lIns="0" tIns="0" rIns="0" bIns="0" rtlCol="0" anchor="ctr"/>
          <a:lstStyle/>
          <a:p>
            <a:pPr indent="0" marL="0">
              <a:buNone/>
            </a:pPr>
            <a:r>
              <a:rPr lang="en-US" sz="1100" spc="260" kern="0" dirty="0">
                <a:solidFill>
                  <a:srgbClr val="D9A03C"/>
                </a:solidFill>
                <a:latin typeface="Consolas" pitchFamily="34" charset="0"/>
                <a:ea typeface="Consolas" pitchFamily="34" charset="-122"/>
                <a:cs typeface="Consolas" pitchFamily="34" charset="-120"/>
              </a:rPr>
              <a:t>PAYMENT PLATFORM  ·  ARCHITECTURE DECK</a:t>
            </a:r>
            <a:endParaRPr lang="en-US" sz="1100" dirty="0"/>
          </a:p>
        </p:txBody>
      </p:sp>
      <p:sp>
        <p:nvSpPr>
          <p:cNvPr id="4" name="Text 2"/>
          <p:cNvSpPr txBox="1"/>
          <p:nvPr/>
        </p:nvSpPr>
        <p:spPr>
          <a:xfrm>
            <a:off x="475488" y="1828800"/>
            <a:ext cx="8778240" cy="1691640"/>
          </a:xfrm>
          <a:prstGeom prst="rect">
            <a:avLst/>
          </a:prstGeom>
          <a:noFill/>
          <a:ln/>
        </p:spPr>
        <p:txBody>
          <a:bodyPr wrap="square" lIns="0" tIns="0" rIns="0" bIns="0" rtlCol="0" anchor="t"/>
          <a:lstStyle/>
          <a:p>
            <a:pPr indent="0" marL="0">
              <a:lnSpc>
                <a:spcPct val="100000"/>
              </a:lnSpc>
              <a:buNone/>
            </a:pPr>
            <a:r>
              <a:rPr lang="en-US" sz="4400" b="1" dirty="0">
                <a:solidFill>
                  <a:srgbClr val="FFFFFF"/>
                </a:solidFill>
                <a:latin typeface="Cambria" pitchFamily="34" charset="0"/>
                <a:ea typeface="Cambria" pitchFamily="34" charset="-122"/>
                <a:cs typeface="Cambria" pitchFamily="34" charset="-120"/>
              </a:rPr>
              <a:t>Payment Intent</a:t>
            </a:r>
            <a:endParaRPr lang="en-US" sz="4400" dirty="0"/>
          </a:p>
          <a:p>
            <a:pPr indent="0" marL="0">
              <a:lnSpc>
                <a:spcPct val="100000"/>
              </a:lnSpc>
              <a:buNone/>
            </a:pPr>
            <a:r>
              <a:rPr lang="en-US" sz="4400" b="1" dirty="0">
                <a:solidFill>
                  <a:srgbClr val="FFFFFF"/>
                </a:solidFill>
                <a:latin typeface="Cambria" pitchFamily="34" charset="0"/>
                <a:ea typeface="Cambria" pitchFamily="34" charset="-122"/>
                <a:cs typeface="Cambria" pitchFamily="34" charset="-120"/>
              </a:rPr>
              <a:t>and Payment Attempt</a:t>
            </a:r>
            <a:endParaRPr lang="en-US" sz="4400" dirty="0"/>
          </a:p>
        </p:txBody>
      </p:sp>
      <p:sp>
        <p:nvSpPr>
          <p:cNvPr id="5" name="Text 3"/>
          <p:cNvSpPr txBox="1"/>
          <p:nvPr/>
        </p:nvSpPr>
        <p:spPr>
          <a:xfrm>
            <a:off x="475488" y="3703320"/>
            <a:ext cx="9509760" cy="1097280"/>
          </a:xfrm>
          <a:prstGeom prst="rect">
            <a:avLst/>
          </a:prstGeom>
          <a:noFill/>
          <a:ln/>
        </p:spPr>
        <p:txBody>
          <a:bodyPr wrap="square" lIns="0" tIns="0" rIns="0" bIns="0" rtlCol="0" anchor="t"/>
          <a:lstStyle/>
          <a:p>
            <a:pPr indent="0" marL="0">
              <a:buNone/>
            </a:pPr>
            <a:r>
              <a:rPr lang="en-US" sz="1400" dirty="0">
                <a:solidFill>
                  <a:srgbClr val="B9C4D4"/>
                </a:solidFill>
              </a:rPr>
              <a:t>The seven scenarios that justify having both objects — </a:t>
            </a:r>
            <a:pPr indent="0" marL="0">
              <a:buNone/>
            </a:pPr>
            <a:r>
              <a:rPr lang="en-US" sz="1400" b="1" dirty="0">
                <a:solidFill>
                  <a:srgbClr val="E8D9B4"/>
                </a:solidFill>
              </a:rPr>
              <a:t>one per slide</a:t>
            </a:r>
            <a:pPr indent="0" marL="0">
              <a:buNone/>
            </a:pPr>
            <a:r>
              <a:rPr lang="en-US" sz="1400" dirty="0">
                <a:solidFill>
                  <a:srgbClr val="B9C4D4"/>
                </a:solidFill>
              </a:rPr>
              <a:t> — covering retry across rails, orchestrated 3DS, merchant response-code policy, multiple partial captures, authorization timeout, credential replacement and the order layer, with what each record owns in every case.</a:t>
            </a:r>
            <a:endParaRPr lang="en-US" sz="1400" dirty="0"/>
          </a:p>
        </p:txBody>
      </p:sp>
      <p:sp>
        <p:nvSpPr>
          <p:cNvPr id="6" name="Shape 4"/>
          <p:cNvSpPr/>
          <p:nvPr/>
        </p:nvSpPr>
        <p:spPr>
          <a:xfrm>
            <a:off x="475488" y="5669280"/>
            <a:ext cx="11240719" cy="9144"/>
          </a:xfrm>
          <a:prstGeom prst="rect">
            <a:avLst/>
          </a:prstGeom>
          <a:solidFill>
            <a:srgbClr val="33415A"/>
          </a:solidFill>
          <a:ln w="12700">
            <a:solidFill>
              <a:srgbClr val="333333"/>
            </a:solidFill>
            <a:prstDash val="solid"/>
          </a:ln>
        </p:spPr>
      </p:sp>
      <p:sp>
        <p:nvSpPr>
          <p:cNvPr id="7" name="Text 5"/>
          <p:cNvSpPr txBox="1"/>
          <p:nvPr/>
        </p:nvSpPr>
        <p:spPr>
          <a:xfrm>
            <a:off x="475488" y="5797296"/>
            <a:ext cx="11240719" cy="274320"/>
          </a:xfrm>
          <a:prstGeom prst="rect">
            <a:avLst/>
          </a:prstGeom>
          <a:noFill/>
          <a:ln/>
        </p:spPr>
        <p:txBody>
          <a:bodyPr wrap="square" lIns="0" tIns="0" rIns="0" bIns="0" rtlCol="0" anchor="ctr"/>
          <a:lstStyle/>
          <a:p>
            <a:pPr indent="0" marL="0">
              <a:buNone/>
            </a:pPr>
            <a:r>
              <a:rPr lang="en-US" sz="1000" dirty="0">
                <a:solidFill>
                  <a:srgbClr val="6E7F98"/>
                </a:solidFill>
                <a:latin typeface="Consolas" pitchFamily="34" charset="0"/>
                <a:ea typeface="Consolas" pitchFamily="34" charset="-122"/>
                <a:cs typeface="Consolas" pitchFamily="34" charset="-120"/>
              </a:rPr>
              <a:t>JPMorgan Chase Merchant Services  ·  Product Architecture  ·  October 2026  ·  Version 2.0</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475488" y="310896"/>
            <a:ext cx="11240719" cy="219456"/>
          </a:xfrm>
          <a:prstGeom prst="rect">
            <a:avLst/>
          </a:prstGeom>
          <a:noFill/>
          <a:ln/>
        </p:spPr>
        <p:txBody>
          <a:bodyPr wrap="square" lIns="0" tIns="0" rIns="0" bIns="0" rtlCol="0" anchor="ctr"/>
          <a:lstStyle/>
          <a:p>
            <a:pPr indent="0" marL="0">
              <a:buNone/>
            </a:pPr>
            <a:r>
              <a:rPr lang="en-US" sz="1050" spc="240" kern="0" dirty="0">
                <a:solidFill>
                  <a:srgbClr val="B8892F"/>
                </a:solidFill>
                <a:latin typeface="Consolas" pitchFamily="34" charset="0"/>
                <a:ea typeface="Consolas" pitchFamily="34" charset="-122"/>
                <a:cs typeface="Consolas" pitchFamily="34" charset="-120"/>
              </a:rPr>
              <a:t>THE DESIGN RULE</a:t>
            </a:r>
            <a:endParaRPr lang="en-US" sz="1050" dirty="0"/>
          </a:p>
        </p:txBody>
      </p:sp>
      <p:sp>
        <p:nvSpPr>
          <p:cNvPr id="3" name="Text 1"/>
          <p:cNvSpPr txBox="1"/>
          <p:nvPr/>
        </p:nvSpPr>
        <p:spPr>
          <a:xfrm>
            <a:off x="475488" y="548640"/>
            <a:ext cx="11240719" cy="566928"/>
          </a:xfrm>
          <a:prstGeom prst="rect">
            <a:avLst/>
          </a:prstGeom>
          <a:noFill/>
          <a:ln/>
        </p:spPr>
        <p:txBody>
          <a:bodyPr wrap="square" lIns="0" tIns="0" rIns="0" bIns="0" rtlCol="0" anchor="t"/>
          <a:lstStyle/>
          <a:p>
            <a:pPr indent="0" marL="0">
              <a:buNone/>
            </a:pPr>
            <a:r>
              <a:rPr lang="en-US" sz="3000" b="1" dirty="0">
                <a:solidFill>
                  <a:srgbClr val="0F1A2B"/>
                </a:solidFill>
                <a:latin typeface="Cambria" pitchFamily="34" charset="0"/>
                <a:ea typeface="Cambria" pitchFamily="34" charset="-122"/>
                <a:cs typeface="Cambria" pitchFamily="34" charset="-120"/>
              </a:rPr>
              <a:t>Four responsibilities, kept apart</a:t>
            </a:r>
            <a:endParaRPr lang="en-US" sz="3000" dirty="0"/>
          </a:p>
        </p:txBody>
      </p:sp>
      <p:sp>
        <p:nvSpPr>
          <p:cNvPr id="4" name="Text 2"/>
          <p:cNvSpPr txBox="1"/>
          <p:nvPr/>
        </p:nvSpPr>
        <p:spPr>
          <a:xfrm>
            <a:off x="475488" y="1188720"/>
            <a:ext cx="11240719" cy="475488"/>
          </a:xfrm>
          <a:prstGeom prst="rect">
            <a:avLst/>
          </a:prstGeom>
          <a:noFill/>
          <a:ln/>
        </p:spPr>
        <p:txBody>
          <a:bodyPr wrap="square" lIns="0" tIns="0" rIns="0" bIns="0" rtlCol="0" anchor="t"/>
          <a:lstStyle/>
          <a:p>
            <a:pPr indent="0" marL="0">
              <a:buNone/>
            </a:pPr>
            <a:r>
              <a:rPr lang="en-US" sz="1250" dirty="0">
                <a:solidFill>
                  <a:srgbClr val="414A5C"/>
                </a:solidFill>
              </a:rPr>
              <a:t>The merchant's collection objective persists across many execution decisions. Each attempt records one execution and its outcome. Everything else follows from holding those two apart.</a:t>
            </a:r>
            <a:endParaRPr lang="en-US" sz="1250" dirty="0"/>
          </a:p>
        </p:txBody>
      </p:sp>
      <p:sp>
        <p:nvSpPr>
          <p:cNvPr id="5" name="Shape 3"/>
          <p:cNvSpPr/>
          <p:nvPr/>
        </p:nvSpPr>
        <p:spPr>
          <a:xfrm>
            <a:off x="475488" y="1737360"/>
            <a:ext cx="11240719" cy="22860"/>
          </a:xfrm>
          <a:prstGeom prst="rect">
            <a:avLst/>
          </a:prstGeom>
          <a:solidFill>
            <a:srgbClr val="B8892F"/>
          </a:solidFill>
          <a:ln w="12700">
            <a:solidFill>
              <a:srgbClr val="B8892F"/>
            </a:solidFill>
            <a:prstDash val="solid"/>
          </a:ln>
        </p:spPr>
      </p:sp>
      <p:sp>
        <p:nvSpPr>
          <p:cNvPr id="6" name="card-Payment Intent"/>
          <p:cNvSpPr/>
          <p:nvPr/>
        </p:nvSpPr>
        <p:spPr>
          <a:xfrm>
            <a:off x="475488" y="1901952"/>
            <a:ext cx="5492344" cy="1627632"/>
          </a:xfrm>
          <a:prstGeom prst="rect">
            <a:avLst/>
          </a:prstGeom>
          <a:solidFill>
            <a:srgbClr val="FBFAF7"/>
          </a:solidFill>
          <a:ln w="6350">
            <a:solidFill>
              <a:srgbClr val="DCD7CB"/>
            </a:solidFill>
            <a:prstDash val="solid"/>
          </a:ln>
        </p:spPr>
      </p:sp>
      <p:sp>
        <p:nvSpPr>
          <p:cNvPr id="7" name="Text 5"/>
          <p:cNvSpPr txBox="1"/>
          <p:nvPr/>
        </p:nvSpPr>
        <p:spPr>
          <a:xfrm>
            <a:off x="603504" y="2002536"/>
            <a:ext cx="5236312" cy="182880"/>
          </a:xfrm>
          <a:prstGeom prst="rect">
            <a:avLst/>
          </a:prstGeom>
          <a:noFill/>
          <a:ln/>
        </p:spPr>
        <p:txBody>
          <a:bodyPr wrap="square" lIns="0" tIns="0" rIns="0" bIns="0" rtlCol="0" anchor="ctr"/>
          <a:lstStyle/>
          <a:p>
            <a:pPr indent="0" marL="0">
              <a:buNone/>
            </a:pPr>
            <a:r>
              <a:rPr lang="en-US" sz="900" spc="140" kern="0" dirty="0">
                <a:solidFill>
                  <a:srgbClr val="26706A"/>
                </a:solidFill>
                <a:latin typeface="Consolas" pitchFamily="34" charset="0"/>
                <a:ea typeface="Consolas" pitchFamily="34" charset="-122"/>
                <a:cs typeface="Consolas" pitchFamily="34" charset="-120"/>
              </a:rPr>
              <a:t>DURABLE</a:t>
            </a:r>
            <a:endParaRPr lang="en-US" sz="900" dirty="0"/>
          </a:p>
        </p:txBody>
      </p:sp>
      <p:sp>
        <p:nvSpPr>
          <p:cNvPr id="8" name="Text 6"/>
          <p:cNvSpPr txBox="1"/>
          <p:nvPr/>
        </p:nvSpPr>
        <p:spPr>
          <a:xfrm>
            <a:off x="603504" y="2194560"/>
            <a:ext cx="5236312" cy="256032"/>
          </a:xfrm>
          <a:prstGeom prst="rect">
            <a:avLst/>
          </a:prstGeom>
          <a:noFill/>
          <a:ln/>
        </p:spPr>
        <p:txBody>
          <a:bodyPr wrap="square" lIns="0" tIns="0" rIns="0" bIns="0" rtlCol="0" anchor="ctr"/>
          <a:lstStyle/>
          <a:p>
            <a:pPr indent="0" marL="0">
              <a:buNone/>
            </a:pPr>
            <a:r>
              <a:rPr lang="en-US" sz="1450" b="1" dirty="0">
                <a:solidFill>
                  <a:srgbClr val="0F1A2B"/>
                </a:solidFill>
                <a:latin typeface="Cambria" pitchFamily="34" charset="0"/>
                <a:ea typeface="Cambria" pitchFamily="34" charset="-122"/>
                <a:cs typeface="Cambria" pitchFamily="34" charset="-120"/>
              </a:rPr>
              <a:t>Payment Intent</a:t>
            </a:r>
            <a:endParaRPr lang="en-US" sz="1450" dirty="0"/>
          </a:p>
        </p:txBody>
      </p:sp>
      <p:sp>
        <p:nvSpPr>
          <p:cNvPr id="9" name="Text 7"/>
          <p:cNvSpPr txBox="1"/>
          <p:nvPr/>
        </p:nvSpPr>
        <p:spPr>
          <a:xfrm>
            <a:off x="603504" y="2478024"/>
            <a:ext cx="5236312" cy="960120"/>
          </a:xfrm>
          <a:prstGeom prst="rect">
            <a:avLst/>
          </a:prstGeom>
          <a:noFill/>
          <a:ln/>
        </p:spPr>
        <p:txBody>
          <a:bodyPr wrap="square" lIns="0" tIns="0" rIns="0" bIns="0" rtlCol="0" anchor="t"/>
          <a:lstStyle/>
          <a:p>
            <a:pPr indent="0" marL="0">
              <a:buNone/>
            </a:pPr>
            <a:r>
              <a:rPr lang="en-US" sz="1100" dirty="0">
                <a:solidFill>
                  <a:srgbClr val="1A1F2B"/>
                </a:solidFill>
              </a:rPr>
              <a:t>The payment lifecycle and policy context. What the merchant is trying to collect, the amount and constraints, the customer-action state, and overall progress toward the objective.</a:t>
            </a:r>
            <a:endParaRPr lang="en-US" sz="1100" dirty="0"/>
          </a:p>
        </p:txBody>
      </p:sp>
      <p:sp>
        <p:nvSpPr>
          <p:cNvPr id="10" name="card-Payment Attempt"/>
          <p:cNvSpPr/>
          <p:nvPr/>
        </p:nvSpPr>
        <p:spPr>
          <a:xfrm>
            <a:off x="475488" y="3639312"/>
            <a:ext cx="5492344" cy="1627632"/>
          </a:xfrm>
          <a:prstGeom prst="rect">
            <a:avLst/>
          </a:prstGeom>
          <a:solidFill>
            <a:srgbClr val="FBFAF7"/>
          </a:solidFill>
          <a:ln w="6350">
            <a:solidFill>
              <a:srgbClr val="DCD7CB"/>
            </a:solidFill>
            <a:prstDash val="solid"/>
          </a:ln>
        </p:spPr>
      </p:sp>
      <p:sp>
        <p:nvSpPr>
          <p:cNvPr id="11" name="Text 9"/>
          <p:cNvSpPr txBox="1"/>
          <p:nvPr/>
        </p:nvSpPr>
        <p:spPr>
          <a:xfrm>
            <a:off x="603504" y="3739896"/>
            <a:ext cx="5236312" cy="182880"/>
          </a:xfrm>
          <a:prstGeom prst="rect">
            <a:avLst/>
          </a:prstGeom>
          <a:noFill/>
          <a:ln/>
        </p:spPr>
        <p:txBody>
          <a:bodyPr wrap="square" lIns="0" tIns="0" rIns="0" bIns="0" rtlCol="0" anchor="ctr"/>
          <a:lstStyle/>
          <a:p>
            <a:pPr indent="0" marL="0">
              <a:buNone/>
            </a:pPr>
            <a:r>
              <a:rPr lang="en-US" sz="900" spc="140" kern="0" dirty="0">
                <a:solidFill>
                  <a:srgbClr val="26706A"/>
                </a:solidFill>
                <a:latin typeface="Consolas" pitchFamily="34" charset="0"/>
                <a:ea typeface="Consolas" pitchFamily="34" charset="-122"/>
                <a:cs typeface="Consolas" pitchFamily="34" charset="-120"/>
              </a:rPr>
              <a:t>IMMUTABLE</a:t>
            </a:r>
            <a:endParaRPr lang="en-US" sz="900" dirty="0"/>
          </a:p>
        </p:txBody>
      </p:sp>
      <p:sp>
        <p:nvSpPr>
          <p:cNvPr id="12" name="Text 10"/>
          <p:cNvSpPr txBox="1"/>
          <p:nvPr/>
        </p:nvSpPr>
        <p:spPr>
          <a:xfrm>
            <a:off x="603504" y="3931920"/>
            <a:ext cx="5236312" cy="256032"/>
          </a:xfrm>
          <a:prstGeom prst="rect">
            <a:avLst/>
          </a:prstGeom>
          <a:noFill/>
          <a:ln/>
        </p:spPr>
        <p:txBody>
          <a:bodyPr wrap="square" lIns="0" tIns="0" rIns="0" bIns="0" rtlCol="0" anchor="ctr"/>
          <a:lstStyle/>
          <a:p>
            <a:pPr indent="0" marL="0">
              <a:buNone/>
            </a:pPr>
            <a:r>
              <a:rPr lang="en-US" sz="1450" b="1" dirty="0">
                <a:solidFill>
                  <a:srgbClr val="0F1A2B"/>
                </a:solidFill>
                <a:latin typeface="Cambria" pitchFamily="34" charset="0"/>
                <a:ea typeface="Cambria" pitchFamily="34" charset="-122"/>
                <a:cs typeface="Cambria" pitchFamily="34" charset="-120"/>
              </a:rPr>
              <a:t>Payment Attempt</a:t>
            </a:r>
            <a:endParaRPr lang="en-US" sz="1450" dirty="0"/>
          </a:p>
        </p:txBody>
      </p:sp>
      <p:sp>
        <p:nvSpPr>
          <p:cNvPr id="13" name="Text 11"/>
          <p:cNvSpPr txBox="1"/>
          <p:nvPr/>
        </p:nvSpPr>
        <p:spPr>
          <a:xfrm>
            <a:off x="603504" y="4215384"/>
            <a:ext cx="5236312" cy="960120"/>
          </a:xfrm>
          <a:prstGeom prst="rect">
            <a:avLst/>
          </a:prstGeom>
          <a:noFill/>
          <a:ln/>
        </p:spPr>
        <p:txBody>
          <a:bodyPr wrap="square" lIns="0" tIns="0" rIns="0" bIns="0" rtlCol="0" anchor="t"/>
          <a:lstStyle/>
          <a:p>
            <a:pPr indent="0" marL="0">
              <a:buNone/>
            </a:pPr>
            <a:r>
              <a:rPr lang="en-US" sz="1100" dirty="0">
                <a:solidFill>
                  <a:srgbClr val="1A1F2B"/>
                </a:solidFill>
              </a:rPr>
              <a:t>One execution record: the credential selected, the rail and route, authentication evidence, request and response, response-code classification, and financial outcome. Frozen once terminal.</a:t>
            </a:r>
            <a:endParaRPr lang="en-US" sz="1100" dirty="0"/>
          </a:p>
        </p:txBody>
      </p:sp>
      <p:sp>
        <p:nvSpPr>
          <p:cNvPr id="14" name="card-The orchestrator"/>
          <p:cNvSpPr/>
          <p:nvPr/>
        </p:nvSpPr>
        <p:spPr>
          <a:xfrm>
            <a:off x="6223864" y="1901952"/>
            <a:ext cx="5492344" cy="1627632"/>
          </a:xfrm>
          <a:prstGeom prst="rect">
            <a:avLst/>
          </a:prstGeom>
          <a:solidFill>
            <a:srgbClr val="FAF4E6"/>
          </a:solidFill>
          <a:ln w="6350">
            <a:solidFill>
              <a:srgbClr val="DCD7CB"/>
            </a:solidFill>
            <a:prstDash val="solid"/>
          </a:ln>
        </p:spPr>
      </p:sp>
      <p:sp>
        <p:nvSpPr>
          <p:cNvPr id="15" name="Text 13"/>
          <p:cNvSpPr txBox="1"/>
          <p:nvPr/>
        </p:nvSpPr>
        <p:spPr>
          <a:xfrm>
            <a:off x="6351880" y="2002536"/>
            <a:ext cx="5236312" cy="182880"/>
          </a:xfrm>
          <a:prstGeom prst="rect">
            <a:avLst/>
          </a:prstGeom>
          <a:noFill/>
          <a:ln/>
        </p:spPr>
        <p:txBody>
          <a:bodyPr wrap="square" lIns="0" tIns="0" rIns="0" bIns="0" rtlCol="0" anchor="ctr"/>
          <a:lstStyle/>
          <a:p>
            <a:pPr indent="0" marL="0">
              <a:buNone/>
            </a:pPr>
            <a:r>
              <a:rPr lang="en-US" sz="900" spc="140" kern="0" dirty="0">
                <a:solidFill>
                  <a:srgbClr val="B8892F"/>
                </a:solidFill>
                <a:latin typeface="Consolas" pitchFamily="34" charset="0"/>
                <a:ea typeface="Consolas" pitchFamily="34" charset="-122"/>
                <a:cs typeface="Consolas" pitchFamily="34" charset="-120"/>
              </a:rPr>
              <a:t>DECIDES</a:t>
            </a:r>
            <a:endParaRPr lang="en-US" sz="900" dirty="0"/>
          </a:p>
        </p:txBody>
      </p:sp>
      <p:sp>
        <p:nvSpPr>
          <p:cNvPr id="16" name="Text 14"/>
          <p:cNvSpPr txBox="1"/>
          <p:nvPr/>
        </p:nvSpPr>
        <p:spPr>
          <a:xfrm>
            <a:off x="6351880" y="2194560"/>
            <a:ext cx="5236312" cy="256032"/>
          </a:xfrm>
          <a:prstGeom prst="rect">
            <a:avLst/>
          </a:prstGeom>
          <a:noFill/>
          <a:ln/>
        </p:spPr>
        <p:txBody>
          <a:bodyPr wrap="square" lIns="0" tIns="0" rIns="0" bIns="0" rtlCol="0" anchor="ctr"/>
          <a:lstStyle/>
          <a:p>
            <a:pPr indent="0" marL="0">
              <a:buNone/>
            </a:pPr>
            <a:r>
              <a:rPr lang="en-US" sz="1450" b="1" dirty="0">
                <a:solidFill>
                  <a:srgbClr val="0F1A2B"/>
                </a:solidFill>
                <a:latin typeface="Cambria" pitchFamily="34" charset="0"/>
                <a:ea typeface="Cambria" pitchFamily="34" charset="-122"/>
                <a:cs typeface="Cambria" pitchFamily="34" charset="-120"/>
              </a:rPr>
              <a:t>The orchestrator</a:t>
            </a:r>
            <a:endParaRPr lang="en-US" sz="1450" dirty="0"/>
          </a:p>
        </p:txBody>
      </p:sp>
      <p:sp>
        <p:nvSpPr>
          <p:cNvPr id="17" name="Text 15"/>
          <p:cNvSpPr txBox="1"/>
          <p:nvPr/>
        </p:nvSpPr>
        <p:spPr>
          <a:xfrm>
            <a:off x="6351880" y="2478024"/>
            <a:ext cx="5236312" cy="960120"/>
          </a:xfrm>
          <a:prstGeom prst="rect">
            <a:avLst/>
          </a:prstGeom>
          <a:noFill/>
          <a:ln/>
        </p:spPr>
        <p:txBody>
          <a:bodyPr wrap="square" lIns="0" tIns="0" rIns="0" bIns="0" rtlCol="0" anchor="t"/>
          <a:lstStyle/>
          <a:p>
            <a:pPr indent="0" marL="0">
              <a:buNone/>
            </a:pPr>
            <a:r>
              <a:rPr lang="en-US" sz="1100" dirty="0">
                <a:solidFill>
                  <a:srgbClr val="1A1F2B"/>
                </a:solidFill>
              </a:rPr>
              <a:t>Makes decisions </a:t>
            </a:r>
            <a:pPr indent="0" marL="0">
              <a:buNone/>
            </a:pPr>
            <a:r>
              <a:rPr lang="en-US" sz="1100" i="1" dirty="0">
                <a:solidFill>
                  <a:srgbClr val="1A1F2B"/>
                </a:solidFill>
              </a:rPr>
              <a:t>across</a:t>
            </a:r>
            <a:pPr indent="0" marL="0">
              <a:buNone/>
            </a:pPr>
            <a:r>
              <a:rPr lang="en-US" sz="1100" dirty="0">
                <a:solidFill>
                  <a:srgbClr val="1A1F2B"/>
                </a:solidFill>
              </a:rPr>
              <a:t> attempts — retry, change rail, invoke 3DS, request customer action, wait for reconciliation, or stop. Each decision is itself a record, not an attempt.</a:t>
            </a:r>
            <a:endParaRPr lang="en-US" sz="1100" dirty="0"/>
          </a:p>
        </p:txBody>
      </p:sp>
      <p:sp>
        <p:nvSpPr>
          <p:cNvPr id="18" name="card-The merchant"/>
          <p:cNvSpPr/>
          <p:nvPr/>
        </p:nvSpPr>
        <p:spPr>
          <a:xfrm>
            <a:off x="6223864" y="3639312"/>
            <a:ext cx="5492344" cy="1627632"/>
          </a:xfrm>
          <a:prstGeom prst="rect">
            <a:avLst/>
          </a:prstGeom>
          <a:solidFill>
            <a:srgbClr val="FAF4E6"/>
          </a:solidFill>
          <a:ln w="6350">
            <a:solidFill>
              <a:srgbClr val="DCD7CB"/>
            </a:solidFill>
            <a:prstDash val="solid"/>
          </a:ln>
        </p:spPr>
      </p:sp>
      <p:sp>
        <p:nvSpPr>
          <p:cNvPr id="19" name="Text 17"/>
          <p:cNvSpPr txBox="1"/>
          <p:nvPr/>
        </p:nvSpPr>
        <p:spPr>
          <a:xfrm>
            <a:off x="6351880" y="3739896"/>
            <a:ext cx="5236312" cy="182880"/>
          </a:xfrm>
          <a:prstGeom prst="rect">
            <a:avLst/>
          </a:prstGeom>
          <a:noFill/>
          <a:ln/>
        </p:spPr>
        <p:txBody>
          <a:bodyPr wrap="square" lIns="0" tIns="0" rIns="0" bIns="0" rtlCol="0" anchor="ctr"/>
          <a:lstStyle/>
          <a:p>
            <a:pPr indent="0" marL="0">
              <a:buNone/>
            </a:pPr>
            <a:r>
              <a:rPr lang="en-US" sz="900" spc="140" kern="0" dirty="0">
                <a:solidFill>
                  <a:srgbClr val="B8892F"/>
                </a:solidFill>
                <a:latin typeface="Consolas" pitchFamily="34" charset="0"/>
                <a:ea typeface="Consolas" pitchFamily="34" charset="-122"/>
                <a:cs typeface="Consolas" pitchFamily="34" charset="-120"/>
              </a:rPr>
              <a:t>CONFIGURES</a:t>
            </a:r>
            <a:endParaRPr lang="en-US" sz="900" dirty="0"/>
          </a:p>
        </p:txBody>
      </p:sp>
      <p:sp>
        <p:nvSpPr>
          <p:cNvPr id="20" name="Text 18"/>
          <p:cNvSpPr txBox="1"/>
          <p:nvPr/>
        </p:nvSpPr>
        <p:spPr>
          <a:xfrm>
            <a:off x="6351880" y="3931920"/>
            <a:ext cx="5236312" cy="256032"/>
          </a:xfrm>
          <a:prstGeom prst="rect">
            <a:avLst/>
          </a:prstGeom>
          <a:noFill/>
          <a:ln/>
        </p:spPr>
        <p:txBody>
          <a:bodyPr wrap="square" lIns="0" tIns="0" rIns="0" bIns="0" rtlCol="0" anchor="ctr"/>
          <a:lstStyle/>
          <a:p>
            <a:pPr indent="0" marL="0">
              <a:buNone/>
            </a:pPr>
            <a:r>
              <a:rPr lang="en-US" sz="1450" b="1" dirty="0">
                <a:solidFill>
                  <a:srgbClr val="0F1A2B"/>
                </a:solidFill>
                <a:latin typeface="Cambria" pitchFamily="34" charset="0"/>
                <a:ea typeface="Cambria" pitchFamily="34" charset="-122"/>
                <a:cs typeface="Cambria" pitchFamily="34" charset="-120"/>
              </a:rPr>
              <a:t>The merchant</a:t>
            </a:r>
            <a:endParaRPr lang="en-US" sz="1450" dirty="0"/>
          </a:p>
        </p:txBody>
      </p:sp>
      <p:sp>
        <p:nvSpPr>
          <p:cNvPr id="21" name="Text 19"/>
          <p:cNvSpPr txBox="1"/>
          <p:nvPr/>
        </p:nvSpPr>
        <p:spPr>
          <a:xfrm>
            <a:off x="6351880" y="4215384"/>
            <a:ext cx="5236312" cy="960120"/>
          </a:xfrm>
          <a:prstGeom prst="rect">
            <a:avLst/>
          </a:prstGeom>
          <a:noFill/>
          <a:ln/>
        </p:spPr>
        <p:txBody>
          <a:bodyPr wrap="square" lIns="0" tIns="0" rIns="0" bIns="0" rtlCol="0" anchor="t"/>
          <a:lstStyle/>
          <a:p>
            <a:pPr indent="0" marL="0">
              <a:buNone/>
            </a:pPr>
            <a:r>
              <a:rPr lang="en-US" sz="1100" dirty="0">
                <a:solidFill>
                  <a:srgbClr val="1A1F2B"/>
                </a:solidFill>
              </a:rPr>
              <a:t>Specifies policy, not low-level execution steps: acceptable retry strategies, response-code behaviour, authentication requirements and capture preferences — within scheme, regulatory, risk and rail constraints.</a:t>
            </a:r>
            <a:endParaRPr lang="en-US" sz="1100" dirty="0"/>
          </a:p>
        </p:txBody>
      </p:sp>
      <p:sp>
        <p:nvSpPr>
          <p:cNvPr id="22" name="takeaway"/>
          <p:cNvSpPr/>
          <p:nvPr/>
        </p:nvSpPr>
        <p:spPr>
          <a:xfrm>
            <a:off x="475488" y="5541264"/>
            <a:ext cx="11240719" cy="768096"/>
          </a:xfrm>
          <a:prstGeom prst="rect">
            <a:avLst/>
          </a:prstGeom>
          <a:solidFill>
            <a:srgbClr val="0F1A2B"/>
          </a:solidFill>
          <a:ln w="12700">
            <a:solidFill>
              <a:srgbClr val="333333"/>
            </a:solidFill>
            <a:prstDash val="solid"/>
          </a:ln>
        </p:spPr>
      </p:sp>
      <p:sp>
        <p:nvSpPr>
          <p:cNvPr id="23" name="Text 21"/>
          <p:cNvSpPr txBox="1"/>
          <p:nvPr/>
        </p:nvSpPr>
        <p:spPr>
          <a:xfrm>
            <a:off x="640080" y="5623560"/>
            <a:ext cx="10911535" cy="182880"/>
          </a:xfrm>
          <a:prstGeom prst="rect">
            <a:avLst/>
          </a:prstGeom>
          <a:noFill/>
          <a:ln/>
        </p:spPr>
        <p:txBody>
          <a:bodyPr wrap="square" lIns="0" tIns="0" rIns="0" bIns="0" rtlCol="0" anchor="ctr"/>
          <a:lstStyle/>
          <a:p>
            <a:pPr indent="0" marL="0">
              <a:buNone/>
            </a:pPr>
            <a:r>
              <a:rPr lang="en-US" sz="900" spc="160" kern="0" dirty="0">
                <a:solidFill>
                  <a:srgbClr val="D9A03C"/>
                </a:solidFill>
                <a:latin typeface="Consolas" pitchFamily="34" charset="0"/>
                <a:ea typeface="Consolas" pitchFamily="34" charset="-122"/>
                <a:cs typeface="Consolas" pitchFamily="34" charset="-120"/>
              </a:rPr>
              <a:t>WHY THIS IS THE WHOLE ARGUMENT</a:t>
            </a:r>
            <a:endParaRPr lang="en-US" sz="900" dirty="0"/>
          </a:p>
        </p:txBody>
      </p:sp>
      <p:sp>
        <p:nvSpPr>
          <p:cNvPr id="24" name="Text 22"/>
          <p:cNvSpPr txBox="1"/>
          <p:nvPr/>
        </p:nvSpPr>
        <p:spPr>
          <a:xfrm>
            <a:off x="640080" y="5815584"/>
            <a:ext cx="10911535" cy="438912"/>
          </a:xfrm>
          <a:prstGeom prst="rect">
            <a:avLst/>
          </a:prstGeom>
          <a:noFill/>
          <a:ln/>
        </p:spPr>
        <p:txBody>
          <a:bodyPr wrap="square" lIns="0" tIns="0" rIns="0" bIns="0" rtlCol="0" anchor="t"/>
          <a:lstStyle/>
          <a:p>
            <a:pPr indent="0" marL="0">
              <a:buNone/>
            </a:pPr>
            <a:r>
              <a:rPr lang="en-US" sz="1150" dirty="0">
                <a:solidFill>
                  <a:srgbClr val="F2EEE4"/>
                </a:solidFill>
              </a:rPr>
              <a:t>The value is not more API objects. It is being able to </a:t>
            </a:r>
            <a:pPr indent="0" marL="0">
              <a:buNone/>
            </a:pPr>
            <a:r>
              <a:rPr lang="en-US" sz="1150" b="1" dirty="0">
                <a:solidFill>
                  <a:srgbClr val="E8D9B4"/>
                </a:solidFill>
              </a:rPr>
              <a:t>change routing, authentication, retry strategy and rail execution without losing the coherent payment lifecycle or the financial audit trail</a:t>
            </a:r>
            <a:pPr indent="0" marL="0">
              <a:buNone/>
            </a:pPr>
            <a:r>
              <a:rPr lang="en-US" sz="1150" dirty="0">
                <a:solidFill>
                  <a:srgbClr val="F2EEE4"/>
                </a:solidFill>
              </a:rPr>
              <a:t>.</a:t>
            </a:r>
            <a:endParaRPr lang="en-US" sz="1150" dirty="0"/>
          </a:p>
        </p:txBody>
      </p:sp>
      <p:sp>
        <p:nvSpPr>
          <p:cNvPr id="25" name="Slide Number Placeholder 0"/>
          <p:cNvSpPr>
            <a:spLocks noGrp="1"/>
          </p:cNvSpPr>
          <p:nvPr>
            <p:ph type="sldNum" sz="quarter" idx="4294967295"/>
          </p:nvPr>
        </p:nvSpPr>
        <p:spPr>
          <a:xfrm>
            <a:off x="11430000" y="6419088"/>
            <a:ext cx="36576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9AA2AE"/>
                </a:solidFill>
                <a:latin typeface="Consolas"/>
                <a:ea typeface="Consolas"/>
                <a:cs typeface="Consolas"/>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475488" y="310896"/>
            <a:ext cx="11240719" cy="219456"/>
          </a:xfrm>
          <a:prstGeom prst="rect">
            <a:avLst/>
          </a:prstGeom>
          <a:noFill/>
          <a:ln/>
        </p:spPr>
        <p:txBody>
          <a:bodyPr wrap="square" lIns="0" tIns="0" rIns="0" bIns="0" rtlCol="0" anchor="ctr"/>
          <a:lstStyle/>
          <a:p>
            <a:pPr indent="0" marL="0">
              <a:buNone/>
            </a:pPr>
            <a:r>
              <a:rPr lang="en-US" sz="1050" spc="240" kern="0" dirty="0">
                <a:solidFill>
                  <a:srgbClr val="B8892F"/>
                </a:solidFill>
                <a:latin typeface="Consolas" pitchFamily="34" charset="0"/>
                <a:ea typeface="Consolas" pitchFamily="34" charset="-122"/>
                <a:cs typeface="Consolas" pitchFamily="34" charset="-120"/>
              </a:rPr>
              <a:t>THE TARGET ARCHITECTURE</a:t>
            </a:r>
            <a:endParaRPr lang="en-US" sz="1050" dirty="0"/>
          </a:p>
        </p:txBody>
      </p:sp>
      <p:sp>
        <p:nvSpPr>
          <p:cNvPr id="3" name="Text 1"/>
          <p:cNvSpPr txBox="1"/>
          <p:nvPr/>
        </p:nvSpPr>
        <p:spPr>
          <a:xfrm>
            <a:off x="475488" y="548640"/>
            <a:ext cx="11240719" cy="566928"/>
          </a:xfrm>
          <a:prstGeom prst="rect">
            <a:avLst/>
          </a:prstGeom>
          <a:noFill/>
          <a:ln/>
        </p:spPr>
        <p:txBody>
          <a:bodyPr wrap="square" lIns="0" tIns="0" rIns="0" bIns="0" rtlCol="0" anchor="t"/>
          <a:lstStyle/>
          <a:p>
            <a:pPr indent="0" marL="0">
              <a:buNone/>
            </a:pPr>
            <a:r>
              <a:rPr lang="en-US" sz="3000" b="1" dirty="0">
                <a:solidFill>
                  <a:srgbClr val="0F1A2B"/>
                </a:solidFill>
                <a:latin typeface="Cambria" pitchFamily="34" charset="0"/>
                <a:ea typeface="Cambria" pitchFamily="34" charset="-122"/>
                <a:cs typeface="Cambria" pitchFamily="34" charset="-120"/>
              </a:rPr>
              <a:t>Intent above, decisions in the middle, execution beneath</a:t>
            </a:r>
            <a:endParaRPr lang="en-US" sz="3000" dirty="0"/>
          </a:p>
        </p:txBody>
      </p:sp>
      <p:sp>
        <p:nvSpPr>
          <p:cNvPr id="4" name="Text 2"/>
          <p:cNvSpPr txBox="1"/>
          <p:nvPr/>
        </p:nvSpPr>
        <p:spPr>
          <a:xfrm>
            <a:off x="475488" y="1188720"/>
            <a:ext cx="11240719" cy="475488"/>
          </a:xfrm>
          <a:prstGeom prst="rect">
            <a:avLst/>
          </a:prstGeom>
          <a:noFill/>
          <a:ln/>
        </p:spPr>
        <p:txBody>
          <a:bodyPr wrap="square" lIns="0" tIns="0" rIns="0" bIns="0" rtlCol="0" anchor="t"/>
          <a:lstStyle/>
          <a:p>
            <a:pPr indent="0" marL="0">
              <a:buNone/>
            </a:pPr>
            <a:r>
              <a:rPr lang="en-US" sz="1250" dirty="0">
                <a:solidFill>
                  <a:srgbClr val="414A5C"/>
                </a:solidFill>
              </a:rPr>
              <a:t>A retry decision is not a Payment Attempt, and a 3DS challenge is not necessarily a new Payment Attempt. Model orchestration decisions and customer-action sessions as their own records where their lifecycles warrant it.</a:t>
            </a:r>
            <a:endParaRPr lang="en-US" sz="1250" dirty="0"/>
          </a:p>
        </p:txBody>
      </p:sp>
      <p:sp>
        <p:nvSpPr>
          <p:cNvPr id="5" name="Shape 3"/>
          <p:cNvSpPr/>
          <p:nvPr/>
        </p:nvSpPr>
        <p:spPr>
          <a:xfrm>
            <a:off x="475488" y="1737360"/>
            <a:ext cx="11240719" cy="22860"/>
          </a:xfrm>
          <a:prstGeom prst="rect">
            <a:avLst/>
          </a:prstGeom>
          <a:solidFill>
            <a:srgbClr val="B8892F"/>
          </a:solidFill>
          <a:ln w="12700">
            <a:solidFill>
              <a:srgbClr val="B8892F"/>
            </a:solidFill>
            <a:prstDash val="solid"/>
          </a:ln>
        </p:spPr>
      </p:sp>
      <p:sp>
        <p:nvSpPr>
          <p:cNvPr id="6" name="arch-Payment Intent — durable aggregate"/>
          <p:cNvSpPr/>
          <p:nvPr/>
        </p:nvSpPr>
        <p:spPr>
          <a:xfrm>
            <a:off x="475488" y="1920240"/>
            <a:ext cx="11240719" cy="841248"/>
          </a:xfrm>
          <a:prstGeom prst="rect">
            <a:avLst/>
          </a:prstGeom>
          <a:solidFill>
            <a:srgbClr val="FAF4E6"/>
          </a:solidFill>
          <a:ln w="9525">
            <a:solidFill>
              <a:srgbClr val="DCD7CB"/>
            </a:solidFill>
            <a:prstDash val="solid"/>
          </a:ln>
        </p:spPr>
      </p:sp>
      <p:sp>
        <p:nvSpPr>
          <p:cNvPr id="7" name="Text 5"/>
          <p:cNvSpPr txBox="1"/>
          <p:nvPr/>
        </p:nvSpPr>
        <p:spPr>
          <a:xfrm>
            <a:off x="640080" y="2011680"/>
            <a:ext cx="10911535" cy="201168"/>
          </a:xfrm>
          <a:prstGeom prst="rect">
            <a:avLst/>
          </a:prstGeom>
          <a:noFill/>
          <a:ln/>
        </p:spPr>
        <p:txBody>
          <a:bodyPr wrap="square" lIns="0" tIns="0" rIns="0" bIns="0" rtlCol="0" anchor="ctr"/>
          <a:lstStyle/>
          <a:p>
            <a:pPr indent="0" marL="0">
              <a:buNone/>
            </a:pPr>
            <a:r>
              <a:rPr lang="en-US" sz="950" spc="150" kern="0" dirty="0">
                <a:solidFill>
                  <a:srgbClr val="B8892F"/>
                </a:solidFill>
                <a:latin typeface="Consolas" pitchFamily="34" charset="0"/>
                <a:ea typeface="Consolas" pitchFamily="34" charset="-122"/>
                <a:cs typeface="Consolas" pitchFamily="34" charset="-120"/>
              </a:rPr>
              <a:t>PAYMENT INTENT — DURABLE AGGREGATE</a:t>
            </a:r>
            <a:endParaRPr lang="en-US" sz="950" dirty="0"/>
          </a:p>
        </p:txBody>
      </p:sp>
      <p:sp>
        <p:nvSpPr>
          <p:cNvPr id="8" name="Text 6"/>
          <p:cNvSpPr txBox="1"/>
          <p:nvPr/>
        </p:nvSpPr>
        <p:spPr>
          <a:xfrm>
            <a:off x="640080" y="2231136"/>
            <a:ext cx="10911535" cy="438912"/>
          </a:xfrm>
          <a:prstGeom prst="rect">
            <a:avLst/>
          </a:prstGeom>
          <a:noFill/>
          <a:ln/>
        </p:spPr>
        <p:txBody>
          <a:bodyPr wrap="square" lIns="0" tIns="0" rIns="0" bIns="0" rtlCol="0" anchor="t"/>
          <a:lstStyle/>
          <a:p>
            <a:pPr indent="0" marL="0">
              <a:buNone/>
            </a:pPr>
            <a:r>
              <a:rPr lang="en-US" sz="1150" dirty="0">
                <a:solidFill>
                  <a:srgbClr val="1A1F2B"/>
                </a:solidFill>
              </a:rPr>
              <a:t>amount · currency · merchant constraints · payment instrument reference · authentication policy</a:t>
            </a:r>
            <a:endParaRPr lang="en-US" sz="1150" dirty="0"/>
          </a:p>
          <a:p>
            <a:pPr indent="0" marL="0">
              <a:buNone/>
            </a:pPr>
            <a:r>
              <a:rPr lang="en-US" sz="1150" dirty="0">
                <a:solidFill>
                  <a:srgbClr val="1A1F2B"/>
                </a:solidFill>
              </a:rPr>
              <a:t>retry policy · capture policy · lifecycle status · remaining collection obligation</a:t>
            </a:r>
            <a:endParaRPr lang="en-US" sz="1150" dirty="0"/>
          </a:p>
        </p:txBody>
      </p:sp>
      <p:sp>
        <p:nvSpPr>
          <p:cNvPr id="9" name="Shape 7"/>
          <p:cNvSpPr/>
          <p:nvPr/>
        </p:nvSpPr>
        <p:spPr>
          <a:xfrm>
            <a:off x="2926080" y="2798064"/>
            <a:ext cx="0" cy="310896"/>
          </a:xfrm>
          <a:prstGeom prst="line">
            <a:avLst/>
          </a:prstGeom>
          <a:noFill/>
          <a:ln w="19050">
            <a:solidFill>
              <a:srgbClr val="B8892F"/>
            </a:solidFill>
            <a:prstDash val="solid"/>
            <a:headEnd type="triangle"/>
          </a:ln>
        </p:spPr>
      </p:sp>
      <p:sp>
        <p:nvSpPr>
          <p:cNvPr id="10" name="Text 8"/>
          <p:cNvSpPr txBox="1"/>
          <p:nvPr/>
        </p:nvSpPr>
        <p:spPr>
          <a:xfrm>
            <a:off x="3108960" y="2816352"/>
            <a:ext cx="6858000" cy="274320"/>
          </a:xfrm>
          <a:prstGeom prst="rect">
            <a:avLst/>
          </a:prstGeom>
          <a:noFill/>
          <a:ln/>
        </p:spPr>
        <p:txBody>
          <a:bodyPr wrap="square" lIns="0" tIns="0" rIns="0" bIns="0" rtlCol="0" anchor="ctr"/>
          <a:lstStyle/>
          <a:p>
            <a:pPr indent="0" marL="0">
              <a:buNone/>
            </a:pPr>
            <a:r>
              <a:rPr lang="en-US" sz="1050" dirty="0">
                <a:solidFill>
                  <a:srgbClr val="6B7482"/>
                </a:solidFill>
                <a:latin typeface="Consolas" pitchFamily="34" charset="0"/>
                <a:ea typeface="Consolas" pitchFamily="34" charset="-122"/>
                <a:cs typeface="Consolas" pitchFamily="34" charset="-120"/>
              </a:rPr>
              <a:t>decision:  execute · authenticate · retry · wait · stop</a:t>
            </a:r>
            <a:endParaRPr lang="en-US" sz="1050" dirty="0"/>
          </a:p>
        </p:txBody>
      </p:sp>
      <p:sp>
        <p:nvSpPr>
          <p:cNvPr id="11" name="arch-Orchestration decision engine"/>
          <p:cNvSpPr/>
          <p:nvPr/>
        </p:nvSpPr>
        <p:spPr>
          <a:xfrm>
            <a:off x="475488" y="3145536"/>
            <a:ext cx="11240719" cy="841248"/>
          </a:xfrm>
          <a:prstGeom prst="rect">
            <a:avLst/>
          </a:prstGeom>
          <a:solidFill>
            <a:srgbClr val="FBFAF7"/>
          </a:solidFill>
          <a:ln w="9525">
            <a:solidFill>
              <a:srgbClr val="DCD7CB"/>
            </a:solidFill>
            <a:prstDash val="solid"/>
          </a:ln>
        </p:spPr>
      </p:sp>
      <p:sp>
        <p:nvSpPr>
          <p:cNvPr id="12" name="Text 10"/>
          <p:cNvSpPr txBox="1"/>
          <p:nvPr/>
        </p:nvSpPr>
        <p:spPr>
          <a:xfrm>
            <a:off x="640080" y="3236976"/>
            <a:ext cx="10911535" cy="201168"/>
          </a:xfrm>
          <a:prstGeom prst="rect">
            <a:avLst/>
          </a:prstGeom>
          <a:noFill/>
          <a:ln/>
        </p:spPr>
        <p:txBody>
          <a:bodyPr wrap="square" lIns="0" tIns="0" rIns="0" bIns="0" rtlCol="0" anchor="ctr"/>
          <a:lstStyle/>
          <a:p>
            <a:pPr indent="0" marL="0">
              <a:buNone/>
            </a:pPr>
            <a:r>
              <a:rPr lang="en-US" sz="950" spc="150" kern="0" dirty="0">
                <a:solidFill>
                  <a:srgbClr val="26706A"/>
                </a:solidFill>
                <a:latin typeface="Consolas" pitchFamily="34" charset="0"/>
                <a:ea typeface="Consolas" pitchFamily="34" charset="-122"/>
                <a:cs typeface="Consolas" pitchFamily="34" charset="-120"/>
              </a:rPr>
              <a:t>ORCHESTRATION DECISION ENGINE</a:t>
            </a:r>
            <a:endParaRPr lang="en-US" sz="950" dirty="0"/>
          </a:p>
        </p:txBody>
      </p:sp>
      <p:sp>
        <p:nvSpPr>
          <p:cNvPr id="13" name="Text 11"/>
          <p:cNvSpPr txBox="1"/>
          <p:nvPr/>
        </p:nvSpPr>
        <p:spPr>
          <a:xfrm>
            <a:off x="640080" y="3456432"/>
            <a:ext cx="10911535" cy="438912"/>
          </a:xfrm>
          <a:prstGeom prst="rect">
            <a:avLst/>
          </a:prstGeom>
          <a:noFill/>
          <a:ln/>
        </p:spPr>
        <p:txBody>
          <a:bodyPr wrap="square" lIns="0" tIns="0" rIns="0" bIns="0" rtlCol="0" anchor="t"/>
          <a:lstStyle/>
          <a:p>
            <a:pPr indent="0" marL="0">
              <a:buNone/>
            </a:pPr>
            <a:r>
              <a:rPr lang="en-US" sz="1150" dirty="0">
                <a:solidFill>
                  <a:srgbClr val="1A1F2B"/>
                </a:solidFill>
              </a:rPr>
              <a:t>Risk and 3DS — policy, customer action      ·      Routing and retries — rail and route strategy</a:t>
            </a:r>
            <a:endParaRPr lang="en-US" sz="1150" dirty="0"/>
          </a:p>
          <a:p>
            <a:pPr indent="0" marL="0">
              <a:buNone/>
            </a:pPr>
            <a:r>
              <a:rPr lang="en-US" sz="1150" dirty="0">
                <a:solidFill>
                  <a:srgbClr val="1A1F2B"/>
                </a:solidFill>
              </a:rPr>
              <a:t>Merchant policy — allowed actions, limits      ·      Outcome resolution — timeouts, reconciliation</a:t>
            </a:r>
            <a:endParaRPr lang="en-US" sz="1150" dirty="0"/>
          </a:p>
        </p:txBody>
      </p:sp>
      <p:sp>
        <p:nvSpPr>
          <p:cNvPr id="14" name="Shape 12"/>
          <p:cNvSpPr/>
          <p:nvPr/>
        </p:nvSpPr>
        <p:spPr>
          <a:xfrm>
            <a:off x="2926080" y="4023360"/>
            <a:ext cx="0" cy="310896"/>
          </a:xfrm>
          <a:prstGeom prst="line">
            <a:avLst/>
          </a:prstGeom>
          <a:noFill/>
          <a:ln w="19050">
            <a:solidFill>
              <a:srgbClr val="B8892F"/>
            </a:solidFill>
            <a:prstDash val="solid"/>
            <a:headEnd type="triangle"/>
          </a:ln>
        </p:spPr>
      </p:sp>
      <p:sp>
        <p:nvSpPr>
          <p:cNvPr id="15" name="Text 13"/>
          <p:cNvSpPr txBox="1"/>
          <p:nvPr/>
        </p:nvSpPr>
        <p:spPr>
          <a:xfrm>
            <a:off x="3108960" y="4041648"/>
            <a:ext cx="6858000" cy="274320"/>
          </a:xfrm>
          <a:prstGeom prst="rect">
            <a:avLst/>
          </a:prstGeom>
          <a:noFill/>
          <a:ln/>
        </p:spPr>
        <p:txBody>
          <a:bodyPr wrap="square" lIns="0" tIns="0" rIns="0" bIns="0" rtlCol="0" anchor="ctr"/>
          <a:lstStyle/>
          <a:p>
            <a:pPr indent="0" marL="0">
              <a:buNone/>
            </a:pPr>
            <a:r>
              <a:rPr lang="en-US" sz="1050" dirty="0">
                <a:solidFill>
                  <a:srgbClr val="6B7482"/>
                </a:solidFill>
                <a:latin typeface="Consolas" pitchFamily="34" charset="0"/>
                <a:ea typeface="Consolas" pitchFamily="34" charset="-122"/>
                <a:cs typeface="Consolas" pitchFamily="34" charset="-120"/>
              </a:rPr>
              <a:t>create a new execution only when policy authorizes it</a:t>
            </a:r>
            <a:endParaRPr lang="en-US" sz="1050" dirty="0"/>
          </a:p>
        </p:txBody>
      </p:sp>
      <p:sp>
        <p:nvSpPr>
          <p:cNvPr id="16" name="arch-Execution and financial records"/>
          <p:cNvSpPr/>
          <p:nvPr/>
        </p:nvSpPr>
        <p:spPr>
          <a:xfrm>
            <a:off x="475488" y="4370832"/>
            <a:ext cx="11240719" cy="987552"/>
          </a:xfrm>
          <a:prstGeom prst="rect">
            <a:avLst/>
          </a:prstGeom>
          <a:solidFill>
            <a:srgbClr val="FBFAF7"/>
          </a:solidFill>
          <a:ln w="9525">
            <a:solidFill>
              <a:srgbClr val="DCD7CB"/>
            </a:solidFill>
            <a:prstDash val="solid"/>
          </a:ln>
        </p:spPr>
      </p:sp>
      <p:sp>
        <p:nvSpPr>
          <p:cNvPr id="17" name="Text 15"/>
          <p:cNvSpPr txBox="1"/>
          <p:nvPr/>
        </p:nvSpPr>
        <p:spPr>
          <a:xfrm>
            <a:off x="640080" y="4462272"/>
            <a:ext cx="10911535" cy="201168"/>
          </a:xfrm>
          <a:prstGeom prst="rect">
            <a:avLst/>
          </a:prstGeom>
          <a:noFill/>
          <a:ln/>
        </p:spPr>
        <p:txBody>
          <a:bodyPr wrap="square" lIns="0" tIns="0" rIns="0" bIns="0" rtlCol="0" anchor="ctr"/>
          <a:lstStyle/>
          <a:p>
            <a:pPr indent="0" marL="0">
              <a:buNone/>
            </a:pPr>
            <a:r>
              <a:rPr lang="en-US" sz="950" spc="150" kern="0" dirty="0">
                <a:solidFill>
                  <a:srgbClr val="26706A"/>
                </a:solidFill>
                <a:latin typeface="Consolas" pitchFamily="34" charset="0"/>
                <a:ea typeface="Consolas" pitchFamily="34" charset="-122"/>
                <a:cs typeface="Consolas" pitchFamily="34" charset="-120"/>
              </a:rPr>
              <a:t>EXECUTION AND FINANCIAL RECORDS</a:t>
            </a:r>
            <a:endParaRPr lang="en-US" sz="950" dirty="0"/>
          </a:p>
        </p:txBody>
      </p:sp>
      <p:sp>
        <p:nvSpPr>
          <p:cNvPr id="18" name="Text 16"/>
          <p:cNvSpPr txBox="1"/>
          <p:nvPr/>
        </p:nvSpPr>
        <p:spPr>
          <a:xfrm>
            <a:off x="640080" y="4681728"/>
            <a:ext cx="10911535" cy="585216"/>
          </a:xfrm>
          <a:prstGeom prst="rect">
            <a:avLst/>
          </a:prstGeom>
          <a:noFill/>
          <a:ln/>
        </p:spPr>
        <p:txBody>
          <a:bodyPr wrap="square" lIns="0" tIns="0" rIns="0" bIns="0" rtlCol="0" anchor="t"/>
          <a:lstStyle/>
          <a:p>
            <a:pPr indent="0" marL="0">
              <a:buNone/>
            </a:pPr>
            <a:r>
              <a:rPr lang="en-US" sz="1150" dirty="0">
                <a:solidFill>
                  <a:srgbClr val="1A1F2B"/>
                </a:solidFill>
              </a:rPr>
              <a:t>Attempt 1 — rail A, declined   ·   Attempt 2 — rail B, approved   ·   Authentication session — evidence</a:t>
            </a:r>
            <a:endParaRPr lang="en-US" sz="1150" dirty="0"/>
          </a:p>
          <a:p>
            <a:pPr indent="0" marL="0">
              <a:buNone/>
            </a:pPr>
            <a:r>
              <a:rPr lang="en-US" sz="1150" dirty="0">
                <a:solidFill>
                  <a:srgbClr val="1A1F2B"/>
                </a:solidFill>
              </a:rPr>
              <a:t>Authorization record — approved balance   ·   Capture records — one per operation   ·   Refund records</a:t>
            </a:r>
            <a:endParaRPr lang="en-US" sz="1150" dirty="0"/>
          </a:p>
        </p:txBody>
      </p:sp>
      <p:sp>
        <p:nvSpPr>
          <p:cNvPr id="19" name="takeaway"/>
          <p:cNvSpPr/>
          <p:nvPr/>
        </p:nvSpPr>
        <p:spPr>
          <a:xfrm>
            <a:off x="475488" y="5541264"/>
            <a:ext cx="11240719" cy="768096"/>
          </a:xfrm>
          <a:prstGeom prst="rect">
            <a:avLst/>
          </a:prstGeom>
          <a:solidFill>
            <a:srgbClr val="0F1A2B"/>
          </a:solidFill>
          <a:ln w="12700">
            <a:solidFill>
              <a:srgbClr val="333333"/>
            </a:solidFill>
            <a:prstDash val="solid"/>
          </a:ln>
        </p:spPr>
      </p:sp>
      <p:sp>
        <p:nvSpPr>
          <p:cNvPr id="20" name="Text 18"/>
          <p:cNvSpPr txBox="1"/>
          <p:nvPr/>
        </p:nvSpPr>
        <p:spPr>
          <a:xfrm>
            <a:off x="640080" y="5623560"/>
            <a:ext cx="10911535" cy="182880"/>
          </a:xfrm>
          <a:prstGeom prst="rect">
            <a:avLst/>
          </a:prstGeom>
          <a:noFill/>
          <a:ln/>
        </p:spPr>
        <p:txBody>
          <a:bodyPr wrap="square" lIns="0" tIns="0" rIns="0" bIns="0" rtlCol="0" anchor="ctr"/>
          <a:lstStyle/>
          <a:p>
            <a:pPr indent="0" marL="0">
              <a:buNone/>
            </a:pPr>
            <a:r>
              <a:rPr lang="en-US" sz="900" spc="160" kern="0" dirty="0">
                <a:solidFill>
                  <a:srgbClr val="D9A03C"/>
                </a:solidFill>
                <a:latin typeface="Consolas" pitchFamily="34" charset="0"/>
                <a:ea typeface="Consolas" pitchFamily="34" charset="-122"/>
                <a:cs typeface="Consolas" pitchFamily="34" charset="-120"/>
              </a:rPr>
              <a:t>THE LOAD-BEARING LINE</a:t>
            </a:r>
            <a:endParaRPr lang="en-US" sz="900" dirty="0"/>
          </a:p>
        </p:txBody>
      </p:sp>
      <p:sp>
        <p:nvSpPr>
          <p:cNvPr id="21" name="Text 19"/>
          <p:cNvSpPr txBox="1"/>
          <p:nvPr/>
        </p:nvSpPr>
        <p:spPr>
          <a:xfrm>
            <a:off x="640080" y="5815584"/>
            <a:ext cx="10911535" cy="438912"/>
          </a:xfrm>
          <a:prstGeom prst="rect">
            <a:avLst/>
          </a:prstGeom>
          <a:noFill/>
          <a:ln/>
        </p:spPr>
        <p:txBody>
          <a:bodyPr wrap="square" lIns="0" tIns="0" rIns="0" bIns="0" rtlCol="0" anchor="t"/>
          <a:lstStyle/>
          <a:p>
            <a:pPr indent="0" marL="0">
              <a:buNone/>
            </a:pPr>
            <a:r>
              <a:rPr lang="en-US" sz="1150" dirty="0">
                <a:solidFill>
                  <a:srgbClr val="F2EEE4"/>
                </a:solidFill>
              </a:rPr>
              <a:t>Every attempt retains its own execution history. </a:t>
            </a:r>
            <a:pPr indent="0" marL="0">
              <a:buNone/>
            </a:pPr>
            <a:r>
              <a:rPr lang="en-US" sz="1150" b="1" dirty="0">
                <a:solidFill>
                  <a:srgbClr val="E8D9B4"/>
                </a:solidFill>
              </a:rPr>
              <a:t>The Intent maintains the coherent collection lifecycle across them</a:t>
            </a:r>
            <a:pPr indent="0" marL="0">
              <a:buNone/>
            </a:pPr>
            <a:r>
              <a:rPr lang="en-US" sz="1150" dirty="0">
                <a:solidFill>
                  <a:srgbClr val="F2EEE4"/>
                </a:solidFill>
              </a:rPr>
              <a:t> — and the orchestration decision record explains why one attempt followed another.</a:t>
            </a:r>
            <a:endParaRPr lang="en-US" sz="1150" dirty="0"/>
          </a:p>
        </p:txBody>
      </p:sp>
      <p:sp>
        <p:nvSpPr>
          <p:cNvPr id="25" name="Slide Number Placeholder 0"/>
          <p:cNvSpPr>
            <a:spLocks noGrp="1"/>
          </p:cNvSpPr>
          <p:nvPr>
            <p:ph type="sldNum" sz="quarter" idx="4294967295"/>
          </p:nvPr>
        </p:nvSpPr>
        <p:spPr>
          <a:xfrm>
            <a:off x="11430000" y="6419088"/>
            <a:ext cx="36576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9AA2AE"/>
                </a:solidFill>
                <a:latin typeface="Consolas"/>
                <a:ea typeface="Consolas"/>
                <a:cs typeface="Consolas"/>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475488" y="310896"/>
            <a:ext cx="11240719" cy="219456"/>
          </a:xfrm>
          <a:prstGeom prst="rect">
            <a:avLst/>
          </a:prstGeom>
          <a:noFill/>
          <a:ln/>
        </p:spPr>
        <p:txBody>
          <a:bodyPr wrap="square" lIns="0" tIns="0" rIns="0" bIns="0" rtlCol="0" anchor="ctr"/>
          <a:lstStyle/>
          <a:p>
            <a:pPr indent="0" marL="0">
              <a:buNone/>
            </a:pPr>
            <a:r>
              <a:rPr lang="en-US" sz="1050" spc="240" kern="0" dirty="0">
                <a:solidFill>
                  <a:srgbClr val="B8892F"/>
                </a:solidFill>
                <a:latin typeface="Consolas" pitchFamily="34" charset="0"/>
                <a:ea typeface="Consolas" pitchFamily="34" charset="-122"/>
                <a:cs typeface="Consolas" pitchFamily="34" charset="-120"/>
              </a:rPr>
              <a:t>THE BOUNDARY QUESTION</a:t>
            </a:r>
            <a:endParaRPr lang="en-US" sz="1050" dirty="0"/>
          </a:p>
        </p:txBody>
      </p:sp>
      <p:sp>
        <p:nvSpPr>
          <p:cNvPr id="3" name="Text 1"/>
          <p:cNvSpPr txBox="1"/>
          <p:nvPr/>
        </p:nvSpPr>
        <p:spPr>
          <a:xfrm>
            <a:off x="475488" y="548640"/>
            <a:ext cx="11240719" cy="566928"/>
          </a:xfrm>
          <a:prstGeom prst="rect">
            <a:avLst/>
          </a:prstGeom>
          <a:noFill/>
          <a:ln/>
        </p:spPr>
        <p:txBody>
          <a:bodyPr wrap="square" lIns="0" tIns="0" rIns="0" bIns="0" rtlCol="0" anchor="t"/>
          <a:lstStyle/>
          <a:p>
            <a:pPr indent="0" marL="0">
              <a:buNone/>
            </a:pPr>
            <a:r>
              <a:rPr lang="en-US" sz="3000" b="1" dirty="0">
                <a:solidFill>
                  <a:srgbClr val="0F1A2B"/>
                </a:solidFill>
                <a:latin typeface="Cambria" pitchFamily="34" charset="0"/>
                <a:ea typeface="Cambria" pitchFamily="34" charset="-122"/>
                <a:cs typeface="Cambria" pitchFamily="34" charset="-120"/>
              </a:rPr>
              <a:t>When does an execution become a new Attempt?</a:t>
            </a:r>
            <a:endParaRPr lang="en-US" sz="3000" dirty="0"/>
          </a:p>
        </p:txBody>
      </p:sp>
      <p:sp>
        <p:nvSpPr>
          <p:cNvPr id="4" name="Text 2"/>
          <p:cNvSpPr txBox="1"/>
          <p:nvPr/>
        </p:nvSpPr>
        <p:spPr>
          <a:xfrm>
            <a:off x="475488" y="1188720"/>
            <a:ext cx="11240719" cy="475488"/>
          </a:xfrm>
          <a:prstGeom prst="rect">
            <a:avLst/>
          </a:prstGeom>
          <a:noFill/>
          <a:ln/>
        </p:spPr>
        <p:txBody>
          <a:bodyPr wrap="square" lIns="0" tIns="0" rIns="0" bIns="0" rtlCol="0" anchor="t"/>
          <a:lstStyle/>
          <a:p>
            <a:pPr indent="0" marL="0">
              <a:buNone/>
            </a:pPr>
            <a:r>
              <a:rPr lang="en-US" sz="1250" dirty="0">
                <a:solidFill>
                  <a:srgbClr val="414A5C"/>
                </a:solidFill>
              </a:rPr>
              <a:t>An attempt is not the same thing as one network message. Getting this boundary wrong produces either an unauditable blob or an attempt count that nobody can interpret.</a:t>
            </a:r>
            <a:endParaRPr lang="en-US" sz="1250" dirty="0"/>
          </a:p>
        </p:txBody>
      </p:sp>
      <p:sp>
        <p:nvSpPr>
          <p:cNvPr id="5" name="Shape 3"/>
          <p:cNvSpPr/>
          <p:nvPr/>
        </p:nvSpPr>
        <p:spPr>
          <a:xfrm>
            <a:off x="475488" y="1737360"/>
            <a:ext cx="11240719" cy="22860"/>
          </a:xfrm>
          <a:prstGeom prst="rect">
            <a:avLst/>
          </a:prstGeom>
          <a:solidFill>
            <a:srgbClr val="B8892F"/>
          </a:solidFill>
          <a:ln w="12700">
            <a:solidFill>
              <a:srgbClr val="B8892F"/>
            </a:solidFill>
            <a:prstDash val="solid"/>
          </a:ln>
        </p:spPr>
      </p:sp>
      <p:sp>
        <p:nvSpPr>
          <p:cNvPr id="6" name="card-Internal processing steps"/>
          <p:cNvSpPr/>
          <p:nvPr/>
        </p:nvSpPr>
        <p:spPr>
          <a:xfrm>
            <a:off x="475488" y="1901952"/>
            <a:ext cx="5492344" cy="1627632"/>
          </a:xfrm>
          <a:prstGeom prst="rect">
            <a:avLst/>
          </a:prstGeom>
          <a:solidFill>
            <a:srgbClr val="FBFAF7"/>
          </a:solidFill>
          <a:ln w="6350">
            <a:solidFill>
              <a:srgbClr val="DCD7CB"/>
            </a:solidFill>
            <a:prstDash val="solid"/>
          </a:ln>
        </p:spPr>
      </p:sp>
      <p:sp>
        <p:nvSpPr>
          <p:cNvPr id="7" name="Text 5"/>
          <p:cNvSpPr txBox="1"/>
          <p:nvPr/>
        </p:nvSpPr>
        <p:spPr>
          <a:xfrm>
            <a:off x="603504" y="2002536"/>
            <a:ext cx="5236312" cy="182880"/>
          </a:xfrm>
          <a:prstGeom prst="rect">
            <a:avLst/>
          </a:prstGeom>
          <a:noFill/>
          <a:ln/>
        </p:spPr>
        <p:txBody>
          <a:bodyPr wrap="square" lIns="0" tIns="0" rIns="0" bIns="0" rtlCol="0" anchor="ctr"/>
          <a:lstStyle/>
          <a:p>
            <a:pPr indent="0" marL="0">
              <a:buNone/>
            </a:pPr>
            <a:r>
              <a:rPr lang="en-US" sz="900" spc="140" kern="0" dirty="0">
                <a:solidFill>
                  <a:srgbClr val="26706A"/>
                </a:solidFill>
                <a:latin typeface="Consolas" pitchFamily="34" charset="0"/>
                <a:ea typeface="Consolas" pitchFamily="34" charset="-122"/>
                <a:cs typeface="Consolas" pitchFamily="34" charset="-120"/>
              </a:rPr>
              <a:t>INSIDE ONE ATTEMPT</a:t>
            </a:r>
            <a:endParaRPr lang="en-US" sz="900" dirty="0"/>
          </a:p>
        </p:txBody>
      </p:sp>
      <p:sp>
        <p:nvSpPr>
          <p:cNvPr id="8" name="Text 6"/>
          <p:cNvSpPr txBox="1"/>
          <p:nvPr/>
        </p:nvSpPr>
        <p:spPr>
          <a:xfrm>
            <a:off x="603504" y="2194560"/>
            <a:ext cx="5236312" cy="256032"/>
          </a:xfrm>
          <a:prstGeom prst="rect">
            <a:avLst/>
          </a:prstGeom>
          <a:noFill/>
          <a:ln/>
        </p:spPr>
        <p:txBody>
          <a:bodyPr wrap="square" lIns="0" tIns="0" rIns="0" bIns="0" rtlCol="0" anchor="ctr"/>
          <a:lstStyle/>
          <a:p>
            <a:pPr indent="0" marL="0">
              <a:buNone/>
            </a:pPr>
            <a:r>
              <a:rPr lang="en-US" sz="1450" b="1" dirty="0">
                <a:solidFill>
                  <a:srgbClr val="0F1A2B"/>
                </a:solidFill>
                <a:latin typeface="Cambria" pitchFamily="34" charset="0"/>
                <a:ea typeface="Cambria" pitchFamily="34" charset="-122"/>
                <a:cs typeface="Cambria" pitchFamily="34" charset="-120"/>
              </a:rPr>
              <a:t>Internal processing steps</a:t>
            </a:r>
            <a:endParaRPr lang="en-US" sz="1450" dirty="0"/>
          </a:p>
        </p:txBody>
      </p:sp>
      <p:sp>
        <p:nvSpPr>
          <p:cNvPr id="9" name="Text 7"/>
          <p:cNvSpPr txBox="1"/>
          <p:nvPr/>
        </p:nvSpPr>
        <p:spPr>
          <a:xfrm>
            <a:off x="603504" y="2478024"/>
            <a:ext cx="5236312" cy="960120"/>
          </a:xfrm>
          <a:prstGeom prst="rect">
            <a:avLst/>
          </a:prstGeom>
          <a:noFill/>
          <a:ln/>
        </p:spPr>
        <p:txBody>
          <a:bodyPr wrap="square" lIns="0" tIns="0" rIns="0" bIns="0" rtlCol="0" anchor="t"/>
          <a:lstStyle/>
          <a:p>
            <a:pPr indent="0" marL="0">
              <a:buNone/>
            </a:pPr>
            <a:r>
              <a:rPr lang="en-US" sz="1100" dirty="0">
                <a:solidFill>
                  <a:srgbClr val="1A1F2B"/>
                </a:solidFill>
              </a:rPr>
              <a:t>Routing evaluation, risk scoring, a 3DS data-only request, and the authorization submission that follows can all belong to </a:t>
            </a:r>
            <a:pPr indent="0" marL="0">
              <a:buNone/>
            </a:pPr>
            <a:r>
              <a:rPr lang="en-US" sz="1100" b="1" dirty="0">
                <a:solidFill>
                  <a:srgbClr val="1A1F2B"/>
                </a:solidFill>
              </a:rPr>
              <a:t>one</a:t>
            </a:r>
            <a:pPr indent="0" marL="0">
              <a:buNone/>
            </a:pPr>
            <a:r>
              <a:rPr lang="en-US" sz="1100" dirty="0">
                <a:solidFill>
                  <a:srgbClr val="1A1F2B"/>
                </a:solidFill>
              </a:rPr>
              <a:t> attempt. They are steps toward a single execution decision, and none independently moves money.</a:t>
            </a:r>
            <a:endParaRPr lang="en-US" sz="1100" dirty="0"/>
          </a:p>
        </p:txBody>
      </p:sp>
      <p:sp>
        <p:nvSpPr>
          <p:cNvPr id="10" name="card-A new execution decision"/>
          <p:cNvSpPr/>
          <p:nvPr/>
        </p:nvSpPr>
        <p:spPr>
          <a:xfrm>
            <a:off x="475488" y="3639312"/>
            <a:ext cx="5492344" cy="1627632"/>
          </a:xfrm>
          <a:prstGeom prst="rect">
            <a:avLst/>
          </a:prstGeom>
          <a:solidFill>
            <a:srgbClr val="FBEEEE"/>
          </a:solidFill>
          <a:ln w="6350">
            <a:solidFill>
              <a:srgbClr val="DCD7CB"/>
            </a:solidFill>
            <a:prstDash val="solid"/>
          </a:ln>
        </p:spPr>
      </p:sp>
      <p:sp>
        <p:nvSpPr>
          <p:cNvPr id="11" name="Text 9"/>
          <p:cNvSpPr txBox="1"/>
          <p:nvPr/>
        </p:nvSpPr>
        <p:spPr>
          <a:xfrm>
            <a:off x="603504" y="3739896"/>
            <a:ext cx="5236312" cy="182880"/>
          </a:xfrm>
          <a:prstGeom prst="rect">
            <a:avLst/>
          </a:prstGeom>
          <a:noFill/>
          <a:ln/>
        </p:spPr>
        <p:txBody>
          <a:bodyPr wrap="square" lIns="0" tIns="0" rIns="0" bIns="0" rtlCol="0" anchor="ctr"/>
          <a:lstStyle/>
          <a:p>
            <a:pPr indent="0" marL="0">
              <a:buNone/>
            </a:pPr>
            <a:r>
              <a:rPr lang="en-US" sz="900" spc="140" kern="0" dirty="0">
                <a:solidFill>
                  <a:srgbClr val="9B2C2C"/>
                </a:solidFill>
                <a:latin typeface="Consolas" pitchFamily="34" charset="0"/>
                <a:ea typeface="Consolas" pitchFamily="34" charset="-122"/>
                <a:cs typeface="Consolas" pitchFamily="34" charset="-120"/>
              </a:rPr>
              <a:t>A NEW ATTEMPT</a:t>
            </a:r>
            <a:endParaRPr lang="en-US" sz="900" dirty="0"/>
          </a:p>
        </p:txBody>
      </p:sp>
      <p:sp>
        <p:nvSpPr>
          <p:cNvPr id="12" name="Text 10"/>
          <p:cNvSpPr txBox="1"/>
          <p:nvPr/>
        </p:nvSpPr>
        <p:spPr>
          <a:xfrm>
            <a:off x="603504" y="3931920"/>
            <a:ext cx="5236312" cy="256032"/>
          </a:xfrm>
          <a:prstGeom prst="rect">
            <a:avLst/>
          </a:prstGeom>
          <a:noFill/>
          <a:ln/>
        </p:spPr>
        <p:txBody>
          <a:bodyPr wrap="square" lIns="0" tIns="0" rIns="0" bIns="0" rtlCol="0" anchor="ctr"/>
          <a:lstStyle/>
          <a:p>
            <a:pPr indent="0" marL="0">
              <a:buNone/>
            </a:pPr>
            <a:r>
              <a:rPr lang="en-US" sz="1450" b="1" dirty="0">
                <a:solidFill>
                  <a:srgbClr val="0F1A2B"/>
                </a:solidFill>
                <a:latin typeface="Cambria" pitchFamily="34" charset="0"/>
                <a:ea typeface="Cambria" pitchFamily="34" charset="-122"/>
                <a:cs typeface="Cambria" pitchFamily="34" charset="-120"/>
              </a:rPr>
              <a:t>A new execution decision</a:t>
            </a:r>
            <a:endParaRPr lang="en-US" sz="1450" dirty="0"/>
          </a:p>
        </p:txBody>
      </p:sp>
      <p:sp>
        <p:nvSpPr>
          <p:cNvPr id="13" name="Text 11"/>
          <p:cNvSpPr txBox="1"/>
          <p:nvPr/>
        </p:nvSpPr>
        <p:spPr>
          <a:xfrm>
            <a:off x="603504" y="4215384"/>
            <a:ext cx="5236312" cy="960120"/>
          </a:xfrm>
          <a:prstGeom prst="rect">
            <a:avLst/>
          </a:prstGeom>
          <a:noFill/>
          <a:ln/>
        </p:spPr>
        <p:txBody>
          <a:bodyPr wrap="square" lIns="0" tIns="0" rIns="0" bIns="0" rtlCol="0" anchor="t"/>
          <a:lstStyle/>
          <a:p>
            <a:pPr indent="0" marL="0">
              <a:buNone/>
            </a:pPr>
            <a:r>
              <a:rPr lang="en-US" sz="1100" dirty="0">
                <a:solidFill>
                  <a:srgbClr val="1A1F2B"/>
                </a:solidFill>
              </a:rPr>
              <a:t>A different rail, a different credential, a different authentication strategy, or a resubmission after a definitive outcome. </a:t>
            </a:r>
            <a:pPr indent="0" marL="0">
              <a:buNone/>
            </a:pPr>
            <a:r>
              <a:rPr lang="en-US" sz="1100" b="1" dirty="0">
                <a:solidFill>
                  <a:srgbClr val="1A1F2B"/>
                </a:solidFill>
              </a:rPr>
              <a:t>Anything that changes what was submitted or where it went</a:t>
            </a:r>
            <a:pPr indent="0" marL="0">
              <a:buNone/>
            </a:pPr>
            <a:r>
              <a:rPr lang="en-US" sz="1100" dirty="0">
                <a:solidFill>
                  <a:srgbClr val="1A1F2B"/>
                </a:solidFill>
              </a:rPr>
              <a:t> is a new attempt, because it is a new thing to audit.</a:t>
            </a:r>
            <a:endParaRPr lang="en-US" sz="1100" dirty="0"/>
          </a:p>
        </p:txBody>
      </p:sp>
      <p:sp>
        <p:nvSpPr>
          <p:cNvPr id="14" name="card-Three things that are their own records"/>
          <p:cNvSpPr/>
          <p:nvPr/>
        </p:nvSpPr>
        <p:spPr>
          <a:xfrm>
            <a:off x="6223864" y="1901952"/>
            <a:ext cx="5492344" cy="1627632"/>
          </a:xfrm>
          <a:prstGeom prst="rect">
            <a:avLst/>
          </a:prstGeom>
          <a:solidFill>
            <a:srgbClr val="FAF4E6"/>
          </a:solidFill>
          <a:ln w="6350">
            <a:solidFill>
              <a:srgbClr val="DCD7CB"/>
            </a:solidFill>
            <a:prstDash val="solid"/>
          </a:ln>
        </p:spPr>
      </p:sp>
      <p:sp>
        <p:nvSpPr>
          <p:cNvPr id="15" name="Text 13"/>
          <p:cNvSpPr txBox="1"/>
          <p:nvPr/>
        </p:nvSpPr>
        <p:spPr>
          <a:xfrm>
            <a:off x="6351880" y="2002536"/>
            <a:ext cx="5236312" cy="182880"/>
          </a:xfrm>
          <a:prstGeom prst="rect">
            <a:avLst/>
          </a:prstGeom>
          <a:noFill/>
          <a:ln/>
        </p:spPr>
        <p:txBody>
          <a:bodyPr wrap="square" lIns="0" tIns="0" rIns="0" bIns="0" rtlCol="0" anchor="ctr"/>
          <a:lstStyle/>
          <a:p>
            <a:pPr indent="0" marL="0">
              <a:buNone/>
            </a:pPr>
            <a:r>
              <a:rPr lang="en-US" sz="900" spc="140" kern="0" dirty="0">
                <a:solidFill>
                  <a:srgbClr val="B8892F"/>
                </a:solidFill>
                <a:latin typeface="Consolas" pitchFamily="34" charset="0"/>
                <a:ea typeface="Consolas" pitchFamily="34" charset="-122"/>
                <a:cs typeface="Consolas" pitchFamily="34" charset="-120"/>
              </a:rPr>
              <a:t>NOT AN ATTEMPT AT ALL</a:t>
            </a:r>
            <a:endParaRPr lang="en-US" sz="900" dirty="0"/>
          </a:p>
        </p:txBody>
      </p:sp>
      <p:sp>
        <p:nvSpPr>
          <p:cNvPr id="16" name="Text 14"/>
          <p:cNvSpPr txBox="1"/>
          <p:nvPr/>
        </p:nvSpPr>
        <p:spPr>
          <a:xfrm>
            <a:off x="6351880" y="2194560"/>
            <a:ext cx="5236312" cy="256032"/>
          </a:xfrm>
          <a:prstGeom prst="rect">
            <a:avLst/>
          </a:prstGeom>
          <a:noFill/>
          <a:ln/>
        </p:spPr>
        <p:txBody>
          <a:bodyPr wrap="square" lIns="0" tIns="0" rIns="0" bIns="0" rtlCol="0" anchor="ctr"/>
          <a:lstStyle/>
          <a:p>
            <a:pPr indent="0" marL="0">
              <a:buNone/>
            </a:pPr>
            <a:r>
              <a:rPr lang="en-US" sz="1450" b="1" dirty="0">
                <a:solidFill>
                  <a:srgbClr val="0F1A2B"/>
                </a:solidFill>
                <a:latin typeface="Cambria" pitchFamily="34" charset="0"/>
                <a:ea typeface="Cambria" pitchFamily="34" charset="-122"/>
                <a:cs typeface="Cambria" pitchFamily="34" charset="-120"/>
              </a:rPr>
              <a:t>Three things that are their own records</a:t>
            </a:r>
            <a:endParaRPr lang="en-US" sz="1450" dirty="0"/>
          </a:p>
        </p:txBody>
      </p:sp>
      <p:sp>
        <p:nvSpPr>
          <p:cNvPr id="17" name="Text 15"/>
          <p:cNvSpPr txBox="1"/>
          <p:nvPr/>
        </p:nvSpPr>
        <p:spPr>
          <a:xfrm>
            <a:off x="6351880" y="2478024"/>
            <a:ext cx="5236312" cy="960120"/>
          </a:xfrm>
          <a:prstGeom prst="rect">
            <a:avLst/>
          </a:prstGeom>
          <a:noFill/>
          <a:ln/>
        </p:spPr>
        <p:txBody>
          <a:bodyPr wrap="square" lIns="0" tIns="0" rIns="0" bIns="0" rtlCol="0" anchor="t"/>
          <a:lstStyle/>
          <a:p>
            <a:pPr indent="0" marL="0">
              <a:buNone/>
            </a:pPr>
            <a:r>
              <a:rPr lang="en-US" sz="1100" b="1" dirty="0">
                <a:solidFill>
                  <a:srgbClr val="1A1F2B"/>
                </a:solidFill>
              </a:rPr>
              <a:t>Orchestration decision</a:t>
            </a:r>
            <a:pPr indent="0" marL="0">
              <a:buNone/>
            </a:pPr>
            <a:r>
              <a:rPr lang="en-US" sz="1100" dirty="0">
                <a:solidFill>
                  <a:srgbClr val="1A1F2B"/>
                </a:solidFill>
              </a:rPr>
              <a:t> — the choice to retry, change rail, authenticate or wait.
</a:t>
            </a:r>
            <a:pPr indent="0" marL="0">
              <a:buNone/>
            </a:pPr>
            <a:r>
              <a:rPr lang="en-US" sz="1100" b="1" dirty="0">
                <a:solidFill>
                  <a:srgbClr val="1A1F2B"/>
                </a:solidFill>
              </a:rPr>
              <a:t>Authentication session</a:t>
            </a:r>
            <a:pPr indent="0" marL="0">
              <a:buNone/>
            </a:pPr>
            <a:r>
              <a:rPr lang="en-US" sz="1100" dirty="0">
                <a:solidFill>
                  <a:srgbClr val="1A1F2B"/>
                </a:solidFill>
              </a:rPr>
              <a:t> — the 3DS workflow, which may outlive one attempt.
</a:t>
            </a:r>
            <a:pPr indent="0" marL="0">
              <a:buNone/>
            </a:pPr>
            <a:r>
              <a:rPr lang="en-US" sz="1100" b="1" dirty="0">
                <a:solidFill>
                  <a:srgbClr val="1A1F2B"/>
                </a:solidFill>
              </a:rPr>
              <a:t>Capture, refund and authorization records</a:t>
            </a:r>
            <a:pPr indent="0" marL="0">
              <a:buNone/>
            </a:pPr>
            <a:r>
              <a:rPr lang="en-US" sz="1100" dirty="0">
                <a:solidFill>
                  <a:srgbClr val="1A1F2B"/>
                </a:solidFill>
              </a:rPr>
              <a:t> — operations against an existing authorization.</a:t>
            </a:r>
            <a:endParaRPr lang="en-US" sz="1100" dirty="0"/>
          </a:p>
        </p:txBody>
      </p:sp>
      <p:sp>
        <p:nvSpPr>
          <p:cNvPr id="18" name="card-Does a different rule set apply?"/>
          <p:cNvSpPr/>
          <p:nvPr/>
        </p:nvSpPr>
        <p:spPr>
          <a:xfrm>
            <a:off x="6223864" y="3639312"/>
            <a:ext cx="5492344" cy="1627632"/>
          </a:xfrm>
          <a:prstGeom prst="rect">
            <a:avLst/>
          </a:prstGeom>
          <a:solidFill>
            <a:srgbClr val="FBEEEE"/>
          </a:solidFill>
          <a:ln w="6350">
            <a:solidFill>
              <a:srgbClr val="DCD7CB"/>
            </a:solidFill>
            <a:prstDash val="solid"/>
          </a:ln>
        </p:spPr>
      </p:sp>
      <p:sp>
        <p:nvSpPr>
          <p:cNvPr id="19" name="Text 17"/>
          <p:cNvSpPr txBox="1"/>
          <p:nvPr/>
        </p:nvSpPr>
        <p:spPr>
          <a:xfrm>
            <a:off x="6351880" y="3739896"/>
            <a:ext cx="5236312" cy="182880"/>
          </a:xfrm>
          <a:prstGeom prst="rect">
            <a:avLst/>
          </a:prstGeom>
          <a:noFill/>
          <a:ln/>
        </p:spPr>
        <p:txBody>
          <a:bodyPr wrap="square" lIns="0" tIns="0" rIns="0" bIns="0" rtlCol="0" anchor="ctr"/>
          <a:lstStyle/>
          <a:p>
            <a:pPr indent="0" marL="0">
              <a:buNone/>
            </a:pPr>
            <a:r>
              <a:rPr lang="en-US" sz="900" spc="140" kern="0" dirty="0">
                <a:solidFill>
                  <a:srgbClr val="9B2C2C"/>
                </a:solidFill>
                <a:latin typeface="Consolas" pitchFamily="34" charset="0"/>
                <a:ea typeface="Consolas" pitchFamily="34" charset="-122"/>
                <a:cs typeface="Consolas" pitchFamily="34" charset="-120"/>
              </a:rPr>
              <a:t>THE TEST</a:t>
            </a:r>
            <a:endParaRPr lang="en-US" sz="900" dirty="0"/>
          </a:p>
        </p:txBody>
      </p:sp>
      <p:sp>
        <p:nvSpPr>
          <p:cNvPr id="20" name="Text 18"/>
          <p:cNvSpPr txBox="1"/>
          <p:nvPr/>
        </p:nvSpPr>
        <p:spPr>
          <a:xfrm>
            <a:off x="6351880" y="3931920"/>
            <a:ext cx="5236312" cy="256032"/>
          </a:xfrm>
          <a:prstGeom prst="rect">
            <a:avLst/>
          </a:prstGeom>
          <a:noFill/>
          <a:ln/>
        </p:spPr>
        <p:txBody>
          <a:bodyPr wrap="square" lIns="0" tIns="0" rIns="0" bIns="0" rtlCol="0" anchor="ctr"/>
          <a:lstStyle/>
          <a:p>
            <a:pPr indent="0" marL="0">
              <a:buNone/>
            </a:pPr>
            <a:r>
              <a:rPr lang="en-US" sz="1450" b="1" dirty="0">
                <a:solidFill>
                  <a:srgbClr val="0F1A2B"/>
                </a:solidFill>
                <a:latin typeface="Cambria" pitchFamily="34" charset="0"/>
                <a:ea typeface="Cambria" pitchFamily="34" charset="-122"/>
                <a:cs typeface="Cambria" pitchFamily="34" charset="-120"/>
              </a:rPr>
              <a:t>Does a different rule set apply?</a:t>
            </a:r>
            <a:endParaRPr lang="en-US" sz="1450" dirty="0"/>
          </a:p>
        </p:txBody>
      </p:sp>
      <p:sp>
        <p:nvSpPr>
          <p:cNvPr id="21" name="Text 19"/>
          <p:cNvSpPr txBox="1"/>
          <p:nvPr/>
        </p:nvSpPr>
        <p:spPr>
          <a:xfrm>
            <a:off x="6351880" y="4215384"/>
            <a:ext cx="5236312" cy="960120"/>
          </a:xfrm>
          <a:prstGeom prst="rect">
            <a:avLst/>
          </a:prstGeom>
          <a:noFill/>
          <a:ln/>
        </p:spPr>
        <p:txBody>
          <a:bodyPr wrap="square" lIns="0" tIns="0" rIns="0" bIns="0" rtlCol="0" anchor="t"/>
          <a:lstStyle/>
          <a:p>
            <a:pPr indent="0" marL="0">
              <a:buNone/>
            </a:pPr>
            <a:r>
              <a:rPr lang="en-US" sz="1100" dirty="0">
                <a:solidFill>
                  <a:srgbClr val="1A1F2B"/>
                </a:solidFill>
              </a:rPr>
              <a:t>If retry policy governs one thing and idempotent operation-retry governs another, they are two types wearing one name. </a:t>
            </a:r>
            <a:pPr indent="0" marL="0">
              <a:buNone/>
            </a:pPr>
            <a:r>
              <a:rPr lang="en-US" sz="1100" b="1" dirty="0">
                <a:solidFill>
                  <a:srgbClr val="1A1F2B"/>
                </a:solidFill>
              </a:rPr>
              <a:t>A single field whose value changes which rules apply is a modelling smell</a:t>
            </a:r>
            <a:pPr indent="0" marL="0">
              <a:buNone/>
            </a:pPr>
            <a:r>
              <a:rPr lang="en-US" sz="1100" dirty="0">
                <a:solidFill>
                  <a:srgbClr val="1A1F2B"/>
                </a:solidFill>
              </a:rPr>
              <a:t>, not a simplification.</a:t>
            </a:r>
            <a:endParaRPr lang="en-US" sz="1100" dirty="0"/>
          </a:p>
        </p:txBody>
      </p:sp>
      <p:sp>
        <p:nvSpPr>
          <p:cNvPr id="22" name="takeaway"/>
          <p:cNvSpPr/>
          <p:nvPr/>
        </p:nvSpPr>
        <p:spPr>
          <a:xfrm>
            <a:off x="475488" y="5541264"/>
            <a:ext cx="11240719" cy="768096"/>
          </a:xfrm>
          <a:prstGeom prst="rect">
            <a:avLst/>
          </a:prstGeom>
          <a:solidFill>
            <a:srgbClr val="0F1A2B"/>
          </a:solidFill>
          <a:ln w="12700">
            <a:solidFill>
              <a:srgbClr val="333333"/>
            </a:solidFill>
            <a:prstDash val="solid"/>
          </a:ln>
        </p:spPr>
      </p:sp>
      <p:sp>
        <p:nvSpPr>
          <p:cNvPr id="23" name="Text 21"/>
          <p:cNvSpPr txBox="1"/>
          <p:nvPr/>
        </p:nvSpPr>
        <p:spPr>
          <a:xfrm>
            <a:off x="640080" y="5623560"/>
            <a:ext cx="10911535" cy="182880"/>
          </a:xfrm>
          <a:prstGeom prst="rect">
            <a:avLst/>
          </a:prstGeom>
          <a:noFill/>
          <a:ln/>
        </p:spPr>
        <p:txBody>
          <a:bodyPr wrap="square" lIns="0" tIns="0" rIns="0" bIns="0" rtlCol="0" anchor="ctr"/>
          <a:lstStyle/>
          <a:p>
            <a:pPr indent="0" marL="0">
              <a:buNone/>
            </a:pPr>
            <a:r>
              <a:rPr lang="en-US" sz="900" spc="160" kern="0" dirty="0">
                <a:solidFill>
                  <a:srgbClr val="D9A03C"/>
                </a:solidFill>
                <a:latin typeface="Consolas" pitchFamily="34" charset="0"/>
                <a:ea typeface="Consolas" pitchFamily="34" charset="-122"/>
                <a:cs typeface="Consolas" pitchFamily="34" charset="-120"/>
              </a:rPr>
              <a:t>CONSEQUENCE FOR THE API</a:t>
            </a:r>
            <a:endParaRPr lang="en-US" sz="900" dirty="0"/>
          </a:p>
        </p:txBody>
      </p:sp>
      <p:sp>
        <p:nvSpPr>
          <p:cNvPr id="24" name="Text 22"/>
          <p:cNvSpPr txBox="1"/>
          <p:nvPr/>
        </p:nvSpPr>
        <p:spPr>
          <a:xfrm>
            <a:off x="640080" y="5815584"/>
            <a:ext cx="10911535" cy="438912"/>
          </a:xfrm>
          <a:prstGeom prst="rect">
            <a:avLst/>
          </a:prstGeom>
          <a:noFill/>
          <a:ln/>
        </p:spPr>
        <p:txBody>
          <a:bodyPr wrap="square" lIns="0" tIns="0" rIns="0" bIns="0" rtlCol="0" anchor="t"/>
          <a:lstStyle/>
          <a:p>
            <a:pPr indent="0" marL="0">
              <a:buNone/>
            </a:pPr>
            <a:r>
              <a:rPr lang="en-US" sz="1150" dirty="0">
                <a:solidFill>
                  <a:srgbClr val="F2EEE4"/>
                </a:solidFill>
              </a:rPr>
              <a:t>Only </a:t>
            </a:r>
            <a:pPr indent="0" marL="0">
              <a:buNone/>
            </a:pPr>
            <a:r>
              <a:rPr lang="en-US" sz="1100" dirty="0">
                <a:solidFill>
                  <a:srgbClr val="F2EEE4"/>
                </a:solidFill>
                <a:latin typeface="Consolas" pitchFamily="34" charset="0"/>
                <a:ea typeface="Consolas" pitchFamily="34" charset="-122"/>
                <a:cs typeface="Consolas" pitchFamily="34" charset="-120"/>
              </a:rPr>
              <a:t>authorize</a:t>
            </a:r>
            <a:pPr indent="0" marL="0">
              <a:buNone/>
            </a:pPr>
            <a:r>
              <a:rPr lang="en-US" sz="1150" dirty="0">
                <a:solidFill>
                  <a:srgbClr val="F2EEE4"/>
                </a:solidFill>
              </a:rPr>
              <a:t> executions are subject to retry policy. A failed capture is retried idempotently against the same authorization — </a:t>
            </a:r>
            <a:pPr indent="0" marL="0">
              <a:buNone/>
            </a:pPr>
            <a:r>
              <a:rPr lang="en-US" sz="1150" b="1" dirty="0">
                <a:solidFill>
                  <a:srgbClr val="E8D9B4"/>
                </a:solidFill>
              </a:rPr>
              <a:t>a completely different mechanism that must not share a name</a:t>
            </a:r>
            <a:pPr indent="0" marL="0">
              <a:buNone/>
            </a:pPr>
            <a:r>
              <a:rPr lang="en-US" sz="1150" dirty="0">
                <a:solidFill>
                  <a:srgbClr val="F2EEE4"/>
                </a:solidFill>
              </a:rPr>
              <a:t>.</a:t>
            </a:r>
            <a:endParaRPr lang="en-US" sz="1150" dirty="0"/>
          </a:p>
        </p:txBody>
      </p:sp>
      <p:sp>
        <p:nvSpPr>
          <p:cNvPr id="25" name="Slide Number Placeholder 0"/>
          <p:cNvSpPr>
            <a:spLocks noGrp="1"/>
          </p:cNvSpPr>
          <p:nvPr>
            <p:ph type="sldNum" sz="quarter" idx="4294967295"/>
          </p:nvPr>
        </p:nvSpPr>
        <p:spPr>
          <a:xfrm>
            <a:off x="11430000" y="6419088"/>
            <a:ext cx="36576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9AA2AE"/>
                </a:solidFill>
                <a:latin typeface="Consolas"/>
                <a:ea typeface="Consolas"/>
                <a:cs typeface="Consolas"/>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475488" y="310896"/>
            <a:ext cx="11240719" cy="219456"/>
          </a:xfrm>
          <a:prstGeom prst="rect">
            <a:avLst/>
          </a:prstGeom>
          <a:noFill/>
          <a:ln/>
        </p:spPr>
        <p:txBody>
          <a:bodyPr wrap="square" lIns="0" tIns="0" rIns="0" bIns="0" rtlCol="0" anchor="ctr"/>
          <a:lstStyle/>
          <a:p>
            <a:pPr indent="0" marL="0">
              <a:buNone/>
            </a:pPr>
            <a:r>
              <a:rPr lang="en-US" sz="1050" spc="240" kern="0" dirty="0">
                <a:solidFill>
                  <a:srgbClr val="B8892F"/>
                </a:solidFill>
                <a:latin typeface="Consolas" pitchFamily="34" charset="0"/>
                <a:ea typeface="Consolas" pitchFamily="34" charset="-122"/>
                <a:cs typeface="Consolas" pitchFamily="34" charset="-120"/>
              </a:rPr>
              <a:t>USE CASE 01  ·  ROUTING</a:t>
            </a:r>
            <a:endParaRPr lang="en-US" sz="1050" dirty="0"/>
          </a:p>
        </p:txBody>
      </p:sp>
      <p:sp>
        <p:nvSpPr>
          <p:cNvPr id="3" name="Text 1"/>
          <p:cNvSpPr txBox="1"/>
          <p:nvPr/>
        </p:nvSpPr>
        <p:spPr>
          <a:xfrm>
            <a:off x="475488" y="548640"/>
            <a:ext cx="11240719" cy="566928"/>
          </a:xfrm>
          <a:prstGeom prst="rect">
            <a:avLst/>
          </a:prstGeom>
          <a:noFill/>
          <a:ln/>
        </p:spPr>
        <p:txBody>
          <a:bodyPr wrap="square" lIns="0" tIns="0" rIns="0" bIns="0" rtlCol="0" anchor="t"/>
          <a:lstStyle/>
          <a:p>
            <a:pPr indent="0" marL="0">
              <a:buNone/>
            </a:pPr>
            <a:r>
              <a:rPr lang="en-US" sz="3000" b="1" dirty="0">
                <a:solidFill>
                  <a:srgbClr val="0F1A2B"/>
                </a:solidFill>
                <a:latin typeface="Cambria" pitchFamily="34" charset="0"/>
                <a:ea typeface="Cambria" pitchFamily="34" charset="-122"/>
                <a:cs typeface="Cambria" pitchFamily="34" charset="-120"/>
              </a:rPr>
              <a:t>Smart retry across rails</a:t>
            </a:r>
            <a:endParaRPr lang="en-US" sz="3000" dirty="0"/>
          </a:p>
        </p:txBody>
      </p:sp>
      <p:sp>
        <p:nvSpPr>
          <p:cNvPr id="4" name="Text 2"/>
          <p:cNvSpPr txBox="1"/>
          <p:nvPr/>
        </p:nvSpPr>
        <p:spPr>
          <a:xfrm>
            <a:off x="475488" y="1188720"/>
            <a:ext cx="11240719" cy="475488"/>
          </a:xfrm>
          <a:prstGeom prst="rect">
            <a:avLst/>
          </a:prstGeom>
          <a:noFill/>
          <a:ln/>
        </p:spPr>
        <p:txBody>
          <a:bodyPr wrap="square" lIns="0" tIns="0" rIns="0" bIns="0" rtlCol="0" anchor="t"/>
          <a:lstStyle/>
          <a:p>
            <a:pPr indent="0" marL="0">
              <a:buNone/>
            </a:pPr>
            <a:r>
              <a:rPr lang="en-US" sz="1250" dirty="0">
                <a:solidFill>
                  <a:srgbClr val="414A5C"/>
                </a:solidFill>
              </a:rPr>
              <a:t>Retrying changes the rail, the route, the authentication strategy and the processor references. Those are new execution decisions, and each must be independently auditable.</a:t>
            </a:r>
            <a:endParaRPr lang="en-US" sz="1250" dirty="0"/>
          </a:p>
        </p:txBody>
      </p:sp>
      <p:sp>
        <p:nvSpPr>
          <p:cNvPr id="5" name="Shape 3"/>
          <p:cNvSpPr/>
          <p:nvPr/>
        </p:nvSpPr>
        <p:spPr>
          <a:xfrm>
            <a:off x="475488" y="1737360"/>
            <a:ext cx="11240719" cy="22860"/>
          </a:xfrm>
          <a:prstGeom prst="rect">
            <a:avLst/>
          </a:prstGeom>
          <a:solidFill>
            <a:srgbClr val="B8892F"/>
          </a:solidFill>
          <a:ln w="12700">
            <a:solidFill>
              <a:srgbClr val="B8892F"/>
            </a:solidFill>
            <a:prstDash val="solid"/>
          </a:ln>
        </p:spPr>
      </p:sp>
      <p:sp>
        <p:nvSpPr>
          <p:cNvPr id="6" name="scenario"/>
          <p:cNvSpPr/>
          <p:nvPr/>
        </p:nvSpPr>
        <p:spPr>
          <a:xfrm>
            <a:off x="475488" y="1847088"/>
            <a:ext cx="11240719" cy="566928"/>
          </a:xfrm>
          <a:prstGeom prst="rect">
            <a:avLst/>
          </a:prstGeom>
          <a:solidFill>
            <a:srgbClr val="F4F5F7"/>
          </a:solidFill>
          <a:ln w="6350">
            <a:solidFill>
              <a:srgbClr val="DCD7CB"/>
            </a:solidFill>
            <a:prstDash val="solid"/>
          </a:ln>
        </p:spPr>
      </p:sp>
      <p:sp>
        <p:nvSpPr>
          <p:cNvPr id="7" name="Text 5"/>
          <p:cNvSpPr txBox="1"/>
          <p:nvPr/>
        </p:nvSpPr>
        <p:spPr>
          <a:xfrm>
            <a:off x="603504" y="1911096"/>
            <a:ext cx="868680" cy="182880"/>
          </a:xfrm>
          <a:prstGeom prst="rect">
            <a:avLst/>
          </a:prstGeom>
          <a:noFill/>
          <a:ln/>
        </p:spPr>
        <p:txBody>
          <a:bodyPr wrap="square" lIns="0" tIns="0" rIns="0" bIns="0" rtlCol="0" anchor="ctr"/>
          <a:lstStyle/>
          <a:p>
            <a:pPr indent="0" marL="0">
              <a:buNone/>
            </a:pPr>
            <a:r>
              <a:rPr lang="en-US" sz="850" spc="120" kern="0" dirty="0">
                <a:solidFill>
                  <a:srgbClr val="6B7482"/>
                </a:solidFill>
                <a:latin typeface="Consolas" pitchFamily="34" charset="0"/>
                <a:ea typeface="Consolas" pitchFamily="34" charset="-122"/>
                <a:cs typeface="Consolas" pitchFamily="34" charset="-120"/>
              </a:rPr>
              <a:t>SCENARIO</a:t>
            </a:r>
            <a:endParaRPr lang="en-US" sz="850" dirty="0"/>
          </a:p>
        </p:txBody>
      </p:sp>
      <p:sp>
        <p:nvSpPr>
          <p:cNvPr id="8" name="Text 6"/>
          <p:cNvSpPr txBox="1"/>
          <p:nvPr/>
        </p:nvSpPr>
        <p:spPr>
          <a:xfrm>
            <a:off x="1481328" y="1901952"/>
            <a:ext cx="10088575" cy="457200"/>
          </a:xfrm>
          <a:prstGeom prst="rect">
            <a:avLst/>
          </a:prstGeom>
          <a:noFill/>
          <a:ln/>
        </p:spPr>
        <p:txBody>
          <a:bodyPr wrap="square" lIns="0" tIns="0" rIns="0" bIns="0" rtlCol="0" anchor="t"/>
          <a:lstStyle/>
          <a:p>
            <a:pPr indent="0" marL="0">
              <a:buNone/>
            </a:pPr>
            <a:r>
              <a:rPr lang="en-US" sz="1100" dirty="0">
                <a:solidFill>
                  <a:srgbClr val="1A1F2B"/>
                </a:solidFill>
              </a:rPr>
              <a:t>A merchant collects </a:t>
            </a:r>
            <a:pPr indent="0" marL="0">
              <a:buNone/>
            </a:pPr>
            <a:r>
              <a:rPr lang="en-US" sz="1100" b="1" dirty="0">
                <a:solidFill>
                  <a:srgbClr val="1A1F2B"/>
                </a:solidFill>
              </a:rPr>
              <a:t>$120.00</a:t>
            </a:r>
            <a:pPr indent="0" marL="0">
              <a:buNone/>
            </a:pPr>
            <a:r>
              <a:rPr lang="en-US" sz="1100" dirty="0">
                <a:solidFill>
                  <a:srgbClr val="1A1F2B"/>
                </a:solidFill>
              </a:rPr>
              <a:t>. The instrument is eligible for </a:t>
            </a:r>
            <a:pPr indent="0" marL="0">
              <a:buNone/>
            </a:pPr>
            <a:r>
              <a:rPr lang="en-US" sz="1100" b="1" dirty="0">
                <a:solidFill>
                  <a:srgbClr val="1A1F2B"/>
                </a:solidFill>
              </a:rPr>
              <a:t>two rails</a:t>
            </a:r>
            <a:pPr indent="0" marL="0">
              <a:buNone/>
            </a:pPr>
            <a:r>
              <a:rPr lang="en-US" sz="1100" dirty="0">
                <a:solidFill>
                  <a:srgbClr val="1A1F2B"/>
                </a:solidFill>
              </a:rPr>
              <a:t> — two debit networks for a card, or card and ACH for a stored customer. Policy permits one retry for eligible soft declines. Hard declines must not be retried; duplicate authorizations are forbidden.</a:t>
            </a:r>
            <a:endParaRPr lang="en-US" sz="1100" dirty="0"/>
          </a:p>
        </p:txBody>
      </p:sp>
      <p:sp>
        <p:nvSpPr>
          <p:cNvPr id="9" name="at-attempt-level"/>
          <p:cNvSpPr/>
          <p:nvPr/>
        </p:nvSpPr>
        <p:spPr>
          <a:xfrm>
            <a:off x="475488" y="2542032"/>
            <a:ext cx="5492344" cy="2048256"/>
          </a:xfrm>
          <a:prstGeom prst="rect">
            <a:avLst/>
          </a:prstGeom>
          <a:solidFill>
            <a:srgbClr val="FBEEEE"/>
          </a:solidFill>
          <a:ln w="6350">
            <a:solidFill>
              <a:srgbClr val="DCD7CB"/>
            </a:solidFill>
            <a:prstDash val="solid"/>
          </a:ln>
        </p:spPr>
      </p:sp>
      <p:sp>
        <p:nvSpPr>
          <p:cNvPr id="10" name="Text 8"/>
          <p:cNvSpPr txBox="1"/>
          <p:nvPr/>
        </p:nvSpPr>
        <p:spPr>
          <a:xfrm>
            <a:off x="621792" y="2633472"/>
            <a:ext cx="5199736" cy="182880"/>
          </a:xfrm>
          <a:prstGeom prst="rect">
            <a:avLst/>
          </a:prstGeom>
          <a:noFill/>
          <a:ln/>
        </p:spPr>
        <p:txBody>
          <a:bodyPr wrap="square" lIns="0" tIns="0" rIns="0" bIns="0" rtlCol="0" anchor="ctr"/>
          <a:lstStyle/>
          <a:p>
            <a:pPr indent="0" marL="0">
              <a:buNone/>
            </a:pPr>
            <a:r>
              <a:rPr lang="en-US" sz="950" spc="150" kern="0" dirty="0">
                <a:solidFill>
                  <a:srgbClr val="9B2C2C"/>
                </a:solidFill>
                <a:latin typeface="Consolas" pitchFamily="34" charset="0"/>
                <a:ea typeface="Consolas" pitchFamily="34" charset="-122"/>
                <a:cs typeface="Consolas" pitchFamily="34" charset="-120"/>
              </a:rPr>
              <a:t>AT ATTEMPT LEVEL</a:t>
            </a:r>
            <a:endParaRPr lang="en-US" sz="950" dirty="0"/>
          </a:p>
        </p:txBody>
      </p:sp>
      <p:sp>
        <p:nvSpPr>
          <p:cNvPr id="11" name="Text 9"/>
          <p:cNvSpPr txBox="1"/>
          <p:nvPr/>
        </p:nvSpPr>
        <p:spPr>
          <a:xfrm>
            <a:off x="621792" y="2852928"/>
            <a:ext cx="5199736" cy="1645920"/>
          </a:xfrm>
          <a:prstGeom prst="rect">
            <a:avLst/>
          </a:prstGeom>
          <a:noFill/>
          <a:ln/>
        </p:spPr>
        <p:txBody>
          <a:bodyPr wrap="square" lIns="0" tIns="0" rIns="0" bIns="0" rtlCol="0" anchor="t"/>
          <a:lstStyle/>
          <a:p>
            <a:pPr marL="177800" indent="-177800">
              <a:spcAft>
                <a:spcPts val="500"/>
              </a:spcAft>
              <a:buSzPct val="100000"/>
              <a:buChar char="•"/>
            </a:pPr>
            <a:r>
              <a:rPr lang="en-US" sz="1050" dirty="0">
                <a:solidFill>
                  <a:srgbClr val="1A1F2B"/>
                </a:solidFill>
              </a:rPr>
              <a:t>Attempt 1 soft-declines on rail A. Nothing durable records that a retry budget exists, or how much of it is spent.</a:t>
            </a:r>
            <a:endParaRPr lang="en-US" sz="1050" dirty="0"/>
          </a:p>
          <a:p>
            <a:pPr marL="177800" indent="-177800">
              <a:spcAft>
                <a:spcPts val="500"/>
              </a:spcAft>
              <a:buSzPct val="100000"/>
              <a:buChar char="•"/>
            </a:pPr>
            <a:r>
              <a:rPr lang="en-US" sz="1050" dirty="0">
                <a:solidFill>
                  <a:srgbClr val="1A1F2B"/>
                </a:solidFill>
              </a:rPr>
              <a:t>Retrying </a:t>
            </a:r>
            <a:pPr indent="0" marL="0">
              <a:spcAft>
                <a:spcPts val="500"/>
              </a:spcAft>
              <a:buNone/>
            </a:pPr>
            <a:r>
              <a:rPr lang="en-US" sz="1050" i="1" dirty="0">
                <a:solidFill>
                  <a:srgbClr val="1A1F2B"/>
                </a:solidFill>
              </a:rPr>
              <a:t>inside</a:t>
            </a:r>
            <a:pPr indent="0" marL="0">
              <a:spcAft>
                <a:spcPts val="500"/>
              </a:spcAft>
              <a:buNone/>
            </a:pPr>
            <a:r>
              <a:rPr lang="en-US" sz="1050" dirty="0">
                <a:solidFill>
                  <a:srgbClr val="1A1F2B"/>
                </a:solidFill>
              </a:rPr>
              <a:t> the attempt overwrites which rail and route were used, destroying the audit trail.</a:t>
            </a:r>
            <a:endParaRPr lang="en-US" sz="1050" dirty="0"/>
          </a:p>
          <a:p>
            <a:pPr marL="177800" indent="-177800">
              <a:spcAft>
                <a:spcPts val="500"/>
              </a:spcAft>
              <a:buSzPct val="100000"/>
              <a:buChar char="•"/>
            </a:pPr>
            <a:r>
              <a:rPr lang="en-US" sz="1050" dirty="0">
                <a:solidFill>
                  <a:srgbClr val="1A1F2B"/>
                </a:solidFill>
              </a:rPr>
              <a:t>Two of the merchant's own services can retry concurrently, because the counter lives in their database.</a:t>
            </a:r>
            <a:endParaRPr lang="en-US" sz="1050" dirty="0"/>
          </a:p>
          <a:p>
            <a:pPr marL="177800" indent="-177800">
              <a:spcAft>
                <a:spcPts val="500"/>
              </a:spcAft>
              <a:buSzPct val="100000"/>
              <a:buChar char="•"/>
            </a:pPr>
            <a:r>
              <a:rPr lang="en-US" sz="1050" b="1" dirty="0">
                <a:solidFill>
                  <a:srgbClr val="1A1F2B"/>
                </a:solidFill>
              </a:rPr>
              <a:t>Rail eligibility is the merchant's to determine</a:t>
            </a:r>
            <a:pPr indent="0" marL="0">
              <a:spcAft>
                <a:spcPts val="500"/>
              </a:spcAft>
              <a:buNone/>
            </a:pPr>
            <a:r>
              <a:rPr lang="en-US" sz="1050" dirty="0">
                <a:solidFill>
                  <a:srgbClr val="1A1F2B"/>
                </a:solidFill>
              </a:rPr>
              <a:t> — whether this instrument can be routed to rail B at all.</a:t>
            </a:r>
            <a:endParaRPr lang="en-US" sz="1050" dirty="0"/>
          </a:p>
        </p:txBody>
      </p:sp>
      <p:sp>
        <p:nvSpPr>
          <p:cNvPr id="12" name="with-payment-intent"/>
          <p:cNvSpPr/>
          <p:nvPr/>
        </p:nvSpPr>
        <p:spPr>
          <a:xfrm>
            <a:off x="6223864" y="2542032"/>
            <a:ext cx="5492344" cy="2048256"/>
          </a:xfrm>
          <a:prstGeom prst="rect">
            <a:avLst/>
          </a:prstGeom>
          <a:solidFill>
            <a:srgbClr val="D6E7E4"/>
          </a:solidFill>
          <a:ln w="6350">
            <a:solidFill>
              <a:srgbClr val="DCD7CB"/>
            </a:solidFill>
            <a:prstDash val="solid"/>
          </a:ln>
        </p:spPr>
      </p:sp>
      <p:sp>
        <p:nvSpPr>
          <p:cNvPr id="13" name="Text 11"/>
          <p:cNvSpPr txBox="1"/>
          <p:nvPr/>
        </p:nvSpPr>
        <p:spPr>
          <a:xfrm>
            <a:off x="6370168" y="2633472"/>
            <a:ext cx="5199736" cy="182880"/>
          </a:xfrm>
          <a:prstGeom prst="rect">
            <a:avLst/>
          </a:prstGeom>
          <a:noFill/>
          <a:ln/>
        </p:spPr>
        <p:txBody>
          <a:bodyPr wrap="square" lIns="0" tIns="0" rIns="0" bIns="0" rtlCol="0" anchor="ctr"/>
          <a:lstStyle/>
          <a:p>
            <a:pPr indent="0" marL="0">
              <a:buNone/>
            </a:pPr>
            <a:r>
              <a:rPr lang="en-US" sz="950" spc="150" kern="0" dirty="0">
                <a:solidFill>
                  <a:srgbClr val="26706A"/>
                </a:solidFill>
                <a:latin typeface="Consolas" pitchFamily="34" charset="0"/>
                <a:ea typeface="Consolas" pitchFamily="34" charset="-122"/>
                <a:cs typeface="Consolas" pitchFamily="34" charset="-120"/>
              </a:rPr>
              <a:t>WITH A PAYMENT INTENT</a:t>
            </a:r>
            <a:endParaRPr lang="en-US" sz="950" dirty="0"/>
          </a:p>
        </p:txBody>
      </p:sp>
      <p:sp>
        <p:nvSpPr>
          <p:cNvPr id="14" name="Text 12"/>
          <p:cNvSpPr txBox="1"/>
          <p:nvPr/>
        </p:nvSpPr>
        <p:spPr>
          <a:xfrm>
            <a:off x="6370168" y="2852928"/>
            <a:ext cx="5199736" cy="1645920"/>
          </a:xfrm>
          <a:prstGeom prst="rect">
            <a:avLst/>
          </a:prstGeom>
          <a:noFill/>
          <a:ln/>
        </p:spPr>
        <p:txBody>
          <a:bodyPr wrap="square" lIns="0" tIns="0" rIns="0" bIns="0" rtlCol="0" anchor="t"/>
          <a:lstStyle/>
          <a:p>
            <a:pPr marL="177800" indent="-177800">
              <a:spcAft>
                <a:spcPts val="500"/>
              </a:spcAft>
              <a:buSzPct val="100000"/>
              <a:buChar char="•"/>
            </a:pPr>
            <a:r>
              <a:rPr lang="en-US" sz="1000" dirty="0">
                <a:solidFill>
                  <a:srgbClr val="1A1F2B"/>
                </a:solidFill>
                <a:latin typeface="Consolas" pitchFamily="34" charset="0"/>
                <a:ea typeface="Consolas" pitchFamily="34" charset="-122"/>
                <a:cs typeface="Consolas" pitchFamily="34" charset="-120"/>
              </a:rPr>
              <a:t>pa_1</a:t>
            </a:r>
            <a:pPr indent="0" marL="0">
              <a:spcAft>
                <a:spcPts val="500"/>
              </a:spcAft>
              <a:buNone/>
            </a:pPr>
            <a:r>
              <a:rPr lang="en-US" sz="1050" dirty="0">
                <a:solidFill>
                  <a:srgbClr val="1A1F2B"/>
                </a:solidFill>
              </a:rPr>
              <a:t> on rail A records the soft decline with its raw code, route and normalized category, then freezes.</a:t>
            </a:r>
            <a:endParaRPr lang="en-US" sz="1000" dirty="0"/>
          </a:p>
          <a:p>
            <a:pPr marL="177800" indent="-177800">
              <a:spcAft>
                <a:spcPts val="500"/>
              </a:spcAft>
              <a:buSzPct val="100000"/>
              <a:buChar char="•"/>
            </a:pPr>
            <a:r>
              <a:rPr lang="en-US" sz="1050" dirty="0">
                <a:solidFill>
                  <a:srgbClr val="1A1F2B"/>
                </a:solidFill>
              </a:rPr>
              <a:t>The orchestrator checks response-code policy, remaining budget, </a:t>
            </a:r>
            <a:pPr indent="0" marL="0">
              <a:spcAft>
                <a:spcPts val="500"/>
              </a:spcAft>
              <a:buNone/>
            </a:pPr>
            <a:r>
              <a:rPr lang="en-US" sz="1050" b="1" dirty="0">
                <a:solidFill>
                  <a:srgbClr val="1A1F2B"/>
                </a:solidFill>
              </a:rPr>
              <a:t>rail eligibility</a:t>
            </a:r>
            <a:pPr indent="0" marL="0">
              <a:spcAft>
                <a:spcPts val="500"/>
              </a:spcAft>
              <a:buNone/>
            </a:pPr>
            <a:r>
              <a:rPr lang="en-US" sz="1050" dirty="0">
                <a:solidFill>
                  <a:srgbClr val="1A1F2B"/>
                </a:solidFill>
              </a:rPr>
              <a:t>, and whether attempt 1 was definitive.</a:t>
            </a:r>
            <a:endParaRPr lang="en-US" sz="1000" dirty="0"/>
          </a:p>
          <a:p>
            <a:pPr marL="177800" indent="-177800">
              <a:spcAft>
                <a:spcPts val="500"/>
              </a:spcAft>
              <a:buSzPct val="100000"/>
              <a:buChar char="•"/>
            </a:pPr>
            <a:r>
              <a:rPr lang="en-US" sz="1000" dirty="0">
                <a:solidFill>
                  <a:srgbClr val="1A1F2B"/>
                </a:solidFill>
                <a:latin typeface="Consolas" pitchFamily="34" charset="0"/>
                <a:ea typeface="Consolas" pitchFamily="34" charset="-122"/>
                <a:cs typeface="Consolas" pitchFamily="34" charset="-120"/>
              </a:rPr>
              <a:t>pa_2</a:t>
            </a:r>
            <a:pPr indent="0" marL="0">
              <a:spcAft>
                <a:spcPts val="500"/>
              </a:spcAft>
              <a:buNone/>
            </a:pPr>
            <a:r>
              <a:rPr lang="en-US" sz="1050" dirty="0">
                <a:solidFill>
                  <a:srgbClr val="1A1F2B"/>
                </a:solidFill>
              </a:rPr>
              <a:t> on rail B records the second route and its approval. Both attempts stay fully inspectable.</a:t>
            </a:r>
            <a:endParaRPr lang="en-US" sz="1000" dirty="0"/>
          </a:p>
          <a:p>
            <a:pPr marL="177800" indent="-177800">
              <a:spcAft>
                <a:spcPts val="500"/>
              </a:spcAft>
              <a:buSzPct val="100000"/>
              <a:buChar char="•"/>
            </a:pPr>
            <a:r>
              <a:rPr lang="en-US" sz="1050" b="1" dirty="0">
                <a:solidFill>
                  <a:srgbClr val="1A1F2B"/>
                </a:solidFill>
              </a:rPr>
              <a:t>Rail selection becomes a platform optimisation</a:t>
            </a:r>
            <a:pPr indent="0" marL="0">
              <a:spcAft>
                <a:spcPts val="500"/>
              </a:spcAft>
              <a:buNone/>
            </a:pPr>
            <a:r>
              <a:rPr lang="en-US" sz="1050" dirty="0">
                <a:solidFill>
                  <a:srgbClr val="1A1F2B"/>
                </a:solidFill>
              </a:rPr>
              <a:t> — least-cost and best-approval routing, learned across portfolio volume.</a:t>
            </a:r>
            <a:endParaRPr lang="en-US" sz="1000" dirty="0"/>
          </a:p>
        </p:txBody>
      </p:sp>
      <p:sp>
        <p:nvSpPr>
          <p:cNvPr id="15" name="owns-0"/>
          <p:cNvSpPr/>
          <p:nvPr/>
        </p:nvSpPr>
        <p:spPr>
          <a:xfrm>
            <a:off x="475488" y="4700016"/>
            <a:ext cx="3637178" cy="731520"/>
          </a:xfrm>
          <a:prstGeom prst="rect">
            <a:avLst/>
          </a:prstGeom>
          <a:solidFill>
            <a:srgbClr val="FBFAF7"/>
          </a:solidFill>
          <a:ln w="6350">
            <a:solidFill>
              <a:srgbClr val="DCD7CB"/>
            </a:solidFill>
            <a:prstDash val="solid"/>
          </a:ln>
        </p:spPr>
      </p:sp>
      <p:sp>
        <p:nvSpPr>
          <p:cNvPr id="16" name="Text 14"/>
          <p:cNvSpPr txBox="1"/>
          <p:nvPr/>
        </p:nvSpPr>
        <p:spPr>
          <a:xfrm>
            <a:off x="594360" y="4773168"/>
            <a:ext cx="3399434" cy="173736"/>
          </a:xfrm>
          <a:prstGeom prst="rect">
            <a:avLst/>
          </a:prstGeom>
          <a:noFill/>
          <a:ln/>
        </p:spPr>
        <p:txBody>
          <a:bodyPr wrap="square" lIns="0" tIns="0" rIns="0" bIns="0" rtlCol="0" anchor="ctr"/>
          <a:lstStyle/>
          <a:p>
            <a:pPr indent="0" marL="0">
              <a:buNone/>
            </a:pPr>
            <a:r>
              <a:rPr lang="en-US" sz="850" spc="120" kern="0" dirty="0">
                <a:solidFill>
                  <a:srgbClr val="B8892F"/>
                </a:solidFill>
                <a:latin typeface="Consolas" pitchFamily="34" charset="0"/>
                <a:ea typeface="Consolas" pitchFamily="34" charset="-122"/>
                <a:cs typeface="Consolas" pitchFamily="34" charset="-120"/>
              </a:rPr>
              <a:t>PAYMENT INTENT OWNS</a:t>
            </a:r>
            <a:endParaRPr lang="en-US" sz="850" dirty="0"/>
          </a:p>
        </p:txBody>
      </p:sp>
      <p:sp>
        <p:nvSpPr>
          <p:cNvPr id="17" name="Text 15"/>
          <p:cNvSpPr txBox="1"/>
          <p:nvPr/>
        </p:nvSpPr>
        <p:spPr>
          <a:xfrm>
            <a:off x="594360" y="4965192"/>
            <a:ext cx="3399434" cy="393192"/>
          </a:xfrm>
          <a:prstGeom prst="rect">
            <a:avLst/>
          </a:prstGeom>
          <a:noFill/>
          <a:ln/>
        </p:spPr>
        <p:txBody>
          <a:bodyPr wrap="square" lIns="0" tIns="0" rIns="0" bIns="0" rtlCol="0" anchor="t"/>
          <a:lstStyle/>
          <a:p>
            <a:pPr indent="0" marL="0">
              <a:buNone/>
            </a:pPr>
            <a:r>
              <a:rPr lang="en-US" sz="1000" dirty="0">
                <a:solidFill>
                  <a:srgbClr val="1A1F2B"/>
                </a:solidFill>
              </a:rPr>
              <a:t>The intended amount, the retry policy, and aggregate retry usage across every rail tried.</a:t>
            </a:r>
            <a:endParaRPr lang="en-US" sz="1000" dirty="0"/>
          </a:p>
        </p:txBody>
      </p:sp>
      <p:sp>
        <p:nvSpPr>
          <p:cNvPr id="18" name="owns-1"/>
          <p:cNvSpPr/>
          <p:nvPr/>
        </p:nvSpPr>
        <p:spPr>
          <a:xfrm>
            <a:off x="4277258" y="4700016"/>
            <a:ext cx="3637178" cy="731520"/>
          </a:xfrm>
          <a:prstGeom prst="rect">
            <a:avLst/>
          </a:prstGeom>
          <a:solidFill>
            <a:srgbClr val="FBFAF7"/>
          </a:solidFill>
          <a:ln w="6350">
            <a:solidFill>
              <a:srgbClr val="DCD7CB"/>
            </a:solidFill>
            <a:prstDash val="solid"/>
          </a:ln>
        </p:spPr>
      </p:sp>
      <p:sp>
        <p:nvSpPr>
          <p:cNvPr id="19" name="Text 17"/>
          <p:cNvSpPr txBox="1"/>
          <p:nvPr/>
        </p:nvSpPr>
        <p:spPr>
          <a:xfrm>
            <a:off x="4396130" y="4773168"/>
            <a:ext cx="3399434" cy="173736"/>
          </a:xfrm>
          <a:prstGeom prst="rect">
            <a:avLst/>
          </a:prstGeom>
          <a:noFill/>
          <a:ln/>
        </p:spPr>
        <p:txBody>
          <a:bodyPr wrap="square" lIns="0" tIns="0" rIns="0" bIns="0" rtlCol="0" anchor="ctr"/>
          <a:lstStyle/>
          <a:p>
            <a:pPr indent="0" marL="0">
              <a:buNone/>
            </a:pPr>
            <a:r>
              <a:rPr lang="en-US" sz="850" spc="120" kern="0" dirty="0">
                <a:solidFill>
                  <a:srgbClr val="B8892F"/>
                </a:solidFill>
                <a:latin typeface="Consolas" pitchFamily="34" charset="0"/>
                <a:ea typeface="Consolas" pitchFamily="34" charset="-122"/>
                <a:cs typeface="Consolas" pitchFamily="34" charset="-120"/>
              </a:rPr>
              <a:t>PAYMENT ATTEMPT OWNS</a:t>
            </a:r>
            <a:endParaRPr lang="en-US" sz="850" dirty="0"/>
          </a:p>
        </p:txBody>
      </p:sp>
      <p:sp>
        <p:nvSpPr>
          <p:cNvPr id="20" name="Text 18"/>
          <p:cNvSpPr txBox="1"/>
          <p:nvPr/>
        </p:nvSpPr>
        <p:spPr>
          <a:xfrm>
            <a:off x="4396130" y="4965192"/>
            <a:ext cx="3399434" cy="393192"/>
          </a:xfrm>
          <a:prstGeom prst="rect">
            <a:avLst/>
          </a:prstGeom>
          <a:noFill/>
          <a:ln/>
        </p:spPr>
        <p:txBody>
          <a:bodyPr wrap="square" lIns="0" tIns="0" rIns="0" bIns="0" rtlCol="0" anchor="t"/>
          <a:lstStyle/>
          <a:p>
            <a:pPr indent="0" marL="0">
              <a:buNone/>
            </a:pPr>
            <a:r>
              <a:rPr lang="en-US" sz="1000" dirty="0">
                <a:solidFill>
                  <a:srgbClr val="1A1F2B"/>
                </a:solidFill>
              </a:rPr>
              <a:t>Attempt number, the rail selected, route decision, raw and normalized outcome, processor reference.</a:t>
            </a:r>
            <a:endParaRPr lang="en-US" sz="1000" dirty="0"/>
          </a:p>
        </p:txBody>
      </p:sp>
      <p:sp>
        <p:nvSpPr>
          <p:cNvPr id="21" name="owns-2"/>
          <p:cNvSpPr/>
          <p:nvPr/>
        </p:nvSpPr>
        <p:spPr>
          <a:xfrm>
            <a:off x="8079029" y="4700016"/>
            <a:ext cx="3637178" cy="731520"/>
          </a:xfrm>
          <a:prstGeom prst="rect">
            <a:avLst/>
          </a:prstGeom>
          <a:solidFill>
            <a:srgbClr val="FBFAF7"/>
          </a:solidFill>
          <a:ln w="6350">
            <a:solidFill>
              <a:srgbClr val="DCD7CB"/>
            </a:solidFill>
            <a:prstDash val="solid"/>
          </a:ln>
        </p:spPr>
      </p:sp>
      <p:sp>
        <p:nvSpPr>
          <p:cNvPr id="22" name="Text 20"/>
          <p:cNvSpPr txBox="1"/>
          <p:nvPr/>
        </p:nvSpPr>
        <p:spPr>
          <a:xfrm>
            <a:off x="8197901" y="4773168"/>
            <a:ext cx="3399434" cy="173736"/>
          </a:xfrm>
          <a:prstGeom prst="rect">
            <a:avLst/>
          </a:prstGeom>
          <a:noFill/>
          <a:ln/>
        </p:spPr>
        <p:txBody>
          <a:bodyPr wrap="square" lIns="0" tIns="0" rIns="0" bIns="0" rtlCol="0" anchor="ctr"/>
          <a:lstStyle/>
          <a:p>
            <a:pPr indent="0" marL="0">
              <a:buNone/>
            </a:pPr>
            <a:r>
              <a:rPr lang="en-US" sz="850" spc="120" kern="0" dirty="0">
                <a:solidFill>
                  <a:srgbClr val="B8892F"/>
                </a:solidFill>
                <a:latin typeface="Consolas" pitchFamily="34" charset="0"/>
                <a:ea typeface="Consolas" pitchFamily="34" charset="-122"/>
                <a:cs typeface="Consolas" pitchFamily="34" charset="-120"/>
              </a:rPr>
              <a:t>ORCHESTRATION DECISION OWNS</a:t>
            </a:r>
            <a:endParaRPr lang="en-US" sz="850" dirty="0"/>
          </a:p>
        </p:txBody>
      </p:sp>
      <p:sp>
        <p:nvSpPr>
          <p:cNvPr id="23" name="Text 21"/>
          <p:cNvSpPr txBox="1"/>
          <p:nvPr/>
        </p:nvSpPr>
        <p:spPr>
          <a:xfrm>
            <a:off x="8197901" y="4965192"/>
            <a:ext cx="3399434" cy="393192"/>
          </a:xfrm>
          <a:prstGeom prst="rect">
            <a:avLst/>
          </a:prstGeom>
          <a:noFill/>
          <a:ln/>
        </p:spPr>
        <p:txBody>
          <a:bodyPr wrap="square" lIns="0" tIns="0" rIns="0" bIns="0" rtlCol="0" anchor="t"/>
          <a:lstStyle/>
          <a:p>
            <a:pPr indent="0" marL="0">
              <a:buNone/>
            </a:pPr>
            <a:r>
              <a:rPr lang="en-US" sz="1000" dirty="0">
                <a:solidFill>
                  <a:srgbClr val="1A1F2B"/>
                </a:solidFill>
              </a:rPr>
              <a:t>Policy version, which rails were eligible, the rail selected, and the reason.</a:t>
            </a:r>
            <a:endParaRPr lang="en-US" sz="1000" dirty="0"/>
          </a:p>
        </p:txBody>
      </p:sp>
      <p:sp>
        <p:nvSpPr>
          <p:cNvPr id="24" name="takeaway"/>
          <p:cNvSpPr/>
          <p:nvPr/>
        </p:nvSpPr>
        <p:spPr>
          <a:xfrm>
            <a:off x="475488" y="5541264"/>
            <a:ext cx="11240719" cy="768096"/>
          </a:xfrm>
          <a:prstGeom prst="rect">
            <a:avLst/>
          </a:prstGeom>
          <a:solidFill>
            <a:srgbClr val="0F1A2B"/>
          </a:solidFill>
          <a:ln w="12700">
            <a:solidFill>
              <a:srgbClr val="333333"/>
            </a:solidFill>
            <a:prstDash val="solid"/>
          </a:ln>
        </p:spPr>
      </p:sp>
      <p:sp>
        <p:nvSpPr>
          <p:cNvPr id="25" name="Text 23"/>
          <p:cNvSpPr txBox="1"/>
          <p:nvPr/>
        </p:nvSpPr>
        <p:spPr>
          <a:xfrm>
            <a:off x="640080" y="5623560"/>
            <a:ext cx="10911535" cy="182880"/>
          </a:xfrm>
          <a:prstGeom prst="rect">
            <a:avLst/>
          </a:prstGeom>
          <a:noFill/>
          <a:ln/>
        </p:spPr>
        <p:txBody>
          <a:bodyPr wrap="square" lIns="0" tIns="0" rIns="0" bIns="0" rtlCol="0" anchor="ctr"/>
          <a:lstStyle/>
          <a:p>
            <a:pPr indent="0" marL="0">
              <a:buNone/>
            </a:pPr>
            <a:r>
              <a:rPr lang="en-US" sz="900" spc="160" kern="0" dirty="0">
                <a:solidFill>
                  <a:srgbClr val="D9A03C"/>
                </a:solidFill>
                <a:latin typeface="Consolas" pitchFamily="34" charset="0"/>
                <a:ea typeface="Consolas" pitchFamily="34" charset="-122"/>
                <a:cs typeface="Consolas" pitchFamily="34" charset="-120"/>
              </a:rPr>
              <a:t>TAKEAWAY</a:t>
            </a:r>
            <a:endParaRPr lang="en-US" sz="900" dirty="0"/>
          </a:p>
        </p:txBody>
      </p:sp>
      <p:sp>
        <p:nvSpPr>
          <p:cNvPr id="26" name="Text 24"/>
          <p:cNvSpPr txBox="1"/>
          <p:nvPr/>
        </p:nvSpPr>
        <p:spPr>
          <a:xfrm>
            <a:off x="640080" y="5815584"/>
            <a:ext cx="10911535" cy="438912"/>
          </a:xfrm>
          <a:prstGeom prst="rect">
            <a:avLst/>
          </a:prstGeom>
          <a:noFill/>
          <a:ln/>
        </p:spPr>
        <p:txBody>
          <a:bodyPr wrap="square" lIns="0" tIns="0" rIns="0" bIns="0" rtlCol="0" anchor="t"/>
          <a:lstStyle/>
          <a:p>
            <a:pPr indent="0" marL="0">
              <a:buNone/>
            </a:pPr>
            <a:r>
              <a:rPr lang="en-US" sz="1150" dirty="0">
                <a:solidFill>
                  <a:srgbClr val="F2EEE4"/>
                </a:solidFill>
              </a:rPr>
              <a:t>The retry decision is </a:t>
            </a:r>
            <a:pPr indent="0" marL="0">
              <a:buNone/>
            </a:pPr>
            <a:r>
              <a:rPr lang="en-US" sz="1150" b="1" dirty="0">
                <a:solidFill>
                  <a:srgbClr val="E8D9B4"/>
                </a:solidFill>
              </a:rPr>
              <a:t>not itself an attempt</a:t>
            </a:r>
            <a:pPr indent="0" marL="0">
              <a:buNone/>
            </a:pPr>
            <a:r>
              <a:rPr lang="en-US" sz="1150" dirty="0">
                <a:solidFill>
                  <a:srgbClr val="F2EEE4"/>
                </a:solidFill>
              </a:rPr>
              <a:t>. Recording it separately answers “why did this move to the second rail” a year later — and rail choice is the lever that compounds, because it can only be learned across portfolio volume.</a:t>
            </a:r>
            <a:endParaRPr lang="en-US" sz="1150" dirty="0"/>
          </a:p>
        </p:txBody>
      </p:sp>
      <p:sp>
        <p:nvSpPr>
          <p:cNvPr id="25" name="Slide Number Placeholder 0"/>
          <p:cNvSpPr>
            <a:spLocks noGrp="1"/>
          </p:cNvSpPr>
          <p:nvPr>
            <p:ph type="sldNum" sz="quarter" idx="4294967295"/>
          </p:nvPr>
        </p:nvSpPr>
        <p:spPr>
          <a:xfrm>
            <a:off x="11430000" y="6419088"/>
            <a:ext cx="36576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9AA2AE"/>
                </a:solidFill>
                <a:latin typeface="Consolas"/>
                <a:ea typeface="Consolas"/>
                <a:cs typeface="Consolas"/>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475488" y="310896"/>
            <a:ext cx="11240719" cy="219456"/>
          </a:xfrm>
          <a:prstGeom prst="rect">
            <a:avLst/>
          </a:prstGeom>
          <a:noFill/>
          <a:ln/>
        </p:spPr>
        <p:txBody>
          <a:bodyPr wrap="square" lIns="0" tIns="0" rIns="0" bIns="0" rtlCol="0" anchor="ctr"/>
          <a:lstStyle/>
          <a:p>
            <a:pPr indent="0" marL="0">
              <a:buNone/>
            </a:pPr>
            <a:r>
              <a:rPr lang="en-US" sz="1050" spc="240" kern="0" dirty="0">
                <a:solidFill>
                  <a:srgbClr val="B8892F"/>
                </a:solidFill>
                <a:latin typeface="Consolas" pitchFamily="34" charset="0"/>
                <a:ea typeface="Consolas" pitchFamily="34" charset="-122"/>
                <a:cs typeface="Consolas" pitchFamily="34" charset="-120"/>
              </a:rPr>
              <a:t>USE CASE 02  ·  AUTHENTICATION</a:t>
            </a:r>
            <a:endParaRPr lang="en-US" sz="1050" dirty="0"/>
          </a:p>
        </p:txBody>
      </p:sp>
      <p:sp>
        <p:nvSpPr>
          <p:cNvPr id="3" name="Text 1"/>
          <p:cNvSpPr txBox="1"/>
          <p:nvPr/>
        </p:nvSpPr>
        <p:spPr>
          <a:xfrm>
            <a:off x="475488" y="548640"/>
            <a:ext cx="11240719" cy="566928"/>
          </a:xfrm>
          <a:prstGeom prst="rect">
            <a:avLst/>
          </a:prstGeom>
          <a:noFill/>
          <a:ln/>
        </p:spPr>
        <p:txBody>
          <a:bodyPr wrap="square" lIns="0" tIns="0" rIns="0" bIns="0" rtlCol="0" anchor="t"/>
          <a:lstStyle/>
          <a:p>
            <a:pPr indent="0" marL="0">
              <a:buNone/>
            </a:pPr>
            <a:r>
              <a:rPr lang="en-US" sz="3000" b="1" dirty="0">
                <a:solidFill>
                  <a:srgbClr val="0F1A2B"/>
                </a:solidFill>
                <a:latin typeface="Cambria" pitchFamily="34" charset="0"/>
                <a:ea typeface="Cambria" pitchFamily="34" charset="-122"/>
                <a:cs typeface="Cambria" pitchFamily="34" charset="-120"/>
              </a:rPr>
              <a:t>Soft decline followed by 3DS</a:t>
            </a:r>
            <a:endParaRPr lang="en-US" sz="3000" dirty="0"/>
          </a:p>
        </p:txBody>
      </p:sp>
      <p:sp>
        <p:nvSpPr>
          <p:cNvPr id="4" name="Text 2"/>
          <p:cNvSpPr txBox="1"/>
          <p:nvPr/>
        </p:nvSpPr>
        <p:spPr>
          <a:xfrm>
            <a:off x="475488" y="1188720"/>
            <a:ext cx="11240719" cy="475488"/>
          </a:xfrm>
          <a:prstGeom prst="rect">
            <a:avLst/>
          </a:prstGeom>
          <a:noFill/>
          <a:ln/>
        </p:spPr>
        <p:txBody>
          <a:bodyPr wrap="square" lIns="0" tIns="0" rIns="0" bIns="0" rtlCol="0" anchor="t"/>
          <a:lstStyle/>
          <a:p>
            <a:pPr indent="0" marL="0">
              <a:buNone/>
            </a:pPr>
            <a:r>
              <a:rPr lang="en-US" sz="1250" dirty="0">
                <a:solidFill>
                  <a:srgbClr val="414A5C"/>
                </a:solidFill>
              </a:rPr>
              <a:t>3DS is not a flag on an authorization request. It is a customer-authentication workflow with its own lifecycle, and it must never be confused with payment execution.</a:t>
            </a:r>
            <a:endParaRPr lang="en-US" sz="1250" dirty="0"/>
          </a:p>
        </p:txBody>
      </p:sp>
      <p:sp>
        <p:nvSpPr>
          <p:cNvPr id="5" name="Shape 3"/>
          <p:cNvSpPr/>
          <p:nvPr/>
        </p:nvSpPr>
        <p:spPr>
          <a:xfrm>
            <a:off x="475488" y="1737360"/>
            <a:ext cx="11240719" cy="22860"/>
          </a:xfrm>
          <a:prstGeom prst="rect">
            <a:avLst/>
          </a:prstGeom>
          <a:solidFill>
            <a:srgbClr val="B8892F"/>
          </a:solidFill>
          <a:ln w="12700">
            <a:solidFill>
              <a:srgbClr val="B8892F"/>
            </a:solidFill>
            <a:prstDash val="solid"/>
          </a:ln>
        </p:spPr>
      </p:sp>
      <p:sp>
        <p:nvSpPr>
          <p:cNvPr id="6" name="scenario"/>
          <p:cNvSpPr/>
          <p:nvPr/>
        </p:nvSpPr>
        <p:spPr>
          <a:xfrm>
            <a:off x="475488" y="1847088"/>
            <a:ext cx="11240719" cy="566928"/>
          </a:xfrm>
          <a:prstGeom prst="rect">
            <a:avLst/>
          </a:prstGeom>
          <a:solidFill>
            <a:srgbClr val="F4F5F7"/>
          </a:solidFill>
          <a:ln w="6350">
            <a:solidFill>
              <a:srgbClr val="DCD7CB"/>
            </a:solidFill>
            <a:prstDash val="solid"/>
          </a:ln>
        </p:spPr>
      </p:sp>
      <p:sp>
        <p:nvSpPr>
          <p:cNvPr id="7" name="Text 5"/>
          <p:cNvSpPr txBox="1"/>
          <p:nvPr/>
        </p:nvSpPr>
        <p:spPr>
          <a:xfrm>
            <a:off x="603504" y="1911096"/>
            <a:ext cx="868680" cy="182880"/>
          </a:xfrm>
          <a:prstGeom prst="rect">
            <a:avLst/>
          </a:prstGeom>
          <a:noFill/>
          <a:ln/>
        </p:spPr>
        <p:txBody>
          <a:bodyPr wrap="square" lIns="0" tIns="0" rIns="0" bIns="0" rtlCol="0" anchor="ctr"/>
          <a:lstStyle/>
          <a:p>
            <a:pPr indent="0" marL="0">
              <a:buNone/>
            </a:pPr>
            <a:r>
              <a:rPr lang="en-US" sz="850" spc="120" kern="0" dirty="0">
                <a:solidFill>
                  <a:srgbClr val="6B7482"/>
                </a:solidFill>
                <a:latin typeface="Consolas" pitchFamily="34" charset="0"/>
                <a:ea typeface="Consolas" pitchFamily="34" charset="-122"/>
                <a:cs typeface="Consolas" pitchFamily="34" charset="-120"/>
              </a:rPr>
              <a:t>SCENARIO</a:t>
            </a:r>
            <a:endParaRPr lang="en-US" sz="850" dirty="0"/>
          </a:p>
        </p:txBody>
      </p:sp>
      <p:sp>
        <p:nvSpPr>
          <p:cNvPr id="8" name="Text 6"/>
          <p:cNvSpPr txBox="1"/>
          <p:nvPr/>
        </p:nvSpPr>
        <p:spPr>
          <a:xfrm>
            <a:off x="1481328" y="1901952"/>
            <a:ext cx="10088575" cy="457200"/>
          </a:xfrm>
          <a:prstGeom prst="rect">
            <a:avLst/>
          </a:prstGeom>
          <a:noFill/>
          <a:ln/>
        </p:spPr>
        <p:txBody>
          <a:bodyPr wrap="square" lIns="0" tIns="0" rIns="0" bIns="0" rtlCol="0" anchor="t"/>
          <a:lstStyle/>
          <a:p>
            <a:pPr indent="0" marL="0">
              <a:buNone/>
            </a:pPr>
            <a:r>
              <a:rPr lang="en-US" sz="1100" dirty="0">
                <a:solidFill>
                  <a:srgbClr val="1A1F2B"/>
                </a:solidFill>
              </a:rPr>
              <a:t>A </a:t>
            </a:r>
            <a:pPr indent="0" marL="0">
              <a:buNone/>
            </a:pPr>
            <a:r>
              <a:rPr lang="en-US" sz="1100" b="1" dirty="0">
                <a:solidFill>
                  <a:srgbClr val="1A1F2B"/>
                </a:solidFill>
              </a:rPr>
              <a:t>$250.00</a:t>
            </a:r>
            <a:pPr indent="0" marL="0">
              <a:buNone/>
            </a:pPr>
            <a:r>
              <a:rPr lang="en-US" sz="1100" dirty="0">
                <a:solidFill>
                  <a:srgbClr val="1A1F2B"/>
                </a:solidFill>
              </a:rPr>
              <a:t> payment. The first authorization is submitted without authentication and the issuer returns a soft decline that the response mapping identifies as recoverable through authentication. A challenge may be required before a second authorization can be sent.</a:t>
            </a:r>
            <a:endParaRPr lang="en-US" sz="1100" dirty="0"/>
          </a:p>
        </p:txBody>
      </p:sp>
      <p:sp>
        <p:nvSpPr>
          <p:cNvPr id="9" name="at-attempt-level"/>
          <p:cNvSpPr/>
          <p:nvPr/>
        </p:nvSpPr>
        <p:spPr>
          <a:xfrm>
            <a:off x="475488" y="2542032"/>
            <a:ext cx="5492344" cy="2048256"/>
          </a:xfrm>
          <a:prstGeom prst="rect">
            <a:avLst/>
          </a:prstGeom>
          <a:solidFill>
            <a:srgbClr val="FBEEEE"/>
          </a:solidFill>
          <a:ln w="6350">
            <a:solidFill>
              <a:srgbClr val="DCD7CB"/>
            </a:solidFill>
            <a:prstDash val="solid"/>
          </a:ln>
        </p:spPr>
      </p:sp>
      <p:sp>
        <p:nvSpPr>
          <p:cNvPr id="10" name="Text 8"/>
          <p:cNvSpPr txBox="1"/>
          <p:nvPr/>
        </p:nvSpPr>
        <p:spPr>
          <a:xfrm>
            <a:off x="621792" y="2633472"/>
            <a:ext cx="5199736" cy="182880"/>
          </a:xfrm>
          <a:prstGeom prst="rect">
            <a:avLst/>
          </a:prstGeom>
          <a:noFill/>
          <a:ln/>
        </p:spPr>
        <p:txBody>
          <a:bodyPr wrap="square" lIns="0" tIns="0" rIns="0" bIns="0" rtlCol="0" anchor="ctr"/>
          <a:lstStyle/>
          <a:p>
            <a:pPr indent="0" marL="0">
              <a:buNone/>
            </a:pPr>
            <a:r>
              <a:rPr lang="en-US" sz="950" spc="150" kern="0" dirty="0">
                <a:solidFill>
                  <a:srgbClr val="9B2C2C"/>
                </a:solidFill>
                <a:latin typeface="Consolas" pitchFamily="34" charset="0"/>
                <a:ea typeface="Consolas" pitchFamily="34" charset="-122"/>
                <a:cs typeface="Consolas" pitchFamily="34" charset="-120"/>
              </a:rPr>
              <a:t>AT ATTEMPT LEVEL</a:t>
            </a:r>
            <a:endParaRPr lang="en-US" sz="950" dirty="0"/>
          </a:p>
        </p:txBody>
      </p:sp>
      <p:sp>
        <p:nvSpPr>
          <p:cNvPr id="11" name="Text 9"/>
          <p:cNvSpPr txBox="1"/>
          <p:nvPr/>
        </p:nvSpPr>
        <p:spPr>
          <a:xfrm>
            <a:off x="621792" y="2852928"/>
            <a:ext cx="5199736" cy="1645920"/>
          </a:xfrm>
          <a:prstGeom prst="rect">
            <a:avLst/>
          </a:prstGeom>
          <a:noFill/>
          <a:ln/>
        </p:spPr>
        <p:txBody>
          <a:bodyPr wrap="square" lIns="0" tIns="0" rIns="0" bIns="0" rtlCol="0" anchor="t"/>
          <a:lstStyle/>
          <a:p>
            <a:pPr marL="177800" indent="-177800">
              <a:spcAft>
                <a:spcPts val="500"/>
              </a:spcAft>
              <a:buSzPct val="100000"/>
              <a:buChar char="•"/>
            </a:pPr>
            <a:r>
              <a:rPr lang="en-US" sz="1050" dirty="0">
                <a:solidFill>
                  <a:srgbClr val="1A1F2B"/>
                </a:solidFill>
              </a:rPr>
              <a:t>Code that treats non-approval as terminal has just lost the sale to a response code asking it to try again properly.</a:t>
            </a:r>
            <a:endParaRPr lang="en-US" sz="1050" dirty="0"/>
          </a:p>
          <a:p>
            <a:pPr marL="177800" indent="-177800">
              <a:spcAft>
                <a:spcPts val="500"/>
              </a:spcAft>
              <a:buSzPct val="100000"/>
              <a:buChar char="•"/>
            </a:pPr>
            <a:r>
              <a:rPr lang="en-US" sz="1050" dirty="0">
                <a:solidFill>
                  <a:srgbClr val="1A1F2B"/>
                </a:solidFill>
              </a:rPr>
              <a:t>The merchant mints a correlation token and owns its lifetime, replay protection and the closed-tab case.</a:t>
            </a:r>
            <a:endParaRPr lang="en-US" sz="1050" dirty="0"/>
          </a:p>
          <a:p>
            <a:pPr marL="177800" indent="-177800">
              <a:spcAft>
                <a:spcPts val="500"/>
              </a:spcAft>
              <a:buSzPct val="100000"/>
              <a:buChar char="•"/>
            </a:pPr>
            <a:r>
              <a:rPr lang="en-US" sz="1050" dirty="0">
                <a:solidFill>
                  <a:srgbClr val="1A1F2B"/>
                </a:solidFill>
              </a:rPr>
              <a:t>Three unlinked records result: a declined attempt, an authentication, and an approved attempt.</a:t>
            </a:r>
            <a:endParaRPr lang="en-US" sz="1050" dirty="0"/>
          </a:p>
          <a:p>
            <a:pPr marL="177800" indent="-177800">
              <a:spcAft>
                <a:spcPts val="500"/>
              </a:spcAft>
              <a:buSzPct val="100000"/>
              <a:buChar char="•"/>
            </a:pPr>
            <a:r>
              <a:rPr lang="en-US" sz="1050" dirty="0">
                <a:solidFill>
                  <a:srgbClr val="1A1F2B"/>
                </a:solidFill>
              </a:rPr>
              <a:t>If the second authorization declines for funds, </a:t>
            </a:r>
            <a:pPr indent="0" marL="0">
              <a:spcAft>
                <a:spcPts val="500"/>
              </a:spcAft>
              <a:buNone/>
            </a:pPr>
            <a:r>
              <a:rPr lang="en-US" sz="1050" b="1" dirty="0">
                <a:solidFill>
                  <a:srgbClr val="1A1F2B"/>
                </a:solidFill>
              </a:rPr>
              <a:t>is the authentication reusable?</a:t>
            </a:r>
            <a:pPr indent="0" marL="0">
              <a:spcAft>
                <a:spcPts val="500"/>
              </a:spcAft>
              <a:buNone/>
            </a:pPr>
            <a:r>
              <a:rPr lang="en-US" sz="1050" dirty="0">
                <a:solidFill>
                  <a:srgbClr val="1A1F2B"/>
                </a:solidFill>
              </a:rPr>
              <a:t> The merchant must know the scheme limit.</a:t>
            </a:r>
            <a:endParaRPr lang="en-US" sz="1050" dirty="0"/>
          </a:p>
        </p:txBody>
      </p:sp>
      <p:sp>
        <p:nvSpPr>
          <p:cNvPr id="12" name="with-payment-intent"/>
          <p:cNvSpPr/>
          <p:nvPr/>
        </p:nvSpPr>
        <p:spPr>
          <a:xfrm>
            <a:off x="6223864" y="2542032"/>
            <a:ext cx="5492344" cy="2048256"/>
          </a:xfrm>
          <a:prstGeom prst="rect">
            <a:avLst/>
          </a:prstGeom>
          <a:solidFill>
            <a:srgbClr val="D6E7E4"/>
          </a:solidFill>
          <a:ln w="6350">
            <a:solidFill>
              <a:srgbClr val="DCD7CB"/>
            </a:solidFill>
            <a:prstDash val="solid"/>
          </a:ln>
        </p:spPr>
      </p:sp>
      <p:sp>
        <p:nvSpPr>
          <p:cNvPr id="13" name="Text 11"/>
          <p:cNvSpPr txBox="1"/>
          <p:nvPr/>
        </p:nvSpPr>
        <p:spPr>
          <a:xfrm>
            <a:off x="6370168" y="2633472"/>
            <a:ext cx="5199736" cy="182880"/>
          </a:xfrm>
          <a:prstGeom prst="rect">
            <a:avLst/>
          </a:prstGeom>
          <a:noFill/>
          <a:ln/>
        </p:spPr>
        <p:txBody>
          <a:bodyPr wrap="square" lIns="0" tIns="0" rIns="0" bIns="0" rtlCol="0" anchor="ctr"/>
          <a:lstStyle/>
          <a:p>
            <a:pPr indent="0" marL="0">
              <a:buNone/>
            </a:pPr>
            <a:r>
              <a:rPr lang="en-US" sz="950" spc="150" kern="0" dirty="0">
                <a:solidFill>
                  <a:srgbClr val="26706A"/>
                </a:solidFill>
                <a:latin typeface="Consolas" pitchFamily="34" charset="0"/>
                <a:ea typeface="Consolas" pitchFamily="34" charset="-122"/>
                <a:cs typeface="Consolas" pitchFamily="34" charset="-120"/>
              </a:rPr>
              <a:t>WITH A PAYMENT INTENT</a:t>
            </a:r>
            <a:endParaRPr lang="en-US" sz="950" dirty="0"/>
          </a:p>
        </p:txBody>
      </p:sp>
      <p:sp>
        <p:nvSpPr>
          <p:cNvPr id="14" name="Text 12"/>
          <p:cNvSpPr txBox="1"/>
          <p:nvPr/>
        </p:nvSpPr>
        <p:spPr>
          <a:xfrm>
            <a:off x="6370168" y="2852928"/>
            <a:ext cx="5199736" cy="1645920"/>
          </a:xfrm>
          <a:prstGeom prst="rect">
            <a:avLst/>
          </a:prstGeom>
          <a:noFill/>
          <a:ln/>
        </p:spPr>
        <p:txBody>
          <a:bodyPr wrap="square" lIns="0" tIns="0" rIns="0" bIns="0" rtlCol="0" anchor="t"/>
          <a:lstStyle/>
          <a:p>
            <a:pPr marL="177800" indent="-177800">
              <a:spcAft>
                <a:spcPts val="500"/>
              </a:spcAft>
              <a:buSzPct val="100000"/>
              <a:buChar char="•"/>
            </a:pPr>
            <a:r>
              <a:rPr lang="en-US" sz="1050" dirty="0">
                <a:solidFill>
                  <a:srgbClr val="1A1F2B"/>
                </a:solidFill>
              </a:rPr>
              <a:t>The Intent moves to </a:t>
            </a:r>
            <a:pPr indent="0" marL="0">
              <a:spcAft>
                <a:spcPts val="500"/>
              </a:spcAft>
              <a:buNone/>
            </a:pPr>
            <a:r>
              <a:rPr lang="en-US" sz="1000" dirty="0">
                <a:solidFill>
                  <a:srgbClr val="1A1F2B"/>
                </a:solidFill>
                <a:latin typeface="Consolas" pitchFamily="34" charset="0"/>
                <a:ea typeface="Consolas" pitchFamily="34" charset="-122"/>
                <a:cs typeface="Consolas" pitchFamily="34" charset="-120"/>
              </a:rPr>
              <a:t>requires_action</a:t>
            </a:r>
            <a:pPr indent="0" marL="0">
              <a:spcAft>
                <a:spcPts val="500"/>
              </a:spcAft>
              <a:buNone/>
            </a:pPr>
            <a:r>
              <a:rPr lang="en-US" sz="1050" dirty="0">
                <a:solidFill>
                  <a:srgbClr val="1A1F2B"/>
                </a:solidFill>
              </a:rPr>
              <a:t> and returns the next action. </a:t>
            </a:r>
            <a:pPr indent="0" marL="0">
              <a:spcAft>
                <a:spcPts val="500"/>
              </a:spcAft>
              <a:buNone/>
            </a:pPr>
            <a:r>
              <a:rPr lang="en-US" sz="1050" b="1" dirty="0">
                <a:solidFill>
                  <a:srgbClr val="1A1F2B"/>
                </a:solidFill>
              </a:rPr>
              <a:t>The return target is the Intent</a:t>
            </a:r>
            <a:pPr indent="0" marL="0">
              <a:spcAft>
                <a:spcPts val="500"/>
              </a:spcAft>
              <a:buNone/>
            </a:pPr>
            <a:r>
              <a:rPr lang="en-US" sz="1050" dirty="0">
                <a:solidFill>
                  <a:srgbClr val="1A1F2B"/>
                </a:solidFill>
              </a:rPr>
              <a:t> — no token to mint.</a:t>
            </a:r>
            <a:endParaRPr lang="en-US" sz="1050" dirty="0"/>
          </a:p>
          <a:p>
            <a:pPr marL="177800" indent="-177800">
              <a:spcAft>
                <a:spcPts val="500"/>
              </a:spcAft>
              <a:buSzPct val="100000"/>
              <a:buChar char="•"/>
            </a:pPr>
            <a:r>
              <a:rPr lang="en-US" sz="1050" dirty="0">
                <a:solidFill>
                  <a:srgbClr val="1A1F2B"/>
                </a:solidFill>
              </a:rPr>
              <a:t>An </a:t>
            </a:r>
            <a:pPr indent="0" marL="0">
              <a:spcAft>
                <a:spcPts val="500"/>
              </a:spcAft>
              <a:buNone/>
            </a:pPr>
            <a:r>
              <a:rPr lang="en-US" sz="1050" b="1" dirty="0">
                <a:solidFill>
                  <a:srgbClr val="1A1F2B"/>
                </a:solidFill>
              </a:rPr>
              <a:t>authentication session</a:t>
            </a:r>
            <a:pPr indent="0" marL="0">
              <a:spcAft>
                <a:spcPts val="500"/>
              </a:spcAft>
              <a:buNone/>
            </a:pPr>
            <a:r>
              <a:rPr lang="en-US" sz="1050" dirty="0">
                <a:solidFill>
                  <a:srgbClr val="1A1F2B"/>
                </a:solidFill>
              </a:rPr>
              <a:t> is its own record: challenge state, ACS references, evidence, expiry, continuation.</a:t>
            </a:r>
            <a:endParaRPr lang="en-US" sz="1050" dirty="0"/>
          </a:p>
          <a:p>
            <a:pPr marL="177800" indent="-177800">
              <a:spcAft>
                <a:spcPts val="500"/>
              </a:spcAft>
              <a:buSzPct val="100000"/>
              <a:buChar char="•"/>
            </a:pPr>
            <a:r>
              <a:rPr lang="en-US" sz="1050" dirty="0">
                <a:solidFill>
                  <a:srgbClr val="1A1F2B"/>
                </a:solidFill>
              </a:rPr>
              <a:t>Authentication belongs to the collection, so a later attempt inherits it within a limit the platform enforces.</a:t>
            </a:r>
            <a:endParaRPr lang="en-US" sz="1050" dirty="0"/>
          </a:p>
          <a:p>
            <a:pPr marL="177800" indent="-177800">
              <a:spcAft>
                <a:spcPts val="500"/>
              </a:spcAft>
              <a:buSzPct val="100000"/>
              <a:buChar char="•"/>
            </a:pPr>
            <a:r>
              <a:rPr lang="en-US" sz="1050" dirty="0">
                <a:solidFill>
                  <a:srgbClr val="1A1F2B"/>
                </a:solidFill>
              </a:rPr>
              <a:t>Data-only 3DS and risk assessment run </a:t>
            </a:r>
            <a:pPr indent="0" marL="0">
              <a:spcAft>
                <a:spcPts val="500"/>
              </a:spcAft>
              <a:buNone/>
            </a:pPr>
            <a:r>
              <a:rPr lang="en-US" sz="1050" i="1" dirty="0">
                <a:solidFill>
                  <a:srgbClr val="1A1F2B"/>
                </a:solidFill>
              </a:rPr>
              <a:t>before</a:t>
            </a:r>
            <a:pPr indent="0" marL="0">
              <a:spcAft>
                <a:spcPts val="500"/>
              </a:spcAft>
              <a:buNone/>
            </a:pPr>
            <a:r>
              <a:rPr lang="en-US" sz="1050" dirty="0">
                <a:solidFill>
                  <a:srgbClr val="1A1F2B"/>
                </a:solidFill>
              </a:rPr>
              <a:t> an authorization attempt exists — not every internal step is a new attempt.</a:t>
            </a:r>
            <a:endParaRPr lang="en-US" sz="1050" dirty="0"/>
          </a:p>
        </p:txBody>
      </p:sp>
      <p:sp>
        <p:nvSpPr>
          <p:cNvPr id="15" name="owns-0"/>
          <p:cNvSpPr/>
          <p:nvPr/>
        </p:nvSpPr>
        <p:spPr>
          <a:xfrm>
            <a:off x="475488" y="4700016"/>
            <a:ext cx="3637178" cy="731520"/>
          </a:xfrm>
          <a:prstGeom prst="rect">
            <a:avLst/>
          </a:prstGeom>
          <a:solidFill>
            <a:srgbClr val="FBFAF7"/>
          </a:solidFill>
          <a:ln w="6350">
            <a:solidFill>
              <a:srgbClr val="DCD7CB"/>
            </a:solidFill>
            <a:prstDash val="solid"/>
          </a:ln>
        </p:spPr>
      </p:sp>
      <p:sp>
        <p:nvSpPr>
          <p:cNvPr id="16" name="Text 14"/>
          <p:cNvSpPr txBox="1"/>
          <p:nvPr/>
        </p:nvSpPr>
        <p:spPr>
          <a:xfrm>
            <a:off x="594360" y="4773168"/>
            <a:ext cx="3399434" cy="173736"/>
          </a:xfrm>
          <a:prstGeom prst="rect">
            <a:avLst/>
          </a:prstGeom>
          <a:noFill/>
          <a:ln/>
        </p:spPr>
        <p:txBody>
          <a:bodyPr wrap="square" lIns="0" tIns="0" rIns="0" bIns="0" rtlCol="0" anchor="ctr"/>
          <a:lstStyle/>
          <a:p>
            <a:pPr indent="0" marL="0">
              <a:buNone/>
            </a:pPr>
            <a:r>
              <a:rPr lang="en-US" sz="850" spc="120" kern="0" dirty="0">
                <a:solidFill>
                  <a:srgbClr val="B8892F"/>
                </a:solidFill>
                <a:latin typeface="Consolas" pitchFamily="34" charset="0"/>
                <a:ea typeface="Consolas" pitchFamily="34" charset="-122"/>
                <a:cs typeface="Consolas" pitchFamily="34" charset="-120"/>
              </a:rPr>
              <a:t>PAYMENT INTENT OWNS</a:t>
            </a:r>
            <a:endParaRPr lang="en-US" sz="850" dirty="0"/>
          </a:p>
        </p:txBody>
      </p:sp>
      <p:sp>
        <p:nvSpPr>
          <p:cNvPr id="17" name="Text 15"/>
          <p:cNvSpPr txBox="1"/>
          <p:nvPr/>
        </p:nvSpPr>
        <p:spPr>
          <a:xfrm>
            <a:off x="594360" y="4965192"/>
            <a:ext cx="3399434" cy="393192"/>
          </a:xfrm>
          <a:prstGeom prst="rect">
            <a:avLst/>
          </a:prstGeom>
          <a:noFill/>
          <a:ln/>
        </p:spPr>
        <p:txBody>
          <a:bodyPr wrap="square" lIns="0" tIns="0" rIns="0" bIns="0" rtlCol="0" anchor="t"/>
          <a:lstStyle/>
          <a:p>
            <a:pPr indent="0" marL="0">
              <a:buNone/>
            </a:pPr>
            <a:r>
              <a:rPr lang="en-US" sz="1000" dirty="0">
                <a:solidFill>
                  <a:srgbClr val="1A1F2B"/>
                </a:solidFill>
              </a:rPr>
              <a:t>The payment lifecycle and the customer-action requirement across both execution strategies.</a:t>
            </a:r>
            <a:endParaRPr lang="en-US" sz="1000" dirty="0"/>
          </a:p>
        </p:txBody>
      </p:sp>
      <p:sp>
        <p:nvSpPr>
          <p:cNvPr id="18" name="owns-1"/>
          <p:cNvSpPr/>
          <p:nvPr/>
        </p:nvSpPr>
        <p:spPr>
          <a:xfrm>
            <a:off x="4277258" y="4700016"/>
            <a:ext cx="3637178" cy="731520"/>
          </a:xfrm>
          <a:prstGeom prst="rect">
            <a:avLst/>
          </a:prstGeom>
          <a:solidFill>
            <a:srgbClr val="FBFAF7"/>
          </a:solidFill>
          <a:ln w="6350">
            <a:solidFill>
              <a:srgbClr val="DCD7CB"/>
            </a:solidFill>
            <a:prstDash val="solid"/>
          </a:ln>
        </p:spPr>
      </p:sp>
      <p:sp>
        <p:nvSpPr>
          <p:cNvPr id="19" name="Text 17"/>
          <p:cNvSpPr txBox="1"/>
          <p:nvPr/>
        </p:nvSpPr>
        <p:spPr>
          <a:xfrm>
            <a:off x="4396130" y="4773168"/>
            <a:ext cx="3399434" cy="173736"/>
          </a:xfrm>
          <a:prstGeom prst="rect">
            <a:avLst/>
          </a:prstGeom>
          <a:noFill/>
          <a:ln/>
        </p:spPr>
        <p:txBody>
          <a:bodyPr wrap="square" lIns="0" tIns="0" rIns="0" bIns="0" rtlCol="0" anchor="ctr"/>
          <a:lstStyle/>
          <a:p>
            <a:pPr indent="0" marL="0">
              <a:buNone/>
            </a:pPr>
            <a:r>
              <a:rPr lang="en-US" sz="850" spc="120" kern="0" dirty="0">
                <a:solidFill>
                  <a:srgbClr val="B8892F"/>
                </a:solidFill>
                <a:latin typeface="Consolas" pitchFamily="34" charset="0"/>
                <a:ea typeface="Consolas" pitchFamily="34" charset="-122"/>
                <a:cs typeface="Consolas" pitchFamily="34" charset="-120"/>
              </a:rPr>
              <a:t>AUTHENTICATION SESSION OWNS</a:t>
            </a:r>
            <a:endParaRPr lang="en-US" sz="850" dirty="0"/>
          </a:p>
        </p:txBody>
      </p:sp>
      <p:sp>
        <p:nvSpPr>
          <p:cNvPr id="20" name="Text 18"/>
          <p:cNvSpPr txBox="1"/>
          <p:nvPr/>
        </p:nvSpPr>
        <p:spPr>
          <a:xfrm>
            <a:off x="4396130" y="4965192"/>
            <a:ext cx="3399434" cy="393192"/>
          </a:xfrm>
          <a:prstGeom prst="rect">
            <a:avLst/>
          </a:prstGeom>
          <a:noFill/>
          <a:ln/>
        </p:spPr>
        <p:txBody>
          <a:bodyPr wrap="square" lIns="0" tIns="0" rIns="0" bIns="0" rtlCol="0" anchor="t"/>
          <a:lstStyle/>
          <a:p>
            <a:pPr indent="0" marL="0">
              <a:buNone/>
            </a:pPr>
            <a:r>
              <a:rPr lang="en-US" sz="1000" dirty="0">
                <a:solidFill>
                  <a:srgbClr val="1A1F2B"/>
                </a:solidFill>
              </a:rPr>
              <a:t>Challenge state, ACS and provider references, ECI and CAVV, expiry and continuation.</a:t>
            </a:r>
            <a:endParaRPr lang="en-US" sz="1000" dirty="0"/>
          </a:p>
        </p:txBody>
      </p:sp>
      <p:sp>
        <p:nvSpPr>
          <p:cNvPr id="21" name="owns-2"/>
          <p:cNvSpPr/>
          <p:nvPr/>
        </p:nvSpPr>
        <p:spPr>
          <a:xfrm>
            <a:off x="8079029" y="4700016"/>
            <a:ext cx="3637178" cy="731520"/>
          </a:xfrm>
          <a:prstGeom prst="rect">
            <a:avLst/>
          </a:prstGeom>
          <a:solidFill>
            <a:srgbClr val="FBFAF7"/>
          </a:solidFill>
          <a:ln w="6350">
            <a:solidFill>
              <a:srgbClr val="DCD7CB"/>
            </a:solidFill>
            <a:prstDash val="solid"/>
          </a:ln>
        </p:spPr>
      </p:sp>
      <p:sp>
        <p:nvSpPr>
          <p:cNvPr id="22" name="Text 20"/>
          <p:cNvSpPr txBox="1"/>
          <p:nvPr/>
        </p:nvSpPr>
        <p:spPr>
          <a:xfrm>
            <a:off x="8197901" y="4773168"/>
            <a:ext cx="3399434" cy="173736"/>
          </a:xfrm>
          <a:prstGeom prst="rect">
            <a:avLst/>
          </a:prstGeom>
          <a:noFill/>
          <a:ln/>
        </p:spPr>
        <p:txBody>
          <a:bodyPr wrap="square" lIns="0" tIns="0" rIns="0" bIns="0" rtlCol="0" anchor="ctr"/>
          <a:lstStyle/>
          <a:p>
            <a:pPr indent="0" marL="0">
              <a:buNone/>
            </a:pPr>
            <a:r>
              <a:rPr lang="en-US" sz="850" spc="120" kern="0" dirty="0">
                <a:solidFill>
                  <a:srgbClr val="B8892F"/>
                </a:solidFill>
                <a:latin typeface="Consolas" pitchFamily="34" charset="0"/>
                <a:ea typeface="Consolas" pitchFamily="34" charset="-122"/>
                <a:cs typeface="Consolas" pitchFamily="34" charset="-120"/>
              </a:rPr>
              <a:t>PAYMENT ATTEMPT OWNS</a:t>
            </a:r>
            <a:endParaRPr lang="en-US" sz="850" dirty="0"/>
          </a:p>
        </p:txBody>
      </p:sp>
      <p:sp>
        <p:nvSpPr>
          <p:cNvPr id="23" name="Text 21"/>
          <p:cNvSpPr txBox="1"/>
          <p:nvPr/>
        </p:nvSpPr>
        <p:spPr>
          <a:xfrm>
            <a:off x="8197901" y="4965192"/>
            <a:ext cx="3399434" cy="393192"/>
          </a:xfrm>
          <a:prstGeom prst="rect">
            <a:avLst/>
          </a:prstGeom>
          <a:noFill/>
          <a:ln/>
        </p:spPr>
        <p:txBody>
          <a:bodyPr wrap="square" lIns="0" tIns="0" rIns="0" bIns="0" rtlCol="0" anchor="t"/>
          <a:lstStyle/>
          <a:p>
            <a:pPr indent="0" marL="0">
              <a:buNone/>
            </a:pPr>
            <a:r>
              <a:rPr lang="en-US" sz="1000" dirty="0">
                <a:solidFill>
                  <a:srgbClr val="1A1F2B"/>
                </a:solidFill>
              </a:rPr>
              <a:t>Each authorization submitted — one without authentication, one with — and its result.</a:t>
            </a:r>
            <a:endParaRPr lang="en-US" sz="1000" dirty="0"/>
          </a:p>
        </p:txBody>
      </p:sp>
      <p:sp>
        <p:nvSpPr>
          <p:cNvPr id="24" name="takeaway"/>
          <p:cNvSpPr/>
          <p:nvPr/>
        </p:nvSpPr>
        <p:spPr>
          <a:xfrm>
            <a:off x="475488" y="5541264"/>
            <a:ext cx="11240719" cy="768096"/>
          </a:xfrm>
          <a:prstGeom prst="rect">
            <a:avLst/>
          </a:prstGeom>
          <a:solidFill>
            <a:srgbClr val="0F1A2B"/>
          </a:solidFill>
          <a:ln w="12700">
            <a:solidFill>
              <a:srgbClr val="333333"/>
            </a:solidFill>
            <a:prstDash val="solid"/>
          </a:ln>
        </p:spPr>
      </p:sp>
      <p:sp>
        <p:nvSpPr>
          <p:cNvPr id="25" name="Text 23"/>
          <p:cNvSpPr txBox="1"/>
          <p:nvPr/>
        </p:nvSpPr>
        <p:spPr>
          <a:xfrm>
            <a:off x="640080" y="5623560"/>
            <a:ext cx="10911535" cy="182880"/>
          </a:xfrm>
          <a:prstGeom prst="rect">
            <a:avLst/>
          </a:prstGeom>
          <a:noFill/>
          <a:ln/>
        </p:spPr>
        <p:txBody>
          <a:bodyPr wrap="square" lIns="0" tIns="0" rIns="0" bIns="0" rtlCol="0" anchor="ctr"/>
          <a:lstStyle/>
          <a:p>
            <a:pPr indent="0" marL="0">
              <a:buNone/>
            </a:pPr>
            <a:r>
              <a:rPr lang="en-US" sz="900" spc="160" kern="0" dirty="0">
                <a:solidFill>
                  <a:srgbClr val="D9A03C"/>
                </a:solidFill>
                <a:latin typeface="Consolas" pitchFamily="34" charset="0"/>
                <a:ea typeface="Consolas" pitchFamily="34" charset="-122"/>
                <a:cs typeface="Consolas" pitchFamily="34" charset="-120"/>
              </a:rPr>
              <a:t>TAKEAWAY</a:t>
            </a:r>
            <a:endParaRPr lang="en-US" sz="900" dirty="0"/>
          </a:p>
        </p:txBody>
      </p:sp>
      <p:sp>
        <p:nvSpPr>
          <p:cNvPr id="26" name="Text 24"/>
          <p:cNvSpPr txBox="1"/>
          <p:nvPr/>
        </p:nvSpPr>
        <p:spPr>
          <a:xfrm>
            <a:off x="640080" y="5815584"/>
            <a:ext cx="10911535" cy="438912"/>
          </a:xfrm>
          <a:prstGeom prst="rect">
            <a:avLst/>
          </a:prstGeom>
          <a:noFill/>
          <a:ln/>
        </p:spPr>
        <p:txBody>
          <a:bodyPr wrap="square" lIns="0" tIns="0" rIns="0" bIns="0" rtlCol="0" anchor="t"/>
          <a:lstStyle/>
          <a:p>
            <a:pPr indent="0" marL="0">
              <a:buNone/>
            </a:pPr>
            <a:r>
              <a:rPr lang="en-US" sz="1150" dirty="0">
                <a:solidFill>
                  <a:srgbClr val="F2EEE4"/>
                </a:solidFill>
              </a:rPr>
              <a:t>This is the Intent coordinating </a:t>
            </a:r>
            <a:pPr indent="0" marL="0">
              <a:buNone/>
            </a:pPr>
            <a:r>
              <a:rPr lang="en-US" sz="1150" b="1" dirty="0">
                <a:solidFill>
                  <a:srgbClr val="E8D9B4"/>
                </a:solidFill>
              </a:rPr>
              <a:t>two different execution strategies</a:t>
            </a:r>
            <a:pPr indent="0" marL="0">
              <a:buNone/>
            </a:pPr>
            <a:r>
              <a:rPr lang="en-US" sz="1150" dirty="0">
                <a:solidFill>
                  <a:srgbClr val="F2EEE4"/>
                </a:solidFill>
              </a:rPr>
              <a:t> for one objective. The guardrail: a soft decline with a definitive response is not an unknown outcome, and </a:t>
            </a:r>
            <a:pPr indent="0" marL="0">
              <a:buNone/>
            </a:pPr>
            <a:r>
              <a:rPr lang="en-US" sz="1150" b="1" dirty="0">
                <a:solidFill>
                  <a:srgbClr val="E8D9B4"/>
                </a:solidFill>
              </a:rPr>
              <a:t>a completed 3DS flow does not guarantee approval</a:t>
            </a:r>
            <a:pPr indent="0" marL="0">
              <a:buNone/>
            </a:pPr>
            <a:r>
              <a:rPr lang="en-US" sz="1150" dirty="0">
                <a:solidFill>
                  <a:srgbClr val="F2EEE4"/>
                </a:solidFill>
              </a:rPr>
              <a:t>.</a:t>
            </a:r>
            <a:endParaRPr lang="en-US" sz="1150" dirty="0"/>
          </a:p>
        </p:txBody>
      </p:sp>
      <p:sp>
        <p:nvSpPr>
          <p:cNvPr id="25" name="Slide Number Placeholder 0"/>
          <p:cNvSpPr>
            <a:spLocks noGrp="1"/>
          </p:cNvSpPr>
          <p:nvPr>
            <p:ph type="sldNum" sz="quarter" idx="4294967295"/>
          </p:nvPr>
        </p:nvSpPr>
        <p:spPr>
          <a:xfrm>
            <a:off x="11430000" y="6419088"/>
            <a:ext cx="36576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9AA2AE"/>
                </a:solidFill>
                <a:latin typeface="Consolas"/>
                <a:ea typeface="Consolas"/>
                <a:cs typeface="Consolas"/>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475488" y="310896"/>
            <a:ext cx="11240719" cy="219456"/>
          </a:xfrm>
          <a:prstGeom prst="rect">
            <a:avLst/>
          </a:prstGeom>
          <a:noFill/>
          <a:ln/>
        </p:spPr>
        <p:txBody>
          <a:bodyPr wrap="square" lIns="0" tIns="0" rIns="0" bIns="0" rtlCol="0" anchor="ctr"/>
          <a:lstStyle/>
          <a:p>
            <a:pPr indent="0" marL="0">
              <a:buNone/>
            </a:pPr>
            <a:r>
              <a:rPr lang="en-US" sz="1050" spc="240" kern="0" dirty="0">
                <a:solidFill>
                  <a:srgbClr val="B8892F"/>
                </a:solidFill>
                <a:latin typeface="Consolas" pitchFamily="34" charset="0"/>
                <a:ea typeface="Consolas" pitchFamily="34" charset="-122"/>
                <a:cs typeface="Consolas" pitchFamily="34" charset="-120"/>
              </a:rPr>
              <a:t>USE CASE 03  ·  MERCHANT POLICY</a:t>
            </a:r>
            <a:endParaRPr lang="en-US" sz="1050" dirty="0"/>
          </a:p>
        </p:txBody>
      </p:sp>
      <p:sp>
        <p:nvSpPr>
          <p:cNvPr id="3" name="Text 1"/>
          <p:cNvSpPr txBox="1"/>
          <p:nvPr/>
        </p:nvSpPr>
        <p:spPr>
          <a:xfrm>
            <a:off x="475488" y="548640"/>
            <a:ext cx="11240719" cy="566928"/>
          </a:xfrm>
          <a:prstGeom prst="rect">
            <a:avLst/>
          </a:prstGeom>
          <a:noFill/>
          <a:ln/>
        </p:spPr>
        <p:txBody>
          <a:bodyPr wrap="square" lIns="0" tIns="0" rIns="0" bIns="0" rtlCol="0" anchor="t"/>
          <a:lstStyle/>
          <a:p>
            <a:pPr indent="0" marL="0">
              <a:buNone/>
            </a:pPr>
            <a:r>
              <a:rPr lang="en-US" sz="3000" b="1" dirty="0">
                <a:solidFill>
                  <a:srgbClr val="0F1A2B"/>
                </a:solidFill>
                <a:latin typeface="Cambria" pitchFamily="34" charset="0"/>
                <a:ea typeface="Cambria" pitchFamily="34" charset="-122"/>
                <a:cs typeface="Cambria" pitchFamily="34" charset="-120"/>
              </a:rPr>
              <a:t>Merchant-selected response-code strategy</a:t>
            </a:r>
            <a:endParaRPr lang="en-US" sz="3000" dirty="0"/>
          </a:p>
        </p:txBody>
      </p:sp>
      <p:sp>
        <p:nvSpPr>
          <p:cNvPr id="4" name="Text 2"/>
          <p:cNvSpPr txBox="1"/>
          <p:nvPr/>
        </p:nvSpPr>
        <p:spPr>
          <a:xfrm>
            <a:off x="475488" y="1188720"/>
            <a:ext cx="11240719" cy="475488"/>
          </a:xfrm>
          <a:prstGeom prst="rect">
            <a:avLst/>
          </a:prstGeom>
          <a:noFill/>
          <a:ln/>
        </p:spPr>
        <p:txBody>
          <a:bodyPr wrap="square" lIns="0" tIns="0" rIns="0" bIns="0" rtlCol="0" anchor="t"/>
          <a:lstStyle/>
          <a:p>
            <a:pPr indent="0" marL="0">
              <a:buNone/>
            </a:pPr>
            <a:r>
              <a:rPr lang="en-US" sz="1250" dirty="0">
                <a:solidFill>
                  <a:srgbClr val="414A5C"/>
                </a:solidFill>
              </a:rPr>
              <a:t>The merchant configures policy, not individual execution steps. The platform decides whether the requested action is safe and executable for this particular payment.</a:t>
            </a:r>
            <a:endParaRPr lang="en-US" sz="1250" dirty="0"/>
          </a:p>
        </p:txBody>
      </p:sp>
      <p:sp>
        <p:nvSpPr>
          <p:cNvPr id="5" name="Shape 3"/>
          <p:cNvSpPr/>
          <p:nvPr/>
        </p:nvSpPr>
        <p:spPr>
          <a:xfrm>
            <a:off x="475488" y="1737360"/>
            <a:ext cx="11240719" cy="22860"/>
          </a:xfrm>
          <a:prstGeom prst="rect">
            <a:avLst/>
          </a:prstGeom>
          <a:solidFill>
            <a:srgbClr val="B8892F"/>
          </a:solidFill>
          <a:ln w="12700">
            <a:solidFill>
              <a:srgbClr val="B8892F"/>
            </a:solidFill>
            <a:prstDash val="solid"/>
          </a:ln>
        </p:spPr>
      </p:sp>
      <p:sp>
        <p:nvSpPr>
          <p:cNvPr id="6" name="scenario"/>
          <p:cNvSpPr/>
          <p:nvPr/>
        </p:nvSpPr>
        <p:spPr>
          <a:xfrm>
            <a:off x="475488" y="1847088"/>
            <a:ext cx="11240719" cy="566928"/>
          </a:xfrm>
          <a:prstGeom prst="rect">
            <a:avLst/>
          </a:prstGeom>
          <a:solidFill>
            <a:srgbClr val="F4F5F7"/>
          </a:solidFill>
          <a:ln w="6350">
            <a:solidFill>
              <a:srgbClr val="DCD7CB"/>
            </a:solidFill>
            <a:prstDash val="solid"/>
          </a:ln>
        </p:spPr>
      </p:sp>
      <p:sp>
        <p:nvSpPr>
          <p:cNvPr id="7" name="Text 5"/>
          <p:cNvSpPr txBox="1"/>
          <p:nvPr/>
        </p:nvSpPr>
        <p:spPr>
          <a:xfrm>
            <a:off x="603504" y="1911096"/>
            <a:ext cx="868680" cy="182880"/>
          </a:xfrm>
          <a:prstGeom prst="rect">
            <a:avLst/>
          </a:prstGeom>
          <a:noFill/>
          <a:ln/>
        </p:spPr>
        <p:txBody>
          <a:bodyPr wrap="square" lIns="0" tIns="0" rIns="0" bIns="0" rtlCol="0" anchor="ctr"/>
          <a:lstStyle/>
          <a:p>
            <a:pPr indent="0" marL="0">
              <a:buNone/>
            </a:pPr>
            <a:r>
              <a:rPr lang="en-US" sz="850" spc="120" kern="0" dirty="0">
                <a:solidFill>
                  <a:srgbClr val="6B7482"/>
                </a:solidFill>
                <a:latin typeface="Consolas" pitchFamily="34" charset="0"/>
                <a:ea typeface="Consolas" pitchFamily="34" charset="-122"/>
                <a:cs typeface="Consolas" pitchFamily="34" charset="-120"/>
              </a:rPr>
              <a:t>SCENARIO</a:t>
            </a:r>
            <a:endParaRPr lang="en-US" sz="850" dirty="0"/>
          </a:p>
        </p:txBody>
      </p:sp>
      <p:sp>
        <p:nvSpPr>
          <p:cNvPr id="8" name="Text 6"/>
          <p:cNvSpPr txBox="1"/>
          <p:nvPr/>
        </p:nvSpPr>
        <p:spPr>
          <a:xfrm>
            <a:off x="1481328" y="1901952"/>
            <a:ext cx="10088575" cy="457200"/>
          </a:xfrm>
          <a:prstGeom prst="rect">
            <a:avLst/>
          </a:prstGeom>
          <a:noFill/>
          <a:ln/>
        </p:spPr>
        <p:txBody>
          <a:bodyPr wrap="square" lIns="0" tIns="0" rIns="0" bIns="0" rtlCol="0" anchor="t"/>
          <a:lstStyle/>
          <a:p>
            <a:pPr indent="0" marL="0">
              <a:buNone/>
            </a:pPr>
            <a:r>
              <a:rPr lang="en-US" sz="1100" dirty="0">
                <a:solidFill>
                  <a:srgbClr val="1A1F2B"/>
                </a:solidFill>
              </a:rPr>
              <a:t>A subscription renewal of </a:t>
            </a:r>
            <a:pPr indent="0" marL="0">
              <a:buNone/>
            </a:pPr>
            <a:r>
              <a:rPr lang="en-US" sz="1100" b="1" dirty="0">
                <a:solidFill>
                  <a:srgbClr val="1A1F2B"/>
                </a:solidFill>
              </a:rPr>
              <a:t>$39.99</a:t>
            </a:r>
            <a:pPr indent="0" marL="0">
              <a:buNone/>
            </a:pPr>
            <a:r>
              <a:rPr lang="en-US" sz="1100" dirty="0">
                <a:solidFill>
                  <a:srgbClr val="1A1F2B"/>
                </a:solidFill>
              </a:rPr>
              <a:t> declines. Intended policy: retry on days 3 and 7, stop on a network stop-advice, abandon after four attempts. Two code paths can initiate a charge — the nightly billing job and a “retry now” button in the support console.</a:t>
            </a:r>
            <a:endParaRPr lang="en-US" sz="1100" dirty="0"/>
          </a:p>
        </p:txBody>
      </p:sp>
      <p:sp>
        <p:nvSpPr>
          <p:cNvPr id="9" name="at-attempt-level"/>
          <p:cNvSpPr/>
          <p:nvPr/>
        </p:nvSpPr>
        <p:spPr>
          <a:xfrm>
            <a:off x="475488" y="2542032"/>
            <a:ext cx="5492344" cy="2048256"/>
          </a:xfrm>
          <a:prstGeom prst="rect">
            <a:avLst/>
          </a:prstGeom>
          <a:solidFill>
            <a:srgbClr val="FBEEEE"/>
          </a:solidFill>
          <a:ln w="6350">
            <a:solidFill>
              <a:srgbClr val="DCD7CB"/>
            </a:solidFill>
            <a:prstDash val="solid"/>
          </a:ln>
        </p:spPr>
      </p:sp>
      <p:sp>
        <p:nvSpPr>
          <p:cNvPr id="10" name="Text 8"/>
          <p:cNvSpPr txBox="1"/>
          <p:nvPr/>
        </p:nvSpPr>
        <p:spPr>
          <a:xfrm>
            <a:off x="621792" y="2633472"/>
            <a:ext cx="5199736" cy="182880"/>
          </a:xfrm>
          <a:prstGeom prst="rect">
            <a:avLst/>
          </a:prstGeom>
          <a:noFill/>
          <a:ln/>
        </p:spPr>
        <p:txBody>
          <a:bodyPr wrap="square" lIns="0" tIns="0" rIns="0" bIns="0" rtlCol="0" anchor="ctr"/>
          <a:lstStyle/>
          <a:p>
            <a:pPr indent="0" marL="0">
              <a:buNone/>
            </a:pPr>
            <a:r>
              <a:rPr lang="en-US" sz="950" spc="150" kern="0" dirty="0">
                <a:solidFill>
                  <a:srgbClr val="9B2C2C"/>
                </a:solidFill>
                <a:latin typeface="Consolas" pitchFamily="34" charset="0"/>
                <a:ea typeface="Consolas" pitchFamily="34" charset="-122"/>
                <a:cs typeface="Consolas" pitchFamily="34" charset="-120"/>
              </a:rPr>
              <a:t>AT ATTEMPT LEVEL</a:t>
            </a:r>
            <a:endParaRPr lang="en-US" sz="950" dirty="0"/>
          </a:p>
        </p:txBody>
      </p:sp>
      <p:sp>
        <p:nvSpPr>
          <p:cNvPr id="11" name="Text 9"/>
          <p:cNvSpPr txBox="1"/>
          <p:nvPr/>
        </p:nvSpPr>
        <p:spPr>
          <a:xfrm>
            <a:off x="621792" y="2852928"/>
            <a:ext cx="5199736" cy="1645920"/>
          </a:xfrm>
          <a:prstGeom prst="rect">
            <a:avLst/>
          </a:prstGeom>
          <a:noFill/>
          <a:ln/>
        </p:spPr>
        <p:txBody>
          <a:bodyPr wrap="square" lIns="0" tIns="0" rIns="0" bIns="0" rtlCol="0" anchor="t"/>
          <a:lstStyle/>
          <a:p>
            <a:pPr marL="177800" indent="-177800">
              <a:spcAft>
                <a:spcPts val="500"/>
              </a:spcAft>
              <a:buSzPct val="100000"/>
              <a:buChar char="•"/>
            </a:pPr>
            <a:r>
              <a:rPr lang="en-US" sz="1050" dirty="0">
                <a:solidFill>
                  <a:srgbClr val="1A1F2B"/>
                </a:solidFill>
              </a:rPr>
              <a:t>Both initiators fire within six minutes. No shared durable counter, so issuer velocity controls engage and </a:t>
            </a:r>
            <a:pPr indent="0" marL="0">
              <a:spcAft>
                <a:spcPts val="500"/>
              </a:spcAft>
              <a:buNone/>
            </a:pPr>
            <a:r>
              <a:rPr lang="en-US" sz="1050" b="1" dirty="0">
                <a:solidFill>
                  <a:srgbClr val="1A1F2B"/>
                </a:solidFill>
              </a:rPr>
              <a:t>the card is degraded for this merchant</a:t>
            </a:r>
            <a:pPr indent="0" marL="0">
              <a:spcAft>
                <a:spcPts val="500"/>
              </a:spcAft>
              <a:buNone/>
            </a:pPr>
            <a:r>
              <a:rPr lang="en-US" sz="1050" dirty="0">
                <a:solidFill>
                  <a:srgbClr val="1A1F2B"/>
                </a:solidFill>
              </a:rPr>
              <a:t>.</a:t>
            </a:r>
            <a:endParaRPr lang="en-US" sz="1050" dirty="0"/>
          </a:p>
          <a:p>
            <a:pPr marL="177800" indent="-177800">
              <a:spcAft>
                <a:spcPts val="500"/>
              </a:spcAft>
              <a:buSzPct val="100000"/>
              <a:buChar char="•"/>
            </a:pPr>
            <a:r>
              <a:rPr lang="en-US" sz="1050" dirty="0">
                <a:solidFill>
                  <a:srgbClr val="1A1F2B"/>
                </a:solidFill>
              </a:rPr>
              <a:t>A response-code table is maintained per network in merchant code, re-versioned whenever a network changes semantics.</a:t>
            </a:r>
            <a:endParaRPr lang="en-US" sz="1050" dirty="0"/>
          </a:p>
          <a:p>
            <a:pPr marL="177800" indent="-177800">
              <a:spcAft>
                <a:spcPts val="500"/>
              </a:spcAft>
              <a:buSzPct val="100000"/>
              <a:buChar char="•"/>
            </a:pPr>
            <a:r>
              <a:rPr lang="en-US" sz="1050" dirty="0">
                <a:solidFill>
                  <a:srgbClr val="1A1F2B"/>
                </a:solidFill>
              </a:rPr>
              <a:t>Merchant advice codes must be interpreted separately from the response code beside them.</a:t>
            </a:r>
            <a:endParaRPr lang="en-US" sz="1050" dirty="0"/>
          </a:p>
          <a:p>
            <a:pPr marL="177800" indent="-177800">
              <a:spcAft>
                <a:spcPts val="500"/>
              </a:spcAft>
              <a:buSzPct val="100000"/>
              <a:buChar char="•"/>
            </a:pPr>
            <a:r>
              <a:rPr lang="en-US" sz="1050" dirty="0">
                <a:solidFill>
                  <a:srgbClr val="1A1F2B"/>
                </a:solidFill>
              </a:rPr>
              <a:t>A distributed lock between a billing job and a support console — a payments concern the merchant now operates.</a:t>
            </a:r>
            <a:endParaRPr lang="en-US" sz="1050" dirty="0"/>
          </a:p>
        </p:txBody>
      </p:sp>
      <p:sp>
        <p:nvSpPr>
          <p:cNvPr id="12" name="with-payment-intent"/>
          <p:cNvSpPr/>
          <p:nvPr/>
        </p:nvSpPr>
        <p:spPr>
          <a:xfrm>
            <a:off x="6223864" y="2542032"/>
            <a:ext cx="5492344" cy="2048256"/>
          </a:xfrm>
          <a:prstGeom prst="rect">
            <a:avLst/>
          </a:prstGeom>
          <a:solidFill>
            <a:srgbClr val="D6E7E4"/>
          </a:solidFill>
          <a:ln w="6350">
            <a:solidFill>
              <a:srgbClr val="DCD7CB"/>
            </a:solidFill>
            <a:prstDash val="solid"/>
          </a:ln>
        </p:spPr>
      </p:sp>
      <p:sp>
        <p:nvSpPr>
          <p:cNvPr id="13" name="Text 11"/>
          <p:cNvSpPr txBox="1"/>
          <p:nvPr/>
        </p:nvSpPr>
        <p:spPr>
          <a:xfrm>
            <a:off x="6370168" y="2633472"/>
            <a:ext cx="5199736" cy="182880"/>
          </a:xfrm>
          <a:prstGeom prst="rect">
            <a:avLst/>
          </a:prstGeom>
          <a:noFill/>
          <a:ln/>
        </p:spPr>
        <p:txBody>
          <a:bodyPr wrap="square" lIns="0" tIns="0" rIns="0" bIns="0" rtlCol="0" anchor="ctr"/>
          <a:lstStyle/>
          <a:p>
            <a:pPr indent="0" marL="0">
              <a:buNone/>
            </a:pPr>
            <a:r>
              <a:rPr lang="en-US" sz="950" spc="150" kern="0" dirty="0">
                <a:solidFill>
                  <a:srgbClr val="26706A"/>
                </a:solidFill>
                <a:latin typeface="Consolas" pitchFamily="34" charset="0"/>
                <a:ea typeface="Consolas" pitchFamily="34" charset="-122"/>
                <a:cs typeface="Consolas" pitchFamily="34" charset="-120"/>
              </a:rPr>
              <a:t>WITH A PAYMENT INTENT</a:t>
            </a:r>
            <a:endParaRPr lang="en-US" sz="950" dirty="0"/>
          </a:p>
        </p:txBody>
      </p:sp>
      <p:sp>
        <p:nvSpPr>
          <p:cNvPr id="14" name="Text 12"/>
          <p:cNvSpPr txBox="1"/>
          <p:nvPr/>
        </p:nvSpPr>
        <p:spPr>
          <a:xfrm>
            <a:off x="6370168" y="2852928"/>
            <a:ext cx="5199736" cy="1645920"/>
          </a:xfrm>
          <a:prstGeom prst="rect">
            <a:avLst/>
          </a:prstGeom>
          <a:noFill/>
          <a:ln/>
        </p:spPr>
        <p:txBody>
          <a:bodyPr wrap="square" lIns="0" tIns="0" rIns="0" bIns="0" rtlCol="0" anchor="t"/>
          <a:lstStyle/>
          <a:p>
            <a:pPr marL="177800" indent="-177800">
              <a:spcAft>
                <a:spcPts val="500"/>
              </a:spcAft>
              <a:buSzPct val="100000"/>
              <a:buChar char="•"/>
            </a:pPr>
            <a:r>
              <a:rPr lang="en-US" sz="1050" dirty="0">
                <a:solidFill>
                  <a:srgbClr val="1A1F2B"/>
                </a:solidFill>
              </a:rPr>
              <a:t>Policy is declared once, in </a:t>
            </a:r>
            <a:pPr indent="0" marL="0">
              <a:spcAft>
                <a:spcPts val="500"/>
              </a:spcAft>
              <a:buNone/>
            </a:pPr>
            <a:r>
              <a:rPr lang="en-US" sz="1050" b="1" dirty="0">
                <a:solidFill>
                  <a:srgbClr val="1A1F2B"/>
                </a:solidFill>
              </a:rPr>
              <a:t>semantic classes rather than raw codes</a:t>
            </a:r>
            <a:pPr indent="0" marL="0">
              <a:spcAft>
                <a:spcPts val="500"/>
              </a:spcAft>
              <a:buNone/>
            </a:pPr>
            <a:r>
              <a:rPr lang="en-US" sz="1050" dirty="0">
                <a:solidFill>
                  <a:srgbClr val="1A1F2B"/>
                </a:solidFill>
              </a:rPr>
              <a:t>: </a:t>
            </a:r>
            <a:pPr indent="0" marL="0">
              <a:spcAft>
                <a:spcPts val="500"/>
              </a:spcAft>
              <a:buNone/>
            </a:pPr>
            <a:r>
              <a:rPr lang="en-US" sz="1000" dirty="0">
                <a:solidFill>
                  <a:srgbClr val="1A1F2B"/>
                </a:solidFill>
                <a:latin typeface="Consolas" pitchFamily="34" charset="0"/>
                <a:ea typeface="Consolas" pitchFamily="34" charset="-122"/>
                <a:cs typeface="Consolas" pitchFamily="34" charset="-120"/>
              </a:rPr>
              <a:t>insufficient_funds</a:t>
            </a:r>
            <a:pPr indent="0" marL="0">
              <a:spcAft>
                <a:spcPts val="500"/>
              </a:spcAft>
              <a:buNone/>
            </a:pPr>
            <a:r>
              <a:rPr lang="en-US" sz="1050" dirty="0">
                <a:solidFill>
                  <a:srgbClr val="1A1F2B"/>
                </a:solidFill>
              </a:rPr>
              <a:t>, </a:t>
            </a:r>
            <a:pPr indent="0" marL="0">
              <a:spcAft>
                <a:spcPts val="500"/>
              </a:spcAft>
              <a:buNone/>
            </a:pPr>
            <a:r>
              <a:rPr lang="en-US" sz="1000" dirty="0">
                <a:solidFill>
                  <a:srgbClr val="1A1F2B"/>
                </a:solidFill>
                <a:latin typeface="Consolas" pitchFamily="34" charset="0"/>
                <a:ea typeface="Consolas" pitchFamily="34" charset="-122"/>
                <a:cs typeface="Consolas" pitchFamily="34" charset="-120"/>
              </a:rPr>
              <a:t>network_stop_advice</a:t>
            </a:r>
            <a:pPr indent="0" marL="0">
              <a:spcAft>
                <a:spcPts val="500"/>
              </a:spcAft>
              <a:buNone/>
            </a:pPr>
            <a:r>
              <a:rPr lang="en-US" sz="1050" dirty="0">
                <a:solidFill>
                  <a:srgbClr val="1A1F2B"/>
                </a:solidFill>
              </a:rPr>
              <a:t>.</a:t>
            </a:r>
            <a:endParaRPr lang="en-US" sz="1050" dirty="0"/>
          </a:p>
          <a:p>
            <a:pPr marL="177800" indent="-177800">
              <a:spcAft>
                <a:spcPts val="500"/>
              </a:spcAft>
              <a:buSzPct val="100000"/>
              <a:buChar char="•"/>
            </a:pPr>
            <a:r>
              <a:rPr lang="en-US" sz="1050" dirty="0">
                <a:solidFill>
                  <a:srgbClr val="1A1F2B"/>
                </a:solidFill>
              </a:rPr>
              <a:t>The out-of-policy manual retry returns </a:t>
            </a:r>
            <a:pPr indent="0" marL="0">
              <a:spcAft>
                <a:spcPts val="500"/>
              </a:spcAft>
              <a:buNone/>
            </a:pPr>
            <a:r>
              <a:rPr lang="en-US" sz="1000" dirty="0">
                <a:solidFill>
                  <a:srgbClr val="1A1F2B"/>
                </a:solidFill>
                <a:latin typeface="Consolas" pitchFamily="34" charset="0"/>
                <a:ea typeface="Consolas" pitchFamily="34" charset="-122"/>
                <a:cs typeface="Consolas" pitchFamily="34" charset="-120"/>
              </a:rPr>
              <a:t>409</a:t>
            </a:r>
            <a:pPr indent="0" marL="0">
              <a:spcAft>
                <a:spcPts val="500"/>
              </a:spcAft>
              <a:buNone/>
            </a:pPr>
            <a:r>
              <a:rPr lang="en-US" sz="1050" dirty="0">
                <a:solidFill>
                  <a:srgbClr val="1A1F2B"/>
                </a:solidFill>
              </a:rPr>
              <a:t> with </a:t>
            </a:r>
            <a:pPr indent="0" marL="0">
              <a:spcAft>
                <a:spcPts val="500"/>
              </a:spcAft>
              <a:buNone/>
            </a:pPr>
            <a:r>
              <a:rPr lang="en-US" sz="1000" dirty="0">
                <a:solidFill>
                  <a:srgbClr val="1A1F2B"/>
                </a:solidFill>
                <a:latin typeface="Consolas" pitchFamily="34" charset="0"/>
                <a:ea typeface="Consolas" pitchFamily="34" charset="-122"/>
                <a:cs typeface="Consolas" pitchFamily="34" charset="-120"/>
              </a:rPr>
              <a:t>next_attempt_at</a:t>
            </a:r>
            <a:pPr indent="0" marL="0">
              <a:spcAft>
                <a:spcPts val="500"/>
              </a:spcAft>
              <a:buNone/>
            </a:pPr>
            <a:r>
              <a:rPr lang="en-US" sz="1050" dirty="0">
                <a:solidFill>
                  <a:srgbClr val="1A1F2B"/>
                </a:solidFill>
              </a:rPr>
              <a:t>. The guard is server-side, so it holds across teams.</a:t>
            </a:r>
            <a:endParaRPr lang="en-US" sz="1050" dirty="0"/>
          </a:p>
          <a:p>
            <a:pPr marL="177800" indent="-177800">
              <a:spcAft>
                <a:spcPts val="500"/>
              </a:spcAft>
              <a:buSzPct val="100000"/>
              <a:buChar char="•"/>
            </a:pPr>
            <a:r>
              <a:rPr lang="en-US" sz="1050" dirty="0">
                <a:solidFill>
                  <a:srgbClr val="1A1F2B"/>
                </a:solidFill>
              </a:rPr>
              <a:t>The platform owns the wire-code to class mapping and keeps it current for every merchant at once.</a:t>
            </a:r>
            <a:endParaRPr lang="en-US" sz="1050" dirty="0"/>
          </a:p>
          <a:p>
            <a:pPr marL="177800" indent="-177800">
              <a:spcAft>
                <a:spcPts val="500"/>
              </a:spcAft>
              <a:buSzPct val="100000"/>
              <a:buChar char="•"/>
            </a:pPr>
            <a:r>
              <a:rPr lang="en-US" sz="1050" b="1" dirty="0">
                <a:solidFill>
                  <a:srgbClr val="1A1F2B"/>
                </a:solidFill>
              </a:rPr>
              <a:t>Blind rail switching is refused</a:t>
            </a:r>
            <a:pPr indent="0" marL="0">
              <a:spcAft>
                <a:spcPts val="500"/>
              </a:spcAft>
              <a:buNone/>
            </a:pPr>
            <a:r>
              <a:rPr lang="en-US" sz="1050" dirty="0">
                <a:solidFill>
                  <a:srgbClr val="1A1F2B"/>
                </a:solidFill>
              </a:rPr>
              <a:t> where unsafe — insufficient funds is not a routing problem.</a:t>
            </a:r>
            <a:endParaRPr lang="en-US" sz="1050" dirty="0"/>
          </a:p>
        </p:txBody>
      </p:sp>
      <p:sp>
        <p:nvSpPr>
          <p:cNvPr id="15" name="owns-0"/>
          <p:cNvSpPr/>
          <p:nvPr/>
        </p:nvSpPr>
        <p:spPr>
          <a:xfrm>
            <a:off x="475488" y="4700016"/>
            <a:ext cx="3637178" cy="731520"/>
          </a:xfrm>
          <a:prstGeom prst="rect">
            <a:avLst/>
          </a:prstGeom>
          <a:solidFill>
            <a:srgbClr val="FBFAF7"/>
          </a:solidFill>
          <a:ln w="6350">
            <a:solidFill>
              <a:srgbClr val="DCD7CB"/>
            </a:solidFill>
            <a:prstDash val="solid"/>
          </a:ln>
        </p:spPr>
      </p:sp>
      <p:sp>
        <p:nvSpPr>
          <p:cNvPr id="16" name="Text 14"/>
          <p:cNvSpPr txBox="1"/>
          <p:nvPr/>
        </p:nvSpPr>
        <p:spPr>
          <a:xfrm>
            <a:off x="594360" y="4773168"/>
            <a:ext cx="3399434" cy="173736"/>
          </a:xfrm>
          <a:prstGeom prst="rect">
            <a:avLst/>
          </a:prstGeom>
          <a:noFill/>
          <a:ln/>
        </p:spPr>
        <p:txBody>
          <a:bodyPr wrap="square" lIns="0" tIns="0" rIns="0" bIns="0" rtlCol="0" anchor="ctr"/>
          <a:lstStyle/>
          <a:p>
            <a:pPr indent="0" marL="0">
              <a:buNone/>
            </a:pPr>
            <a:r>
              <a:rPr lang="en-US" sz="850" spc="120" kern="0" dirty="0">
                <a:solidFill>
                  <a:srgbClr val="B8892F"/>
                </a:solidFill>
                <a:latin typeface="Consolas" pitchFamily="34" charset="0"/>
                <a:ea typeface="Consolas" pitchFamily="34" charset="-122"/>
                <a:cs typeface="Consolas" pitchFamily="34" charset="-120"/>
              </a:rPr>
              <a:t>PAYMENT INTENT OWNS</a:t>
            </a:r>
            <a:endParaRPr lang="en-US" sz="850" dirty="0"/>
          </a:p>
        </p:txBody>
      </p:sp>
      <p:sp>
        <p:nvSpPr>
          <p:cNvPr id="17" name="Text 15"/>
          <p:cNvSpPr txBox="1"/>
          <p:nvPr/>
        </p:nvSpPr>
        <p:spPr>
          <a:xfrm>
            <a:off x="594360" y="4965192"/>
            <a:ext cx="3399434" cy="393192"/>
          </a:xfrm>
          <a:prstGeom prst="rect">
            <a:avLst/>
          </a:prstGeom>
          <a:noFill/>
          <a:ln/>
        </p:spPr>
        <p:txBody>
          <a:bodyPr wrap="square" lIns="0" tIns="0" rIns="0" bIns="0" rtlCol="0" anchor="t"/>
          <a:lstStyle/>
          <a:p>
            <a:pPr indent="0" marL="0">
              <a:buNone/>
            </a:pPr>
            <a:r>
              <a:rPr lang="en-US" sz="1000" dirty="0">
                <a:solidFill>
                  <a:srgbClr val="1A1F2B"/>
                </a:solidFill>
              </a:rPr>
              <a:t>The policy context, the attempt budget, and the aggregate lifecycle of the month's collection.</a:t>
            </a:r>
            <a:endParaRPr lang="en-US" sz="1000" dirty="0"/>
          </a:p>
        </p:txBody>
      </p:sp>
      <p:sp>
        <p:nvSpPr>
          <p:cNvPr id="18" name="owns-1"/>
          <p:cNvSpPr/>
          <p:nvPr/>
        </p:nvSpPr>
        <p:spPr>
          <a:xfrm>
            <a:off x="4277258" y="4700016"/>
            <a:ext cx="3637178" cy="731520"/>
          </a:xfrm>
          <a:prstGeom prst="rect">
            <a:avLst/>
          </a:prstGeom>
          <a:solidFill>
            <a:srgbClr val="FBFAF7"/>
          </a:solidFill>
          <a:ln w="6350">
            <a:solidFill>
              <a:srgbClr val="DCD7CB"/>
            </a:solidFill>
            <a:prstDash val="solid"/>
          </a:ln>
        </p:spPr>
      </p:sp>
      <p:sp>
        <p:nvSpPr>
          <p:cNvPr id="19" name="Text 17"/>
          <p:cNvSpPr txBox="1"/>
          <p:nvPr/>
        </p:nvSpPr>
        <p:spPr>
          <a:xfrm>
            <a:off x="4396130" y="4773168"/>
            <a:ext cx="3399434" cy="173736"/>
          </a:xfrm>
          <a:prstGeom prst="rect">
            <a:avLst/>
          </a:prstGeom>
          <a:noFill/>
          <a:ln/>
        </p:spPr>
        <p:txBody>
          <a:bodyPr wrap="square" lIns="0" tIns="0" rIns="0" bIns="0" rtlCol="0" anchor="ctr"/>
          <a:lstStyle/>
          <a:p>
            <a:pPr indent="0" marL="0">
              <a:buNone/>
            </a:pPr>
            <a:r>
              <a:rPr lang="en-US" sz="850" spc="120" kern="0" dirty="0">
                <a:solidFill>
                  <a:srgbClr val="B8892F"/>
                </a:solidFill>
                <a:latin typeface="Consolas" pitchFamily="34" charset="0"/>
                <a:ea typeface="Consolas" pitchFamily="34" charset="-122"/>
                <a:cs typeface="Consolas" pitchFamily="34" charset="-120"/>
              </a:rPr>
              <a:t>PAYMENT ATTEMPT OWNS</a:t>
            </a:r>
            <a:endParaRPr lang="en-US" sz="850" dirty="0"/>
          </a:p>
        </p:txBody>
      </p:sp>
      <p:sp>
        <p:nvSpPr>
          <p:cNvPr id="20" name="Text 18"/>
          <p:cNvSpPr txBox="1"/>
          <p:nvPr/>
        </p:nvSpPr>
        <p:spPr>
          <a:xfrm>
            <a:off x="4396130" y="4965192"/>
            <a:ext cx="3399434" cy="393192"/>
          </a:xfrm>
          <a:prstGeom prst="rect">
            <a:avLst/>
          </a:prstGeom>
          <a:noFill/>
          <a:ln/>
        </p:spPr>
        <p:txBody>
          <a:bodyPr wrap="square" lIns="0" tIns="0" rIns="0" bIns="0" rtlCol="0" anchor="t"/>
          <a:lstStyle/>
          <a:p>
            <a:pPr indent="0" marL="0">
              <a:buNone/>
            </a:pPr>
            <a:r>
              <a:rPr lang="en-US" sz="1000" dirty="0">
                <a:solidFill>
                  <a:srgbClr val="1A1F2B"/>
                </a:solidFill>
              </a:rPr>
              <a:t>The raw processor response preserved alongside its normalized classification.</a:t>
            </a:r>
            <a:endParaRPr lang="en-US" sz="1000" dirty="0"/>
          </a:p>
        </p:txBody>
      </p:sp>
      <p:sp>
        <p:nvSpPr>
          <p:cNvPr id="21" name="owns-2"/>
          <p:cNvSpPr/>
          <p:nvPr/>
        </p:nvSpPr>
        <p:spPr>
          <a:xfrm>
            <a:off x="8079029" y="4700016"/>
            <a:ext cx="3637178" cy="731520"/>
          </a:xfrm>
          <a:prstGeom prst="rect">
            <a:avLst/>
          </a:prstGeom>
          <a:solidFill>
            <a:srgbClr val="FBFAF7"/>
          </a:solidFill>
          <a:ln w="6350">
            <a:solidFill>
              <a:srgbClr val="DCD7CB"/>
            </a:solidFill>
            <a:prstDash val="solid"/>
          </a:ln>
        </p:spPr>
      </p:sp>
      <p:sp>
        <p:nvSpPr>
          <p:cNvPr id="22" name="Text 20"/>
          <p:cNvSpPr txBox="1"/>
          <p:nvPr/>
        </p:nvSpPr>
        <p:spPr>
          <a:xfrm>
            <a:off x="8197901" y="4773168"/>
            <a:ext cx="3399434" cy="173736"/>
          </a:xfrm>
          <a:prstGeom prst="rect">
            <a:avLst/>
          </a:prstGeom>
          <a:noFill/>
          <a:ln/>
        </p:spPr>
        <p:txBody>
          <a:bodyPr wrap="square" lIns="0" tIns="0" rIns="0" bIns="0" rtlCol="0" anchor="ctr"/>
          <a:lstStyle/>
          <a:p>
            <a:pPr indent="0" marL="0">
              <a:buNone/>
            </a:pPr>
            <a:r>
              <a:rPr lang="en-US" sz="850" spc="120" kern="0" dirty="0">
                <a:solidFill>
                  <a:srgbClr val="B8892F"/>
                </a:solidFill>
                <a:latin typeface="Consolas" pitchFamily="34" charset="0"/>
                <a:ea typeface="Consolas" pitchFamily="34" charset="-122"/>
                <a:cs typeface="Consolas" pitchFamily="34" charset="-120"/>
              </a:rPr>
              <a:t>ORCHESTRATION DECISION OWNS</a:t>
            </a:r>
            <a:endParaRPr lang="en-US" sz="850" dirty="0"/>
          </a:p>
        </p:txBody>
      </p:sp>
      <p:sp>
        <p:nvSpPr>
          <p:cNvPr id="23" name="Text 21"/>
          <p:cNvSpPr txBox="1"/>
          <p:nvPr/>
        </p:nvSpPr>
        <p:spPr>
          <a:xfrm>
            <a:off x="8197901" y="4965192"/>
            <a:ext cx="3399434" cy="393192"/>
          </a:xfrm>
          <a:prstGeom prst="rect">
            <a:avLst/>
          </a:prstGeom>
          <a:noFill/>
          <a:ln/>
        </p:spPr>
        <p:txBody>
          <a:bodyPr wrap="square" lIns="0" tIns="0" rIns="0" bIns="0" rtlCol="0" anchor="t"/>
          <a:lstStyle/>
          <a:p>
            <a:pPr indent="0" marL="0">
              <a:buNone/>
            </a:pPr>
            <a:r>
              <a:rPr lang="en-US" sz="1000" dirty="0">
                <a:solidFill>
                  <a:srgbClr val="1A1F2B"/>
                </a:solidFill>
              </a:rPr>
              <a:t>Which constraints were evaluated, and whether the merchant's preference was permitted or overridden.</a:t>
            </a:r>
            <a:endParaRPr lang="en-US" sz="1000" dirty="0"/>
          </a:p>
        </p:txBody>
      </p:sp>
      <p:sp>
        <p:nvSpPr>
          <p:cNvPr id="24" name="takeaway"/>
          <p:cNvSpPr/>
          <p:nvPr/>
        </p:nvSpPr>
        <p:spPr>
          <a:xfrm>
            <a:off x="475488" y="5541264"/>
            <a:ext cx="11240719" cy="768096"/>
          </a:xfrm>
          <a:prstGeom prst="rect">
            <a:avLst/>
          </a:prstGeom>
          <a:solidFill>
            <a:srgbClr val="0F1A2B"/>
          </a:solidFill>
          <a:ln w="12700">
            <a:solidFill>
              <a:srgbClr val="333333"/>
            </a:solidFill>
            <a:prstDash val="solid"/>
          </a:ln>
        </p:spPr>
      </p:sp>
      <p:sp>
        <p:nvSpPr>
          <p:cNvPr id="25" name="Text 23"/>
          <p:cNvSpPr txBox="1"/>
          <p:nvPr/>
        </p:nvSpPr>
        <p:spPr>
          <a:xfrm>
            <a:off x="640080" y="5623560"/>
            <a:ext cx="10911535" cy="182880"/>
          </a:xfrm>
          <a:prstGeom prst="rect">
            <a:avLst/>
          </a:prstGeom>
          <a:noFill/>
          <a:ln/>
        </p:spPr>
        <p:txBody>
          <a:bodyPr wrap="square" lIns="0" tIns="0" rIns="0" bIns="0" rtlCol="0" anchor="ctr"/>
          <a:lstStyle/>
          <a:p>
            <a:pPr indent="0" marL="0">
              <a:buNone/>
            </a:pPr>
            <a:r>
              <a:rPr lang="en-US" sz="900" spc="160" kern="0" dirty="0">
                <a:solidFill>
                  <a:srgbClr val="D9A03C"/>
                </a:solidFill>
                <a:latin typeface="Consolas" pitchFamily="34" charset="0"/>
                <a:ea typeface="Consolas" pitchFamily="34" charset="-122"/>
                <a:cs typeface="Consolas" pitchFamily="34" charset="-120"/>
              </a:rPr>
              <a:t>TAKEAWAY</a:t>
            </a:r>
            <a:endParaRPr lang="en-US" sz="900" dirty="0"/>
          </a:p>
        </p:txBody>
      </p:sp>
      <p:sp>
        <p:nvSpPr>
          <p:cNvPr id="26" name="Text 24"/>
          <p:cNvSpPr txBox="1"/>
          <p:nvPr/>
        </p:nvSpPr>
        <p:spPr>
          <a:xfrm>
            <a:off x="640080" y="5815584"/>
            <a:ext cx="10911535" cy="438912"/>
          </a:xfrm>
          <a:prstGeom prst="rect">
            <a:avLst/>
          </a:prstGeom>
          <a:noFill/>
          <a:ln/>
        </p:spPr>
        <p:txBody>
          <a:bodyPr wrap="square" lIns="0" tIns="0" rIns="0" bIns="0" rtlCol="0" anchor="t"/>
          <a:lstStyle/>
          <a:p>
            <a:pPr indent="0" marL="0">
              <a:buNone/>
            </a:pPr>
            <a:r>
              <a:rPr lang="en-US" sz="1150" dirty="0">
                <a:solidFill>
                  <a:srgbClr val="F2EEE4"/>
                </a:solidFill>
              </a:rPr>
              <a:t>Policy precedence must be fixed: </a:t>
            </a:r>
            <a:pPr indent="0" marL="0">
              <a:buNone/>
            </a:pPr>
            <a:r>
              <a:rPr lang="en-US" sz="1150" b="1" dirty="0">
                <a:solidFill>
                  <a:srgbClr val="E8D9B4"/>
                </a:solidFill>
              </a:rPr>
              <a:t>legal and scheme constraints, then rail and method capability, then platform safety, then merchant preference, then default.</a:t>
            </a:r>
            <a:pPr indent="0" marL="0">
              <a:buNone/>
            </a:pPr>
            <a:r>
              <a:rPr lang="en-US" sz="1150" dirty="0">
                <a:solidFill>
                  <a:srgbClr val="F2EEE4"/>
                </a:solidFill>
              </a:rPr>
              <a:t> Merchants tune strategy; they never override a hard safety constraint.</a:t>
            </a:r>
            <a:endParaRPr lang="en-US" sz="1150" dirty="0"/>
          </a:p>
        </p:txBody>
      </p:sp>
      <p:sp>
        <p:nvSpPr>
          <p:cNvPr id="25" name="Slide Number Placeholder 0"/>
          <p:cNvSpPr>
            <a:spLocks noGrp="1"/>
          </p:cNvSpPr>
          <p:nvPr>
            <p:ph type="sldNum" sz="quarter" idx="4294967295"/>
          </p:nvPr>
        </p:nvSpPr>
        <p:spPr>
          <a:xfrm>
            <a:off x="11430000" y="6419088"/>
            <a:ext cx="36576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9AA2AE"/>
                </a:solidFill>
                <a:latin typeface="Consolas"/>
                <a:ea typeface="Consolas"/>
                <a:cs typeface="Consolas"/>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475488" y="310896"/>
            <a:ext cx="11240719" cy="219456"/>
          </a:xfrm>
          <a:prstGeom prst="rect">
            <a:avLst/>
          </a:prstGeom>
          <a:noFill/>
          <a:ln/>
        </p:spPr>
        <p:txBody>
          <a:bodyPr wrap="square" lIns="0" tIns="0" rIns="0" bIns="0" rtlCol="0" anchor="ctr"/>
          <a:lstStyle/>
          <a:p>
            <a:pPr indent="0" marL="0">
              <a:buNone/>
            </a:pPr>
            <a:r>
              <a:rPr lang="en-US" sz="1050" spc="240" kern="0" dirty="0">
                <a:solidFill>
                  <a:srgbClr val="B8892F"/>
                </a:solidFill>
                <a:latin typeface="Consolas" pitchFamily="34" charset="0"/>
                <a:ea typeface="Consolas" pitchFamily="34" charset="-122"/>
                <a:cs typeface="Consolas" pitchFamily="34" charset="-120"/>
              </a:rPr>
              <a:t>USE CASE 04  ·  FINANCIAL OPERATIONS</a:t>
            </a:r>
            <a:endParaRPr lang="en-US" sz="1050" dirty="0"/>
          </a:p>
        </p:txBody>
      </p:sp>
      <p:sp>
        <p:nvSpPr>
          <p:cNvPr id="3" name="Text 1"/>
          <p:cNvSpPr txBox="1"/>
          <p:nvPr/>
        </p:nvSpPr>
        <p:spPr>
          <a:xfrm>
            <a:off x="475488" y="548640"/>
            <a:ext cx="11240719" cy="566928"/>
          </a:xfrm>
          <a:prstGeom prst="rect">
            <a:avLst/>
          </a:prstGeom>
          <a:noFill/>
          <a:ln/>
        </p:spPr>
        <p:txBody>
          <a:bodyPr wrap="square" lIns="0" tIns="0" rIns="0" bIns="0" rtlCol="0" anchor="t"/>
          <a:lstStyle/>
          <a:p>
            <a:pPr indent="0" marL="0">
              <a:buNone/>
            </a:pPr>
            <a:r>
              <a:rPr lang="en-US" sz="3000" b="1" dirty="0">
                <a:solidFill>
                  <a:srgbClr val="0F1A2B"/>
                </a:solidFill>
                <a:latin typeface="Cambria" pitchFamily="34" charset="0"/>
                <a:ea typeface="Cambria" pitchFamily="34" charset="-122"/>
                <a:cs typeface="Cambria" pitchFamily="34" charset="-120"/>
              </a:rPr>
              <a:t>Multiple partial captures against partial shipment</a:t>
            </a:r>
            <a:endParaRPr lang="en-US" sz="3000" dirty="0"/>
          </a:p>
        </p:txBody>
      </p:sp>
      <p:sp>
        <p:nvSpPr>
          <p:cNvPr id="4" name="Text 2"/>
          <p:cNvSpPr txBox="1"/>
          <p:nvPr/>
        </p:nvSpPr>
        <p:spPr>
          <a:xfrm>
            <a:off x="475488" y="1188720"/>
            <a:ext cx="11240719" cy="475488"/>
          </a:xfrm>
          <a:prstGeom prst="rect">
            <a:avLst/>
          </a:prstGeom>
          <a:noFill/>
          <a:ln/>
        </p:spPr>
        <p:txBody>
          <a:bodyPr wrap="square" lIns="0" tIns="0" rIns="0" bIns="0" rtlCol="0" anchor="t"/>
          <a:lstStyle/>
          <a:p>
            <a:pPr indent="0" marL="0">
              <a:buNone/>
            </a:pPr>
            <a:r>
              <a:rPr lang="en-US" sz="1250" dirty="0">
                <a:solidFill>
                  <a:srgbClr val="414A5C"/>
                </a:solidFill>
              </a:rPr>
              <a:t>A capture is not a new authorization attempt. It is a distinct financial operation against an existing authorization, and modelling it as an attempt confuses five different things at once.</a:t>
            </a:r>
            <a:endParaRPr lang="en-US" sz="1250" dirty="0"/>
          </a:p>
        </p:txBody>
      </p:sp>
      <p:sp>
        <p:nvSpPr>
          <p:cNvPr id="5" name="Shape 3"/>
          <p:cNvSpPr/>
          <p:nvPr/>
        </p:nvSpPr>
        <p:spPr>
          <a:xfrm>
            <a:off x="475488" y="1737360"/>
            <a:ext cx="11240719" cy="22860"/>
          </a:xfrm>
          <a:prstGeom prst="rect">
            <a:avLst/>
          </a:prstGeom>
          <a:solidFill>
            <a:srgbClr val="B8892F"/>
          </a:solidFill>
          <a:ln w="12700">
            <a:solidFill>
              <a:srgbClr val="B8892F"/>
            </a:solidFill>
            <a:prstDash val="solid"/>
          </a:ln>
        </p:spPr>
      </p:sp>
      <p:sp>
        <p:nvSpPr>
          <p:cNvPr id="6" name="scenario"/>
          <p:cNvSpPr/>
          <p:nvPr/>
        </p:nvSpPr>
        <p:spPr>
          <a:xfrm>
            <a:off x="475488" y="1847088"/>
            <a:ext cx="11240719" cy="566928"/>
          </a:xfrm>
          <a:prstGeom prst="rect">
            <a:avLst/>
          </a:prstGeom>
          <a:solidFill>
            <a:srgbClr val="F4F5F7"/>
          </a:solidFill>
          <a:ln w="6350">
            <a:solidFill>
              <a:srgbClr val="DCD7CB"/>
            </a:solidFill>
            <a:prstDash val="solid"/>
          </a:ln>
        </p:spPr>
      </p:sp>
      <p:sp>
        <p:nvSpPr>
          <p:cNvPr id="7" name="Text 5"/>
          <p:cNvSpPr txBox="1"/>
          <p:nvPr/>
        </p:nvSpPr>
        <p:spPr>
          <a:xfrm>
            <a:off x="603504" y="1911096"/>
            <a:ext cx="868680" cy="182880"/>
          </a:xfrm>
          <a:prstGeom prst="rect">
            <a:avLst/>
          </a:prstGeom>
          <a:noFill/>
          <a:ln/>
        </p:spPr>
        <p:txBody>
          <a:bodyPr wrap="square" lIns="0" tIns="0" rIns="0" bIns="0" rtlCol="0" anchor="ctr"/>
          <a:lstStyle/>
          <a:p>
            <a:pPr indent="0" marL="0">
              <a:buNone/>
            </a:pPr>
            <a:r>
              <a:rPr lang="en-US" sz="850" spc="120" kern="0" dirty="0">
                <a:solidFill>
                  <a:srgbClr val="6B7482"/>
                </a:solidFill>
                <a:latin typeface="Consolas" pitchFamily="34" charset="0"/>
                <a:ea typeface="Consolas" pitchFamily="34" charset="-122"/>
                <a:cs typeface="Consolas" pitchFamily="34" charset="-120"/>
              </a:rPr>
              <a:t>SCENARIO</a:t>
            </a:r>
            <a:endParaRPr lang="en-US" sz="850" dirty="0"/>
          </a:p>
        </p:txBody>
      </p:sp>
      <p:sp>
        <p:nvSpPr>
          <p:cNvPr id="8" name="Text 6"/>
          <p:cNvSpPr txBox="1"/>
          <p:nvPr/>
        </p:nvSpPr>
        <p:spPr>
          <a:xfrm>
            <a:off x="1481328" y="1901952"/>
            <a:ext cx="10088575" cy="457200"/>
          </a:xfrm>
          <a:prstGeom prst="rect">
            <a:avLst/>
          </a:prstGeom>
          <a:noFill/>
          <a:ln/>
        </p:spPr>
        <p:txBody>
          <a:bodyPr wrap="square" lIns="0" tIns="0" rIns="0" bIns="0" rtlCol="0" anchor="t"/>
          <a:lstStyle/>
          <a:p>
            <a:pPr indent="0" marL="0">
              <a:buNone/>
            </a:pPr>
            <a:r>
              <a:rPr lang="en-US" sz="1100" dirty="0">
                <a:solidFill>
                  <a:srgbClr val="1A1F2B"/>
                </a:solidFill>
              </a:rPr>
              <a:t>A </a:t>
            </a:r>
            <a:pPr indent="0" marL="0">
              <a:buNone/>
            </a:pPr>
            <a:r>
              <a:rPr lang="en-US" sz="1100" b="1" dirty="0">
                <a:solidFill>
                  <a:srgbClr val="1A1F2B"/>
                </a:solidFill>
              </a:rPr>
              <a:t>$300.00</a:t>
            </a:r>
            <a:pPr indent="0" marL="0">
              <a:buNone/>
            </a:pPr>
            <a:r>
              <a:rPr lang="en-US" sz="1100" dirty="0">
                <a:solidFill>
                  <a:srgbClr val="1A1F2B"/>
                </a:solidFill>
              </a:rPr>
              <a:t> order ships in three consignments. One authorization is obtained for $300.00; the merchant captures </a:t>
            </a:r>
            <a:pPr indent="0" marL="0">
              <a:buNone/>
            </a:pPr>
            <a:r>
              <a:rPr lang="en-US" sz="1100" b="1" dirty="0">
                <a:solidFill>
                  <a:srgbClr val="1A1F2B"/>
                </a:solidFill>
              </a:rPr>
              <a:t>$100.00</a:t>
            </a:r>
            <a:pPr indent="0" marL="0">
              <a:buNone/>
            </a:pPr>
            <a:r>
              <a:rPr lang="en-US" sz="1100" dirty="0">
                <a:solidFill>
                  <a:srgbClr val="1A1F2B"/>
                </a:solidFill>
              </a:rPr>
              <a:t>, then </a:t>
            </a:r>
            <a:pPr indent="0" marL="0">
              <a:buNone/>
            </a:pPr>
            <a:r>
              <a:rPr lang="en-US" sz="1100" b="1" dirty="0">
                <a:solidFill>
                  <a:srgbClr val="1A1F2B"/>
                </a:solidFill>
              </a:rPr>
              <a:t>$120.00</a:t>
            </a:r>
            <a:pPr indent="0" marL="0">
              <a:buNone/>
            </a:pPr>
            <a:r>
              <a:rPr lang="en-US" sz="1100" dirty="0">
                <a:solidFill>
                  <a:srgbClr val="1A1F2B"/>
                </a:solidFill>
              </a:rPr>
              <a:t>, then </a:t>
            </a:r>
            <a:pPr indent="0" marL="0">
              <a:buNone/>
            </a:pPr>
            <a:r>
              <a:rPr lang="en-US" sz="1100" b="1" dirty="0">
                <a:solidFill>
                  <a:srgbClr val="1A1F2B"/>
                </a:solidFill>
              </a:rPr>
              <a:t>$80.00</a:t>
            </a:r>
            <a:pPr indent="0" marL="0">
              <a:buNone/>
            </a:pPr>
            <a:r>
              <a:rPr lang="en-US" sz="1100" dirty="0">
                <a:solidFill>
                  <a:srgbClr val="1A1F2B"/>
                </a:solidFill>
              </a:rPr>
              <a:t> as each shipment leaves.</a:t>
            </a:r>
            <a:endParaRPr lang="en-US" sz="1100" dirty="0"/>
          </a:p>
        </p:txBody>
      </p:sp>
      <p:sp>
        <p:nvSpPr>
          <p:cNvPr id="9" name="at-attempt-level"/>
          <p:cNvSpPr/>
          <p:nvPr/>
        </p:nvSpPr>
        <p:spPr>
          <a:xfrm>
            <a:off x="475488" y="2542032"/>
            <a:ext cx="5492344" cy="2048256"/>
          </a:xfrm>
          <a:prstGeom prst="rect">
            <a:avLst/>
          </a:prstGeom>
          <a:solidFill>
            <a:srgbClr val="FBEEEE"/>
          </a:solidFill>
          <a:ln w="6350">
            <a:solidFill>
              <a:srgbClr val="DCD7CB"/>
            </a:solidFill>
            <a:prstDash val="solid"/>
          </a:ln>
        </p:spPr>
      </p:sp>
      <p:sp>
        <p:nvSpPr>
          <p:cNvPr id="10" name="Text 8"/>
          <p:cNvSpPr txBox="1"/>
          <p:nvPr/>
        </p:nvSpPr>
        <p:spPr>
          <a:xfrm>
            <a:off x="621792" y="2633472"/>
            <a:ext cx="5199736" cy="182880"/>
          </a:xfrm>
          <a:prstGeom prst="rect">
            <a:avLst/>
          </a:prstGeom>
          <a:noFill/>
          <a:ln/>
        </p:spPr>
        <p:txBody>
          <a:bodyPr wrap="square" lIns="0" tIns="0" rIns="0" bIns="0" rtlCol="0" anchor="ctr"/>
          <a:lstStyle/>
          <a:p>
            <a:pPr indent="0" marL="0">
              <a:buNone/>
            </a:pPr>
            <a:r>
              <a:rPr lang="en-US" sz="950" spc="150" kern="0" dirty="0">
                <a:solidFill>
                  <a:srgbClr val="9B2C2C"/>
                </a:solidFill>
                <a:latin typeface="Consolas" pitchFamily="34" charset="0"/>
                <a:ea typeface="Consolas" pitchFamily="34" charset="-122"/>
                <a:cs typeface="Consolas" pitchFamily="34" charset="-120"/>
              </a:rPr>
              <a:t>AT ATTEMPT LEVEL</a:t>
            </a:r>
            <a:endParaRPr lang="en-US" sz="950" dirty="0"/>
          </a:p>
        </p:txBody>
      </p:sp>
      <p:sp>
        <p:nvSpPr>
          <p:cNvPr id="11" name="Text 9"/>
          <p:cNvSpPr txBox="1"/>
          <p:nvPr/>
        </p:nvSpPr>
        <p:spPr>
          <a:xfrm>
            <a:off x="621792" y="2852928"/>
            <a:ext cx="5199736" cy="1645920"/>
          </a:xfrm>
          <a:prstGeom prst="rect">
            <a:avLst/>
          </a:prstGeom>
          <a:noFill/>
          <a:ln/>
        </p:spPr>
        <p:txBody>
          <a:bodyPr wrap="square" lIns="0" tIns="0" rIns="0" bIns="0" rtlCol="0" anchor="t"/>
          <a:lstStyle/>
          <a:p>
            <a:pPr marL="177800" indent="-177800">
              <a:spcAft>
                <a:spcPts val="500"/>
              </a:spcAft>
              <a:buSzPct val="100000"/>
              <a:buChar char="•"/>
            </a:pPr>
            <a:r>
              <a:rPr lang="en-US" sz="1050" dirty="0">
                <a:solidFill>
                  <a:srgbClr val="1A1F2B"/>
                </a:solidFill>
              </a:rPr>
              <a:t>Remaining capturable — $300.00, then $200.00, then $80.00, then zero — is recomputed by every consumer in the merchant's estate.</a:t>
            </a:r>
            <a:endParaRPr lang="en-US" sz="1050" dirty="0"/>
          </a:p>
          <a:p>
            <a:pPr marL="177800" indent="-177800">
              <a:spcAft>
                <a:spcPts val="500"/>
              </a:spcAft>
              <a:buSzPct val="100000"/>
              <a:buChar char="•"/>
            </a:pPr>
            <a:r>
              <a:rPr lang="en-US" sz="1050" dirty="0">
                <a:solidFill>
                  <a:srgbClr val="1A1F2B"/>
                </a:solidFill>
              </a:rPr>
              <a:t>Authorization validity windows must be encoded per scheme and watched by a job, because nothing announces an expiry.</a:t>
            </a:r>
            <a:endParaRPr lang="en-US" sz="1050" dirty="0"/>
          </a:p>
          <a:p>
            <a:pPr marL="177800" indent="-177800">
              <a:spcAft>
                <a:spcPts val="500"/>
              </a:spcAft>
              <a:buSzPct val="100000"/>
              <a:buChar char="•"/>
            </a:pPr>
            <a:r>
              <a:rPr lang="en-US" sz="1050" dirty="0">
                <a:solidFill>
                  <a:srgbClr val="1A1F2B"/>
                </a:solidFill>
              </a:rPr>
              <a:t>A refund must target the right capture; targeting the wrong one moves identical cash and </a:t>
            </a:r>
            <a:pPr indent="0" marL="0">
              <a:spcAft>
                <a:spcPts val="500"/>
              </a:spcAft>
              <a:buNone/>
            </a:pPr>
            <a:r>
              <a:rPr lang="en-US" sz="1050" b="1" dirty="0">
                <a:solidFill>
                  <a:srgbClr val="1A1F2B"/>
                </a:solidFill>
              </a:rPr>
              <a:t>corrupts the ledger</a:t>
            </a:r>
            <a:pPr indent="0" marL="0">
              <a:spcAft>
                <a:spcPts val="500"/>
              </a:spcAft>
              <a:buNone/>
            </a:pPr>
            <a:r>
              <a:rPr lang="en-US" sz="1050" dirty="0">
                <a:solidFill>
                  <a:srgbClr val="1A1F2B"/>
                </a:solidFill>
              </a:rPr>
              <a:t>.</a:t>
            </a:r>
            <a:endParaRPr lang="en-US" sz="1050" dirty="0"/>
          </a:p>
          <a:p>
            <a:pPr marL="177800" indent="-177800">
              <a:spcAft>
                <a:spcPts val="500"/>
              </a:spcAft>
              <a:buSzPct val="100000"/>
              <a:buChar char="•"/>
            </a:pPr>
            <a:r>
              <a:rPr lang="en-US" sz="1050" dirty="0">
                <a:solidFill>
                  <a:srgbClr val="1A1F2B"/>
                </a:solidFill>
              </a:rPr>
              <a:t>If capture 2 fails, is the failure definitive or ambiguous? Resubmitting without resolving that risks a double capture.</a:t>
            </a:r>
            <a:endParaRPr lang="en-US" sz="1050" dirty="0"/>
          </a:p>
        </p:txBody>
      </p:sp>
      <p:sp>
        <p:nvSpPr>
          <p:cNvPr id="12" name="with-payment-intent"/>
          <p:cNvSpPr/>
          <p:nvPr/>
        </p:nvSpPr>
        <p:spPr>
          <a:xfrm>
            <a:off x="6223864" y="2542032"/>
            <a:ext cx="5492344" cy="2048256"/>
          </a:xfrm>
          <a:prstGeom prst="rect">
            <a:avLst/>
          </a:prstGeom>
          <a:solidFill>
            <a:srgbClr val="D6E7E4"/>
          </a:solidFill>
          <a:ln w="6350">
            <a:solidFill>
              <a:srgbClr val="DCD7CB"/>
            </a:solidFill>
            <a:prstDash val="solid"/>
          </a:ln>
        </p:spPr>
      </p:sp>
      <p:sp>
        <p:nvSpPr>
          <p:cNvPr id="13" name="Text 11"/>
          <p:cNvSpPr txBox="1"/>
          <p:nvPr/>
        </p:nvSpPr>
        <p:spPr>
          <a:xfrm>
            <a:off x="6370168" y="2633472"/>
            <a:ext cx="5199736" cy="182880"/>
          </a:xfrm>
          <a:prstGeom prst="rect">
            <a:avLst/>
          </a:prstGeom>
          <a:noFill/>
          <a:ln/>
        </p:spPr>
        <p:txBody>
          <a:bodyPr wrap="square" lIns="0" tIns="0" rIns="0" bIns="0" rtlCol="0" anchor="ctr"/>
          <a:lstStyle/>
          <a:p>
            <a:pPr indent="0" marL="0">
              <a:buNone/>
            </a:pPr>
            <a:r>
              <a:rPr lang="en-US" sz="950" spc="150" kern="0" dirty="0">
                <a:solidFill>
                  <a:srgbClr val="26706A"/>
                </a:solidFill>
                <a:latin typeface="Consolas" pitchFamily="34" charset="0"/>
                <a:ea typeface="Consolas" pitchFamily="34" charset="-122"/>
                <a:cs typeface="Consolas" pitchFamily="34" charset="-120"/>
              </a:rPr>
              <a:t>WITH A PAYMENT INTENT</a:t>
            </a:r>
            <a:endParaRPr lang="en-US" sz="950" dirty="0"/>
          </a:p>
        </p:txBody>
      </p:sp>
      <p:sp>
        <p:nvSpPr>
          <p:cNvPr id="14" name="Text 12"/>
          <p:cNvSpPr txBox="1"/>
          <p:nvPr/>
        </p:nvSpPr>
        <p:spPr>
          <a:xfrm>
            <a:off x="6370168" y="2852928"/>
            <a:ext cx="5199736" cy="1645920"/>
          </a:xfrm>
          <a:prstGeom prst="rect">
            <a:avLst/>
          </a:prstGeom>
          <a:noFill/>
          <a:ln/>
        </p:spPr>
        <p:txBody>
          <a:bodyPr wrap="square" lIns="0" tIns="0" rIns="0" bIns="0" rtlCol="0" anchor="t"/>
          <a:lstStyle/>
          <a:p>
            <a:pPr marL="177800" indent="-177800">
              <a:spcAft>
                <a:spcPts val="500"/>
              </a:spcAft>
              <a:buSzPct val="100000"/>
              <a:buChar char="•"/>
            </a:pPr>
            <a:r>
              <a:rPr lang="en-US" sz="1050" dirty="0">
                <a:solidFill>
                  <a:srgbClr val="1A1F2B"/>
                </a:solidFill>
              </a:rPr>
              <a:t>One authorization record holds the approved amount; </a:t>
            </a:r>
            <a:pPr indent="0" marL="0">
              <a:spcAft>
                <a:spcPts val="500"/>
              </a:spcAft>
              <a:buNone/>
            </a:pPr>
            <a:r>
              <a:rPr lang="en-US" sz="1050" b="1" dirty="0">
                <a:solidFill>
                  <a:srgbClr val="1A1F2B"/>
                </a:solidFill>
              </a:rPr>
              <a:t>each capture is its own record</a:t>
            </a:r>
            <a:pPr indent="0" marL="0">
              <a:spcAft>
                <a:spcPts val="500"/>
              </a:spcAft>
              <a:buNone/>
            </a:pPr>
            <a:r>
              <a:rPr lang="en-US" sz="1050" dirty="0">
                <a:solidFill>
                  <a:srgbClr val="1A1F2B"/>
                </a:solidFill>
              </a:rPr>
              <a:t> with amount, idempotency key, status, outcome.</a:t>
            </a:r>
            <a:endParaRPr lang="en-US" sz="1050" dirty="0"/>
          </a:p>
          <a:p>
            <a:pPr marL="177800" indent="-177800">
              <a:spcAft>
                <a:spcPts val="500"/>
              </a:spcAft>
              <a:buSzPct val="100000"/>
              <a:buChar char="•"/>
            </a:pPr>
            <a:r>
              <a:rPr lang="en-US" sz="1050" dirty="0">
                <a:solidFill>
                  <a:srgbClr val="1A1F2B"/>
                </a:solidFill>
              </a:rPr>
              <a:t>The Intent exposes </a:t>
            </a:r>
            <a:pPr indent="0" marL="0">
              <a:spcAft>
                <a:spcPts val="500"/>
              </a:spcAft>
              <a:buNone/>
            </a:pPr>
            <a:r>
              <a:rPr lang="en-US" sz="1000" dirty="0">
                <a:solidFill>
                  <a:srgbClr val="1A1F2B"/>
                </a:solidFill>
                <a:latin typeface="Consolas" pitchFamily="34" charset="0"/>
                <a:ea typeface="Consolas" pitchFamily="34" charset="-122"/>
                <a:cs typeface="Consolas" pitchFamily="34" charset="-120"/>
              </a:rPr>
              <a:t>amount_captured</a:t>
            </a:r>
            <a:pPr indent="0" marL="0">
              <a:spcAft>
                <a:spcPts val="500"/>
              </a:spcAft>
              <a:buNone/>
            </a:pPr>
            <a:r>
              <a:rPr lang="en-US" sz="1050" dirty="0">
                <a:solidFill>
                  <a:srgbClr val="1A1F2B"/>
                </a:solidFill>
              </a:rPr>
              <a:t> and </a:t>
            </a:r>
            <a:pPr indent="0" marL="0">
              <a:spcAft>
                <a:spcPts val="500"/>
              </a:spcAft>
              <a:buNone/>
            </a:pPr>
            <a:r>
              <a:rPr lang="en-US" sz="1000" dirty="0">
                <a:solidFill>
                  <a:srgbClr val="1A1F2B"/>
                </a:solidFill>
                <a:latin typeface="Consolas" pitchFamily="34" charset="0"/>
                <a:ea typeface="Consolas" pitchFamily="34" charset="-122"/>
                <a:cs typeface="Consolas" pitchFamily="34" charset="-120"/>
              </a:rPr>
              <a:t>amount_capturable</a:t>
            </a:r>
            <a:pPr indent="0" marL="0">
              <a:spcAft>
                <a:spcPts val="500"/>
              </a:spcAft>
              <a:buNone/>
            </a:pPr>
            <a:r>
              <a:rPr lang="en-US" sz="1050" dirty="0">
                <a:solidFill>
                  <a:srgbClr val="1A1F2B"/>
                </a:solidFill>
              </a:rPr>
              <a:t> as derived aggregates over those records.</a:t>
            </a:r>
            <a:endParaRPr lang="en-US" sz="1050" dirty="0"/>
          </a:p>
          <a:p>
            <a:pPr marL="177800" indent="-177800">
              <a:spcAft>
                <a:spcPts val="500"/>
              </a:spcAft>
              <a:buSzPct val="100000"/>
              <a:buChar char="•"/>
            </a:pPr>
            <a:r>
              <a:rPr lang="en-US" sz="1050" b="1" dirty="0">
                <a:solidFill>
                  <a:srgbClr val="1A1F2B"/>
                </a:solidFill>
              </a:rPr>
              <a:t>If capture 2 fails the Intent does not revert to unpaid</a:t>
            </a:r>
            <a:pPr indent="0" marL="0">
              <a:spcAft>
                <a:spcPts val="500"/>
              </a:spcAft>
              <a:buNone/>
            </a:pPr>
            <a:r>
              <a:rPr lang="en-US" sz="1050" dirty="0">
                <a:solidFill>
                  <a:srgbClr val="1A1F2B"/>
                </a:solidFill>
              </a:rPr>
              <a:t> and creates no new authorization. It retains the $100.00.</a:t>
            </a:r>
            <a:endParaRPr lang="en-US" sz="1050" dirty="0"/>
          </a:p>
          <a:p>
            <a:pPr marL="177800" indent="-177800">
              <a:spcAft>
                <a:spcPts val="500"/>
              </a:spcAft>
              <a:buSzPct val="100000"/>
              <a:buChar char="•"/>
            </a:pPr>
            <a:r>
              <a:rPr lang="en-US" sz="1050" dirty="0">
                <a:solidFill>
                  <a:srgbClr val="1A1F2B"/>
                </a:solidFill>
              </a:rPr>
              <a:t>Aggregate captures are validated against the remaining authorized balance, so they can never exceed it.</a:t>
            </a:r>
            <a:endParaRPr lang="en-US" sz="1050" dirty="0"/>
          </a:p>
        </p:txBody>
      </p:sp>
      <p:sp>
        <p:nvSpPr>
          <p:cNvPr id="15" name="owns-0"/>
          <p:cNvSpPr/>
          <p:nvPr/>
        </p:nvSpPr>
        <p:spPr>
          <a:xfrm>
            <a:off x="475488" y="4700016"/>
            <a:ext cx="3637178" cy="731520"/>
          </a:xfrm>
          <a:prstGeom prst="rect">
            <a:avLst/>
          </a:prstGeom>
          <a:solidFill>
            <a:srgbClr val="FBFAF7"/>
          </a:solidFill>
          <a:ln w="6350">
            <a:solidFill>
              <a:srgbClr val="DCD7CB"/>
            </a:solidFill>
            <a:prstDash val="solid"/>
          </a:ln>
        </p:spPr>
      </p:sp>
      <p:sp>
        <p:nvSpPr>
          <p:cNvPr id="16" name="Text 14"/>
          <p:cNvSpPr txBox="1"/>
          <p:nvPr/>
        </p:nvSpPr>
        <p:spPr>
          <a:xfrm>
            <a:off x="594360" y="4773168"/>
            <a:ext cx="3399434" cy="173736"/>
          </a:xfrm>
          <a:prstGeom prst="rect">
            <a:avLst/>
          </a:prstGeom>
          <a:noFill/>
          <a:ln/>
        </p:spPr>
        <p:txBody>
          <a:bodyPr wrap="square" lIns="0" tIns="0" rIns="0" bIns="0" rtlCol="0" anchor="ctr"/>
          <a:lstStyle/>
          <a:p>
            <a:pPr indent="0" marL="0">
              <a:buNone/>
            </a:pPr>
            <a:r>
              <a:rPr lang="en-US" sz="850" spc="120" kern="0" dirty="0">
                <a:solidFill>
                  <a:srgbClr val="B8892F"/>
                </a:solidFill>
                <a:latin typeface="Consolas" pitchFamily="34" charset="0"/>
                <a:ea typeface="Consolas" pitchFamily="34" charset="-122"/>
                <a:cs typeface="Consolas" pitchFamily="34" charset="-120"/>
              </a:rPr>
              <a:t>PAYMENT INTENT OWNS</a:t>
            </a:r>
            <a:endParaRPr lang="en-US" sz="850" dirty="0"/>
          </a:p>
        </p:txBody>
      </p:sp>
      <p:sp>
        <p:nvSpPr>
          <p:cNvPr id="17" name="Text 15"/>
          <p:cNvSpPr txBox="1"/>
          <p:nvPr/>
        </p:nvSpPr>
        <p:spPr>
          <a:xfrm>
            <a:off x="594360" y="4965192"/>
            <a:ext cx="3399434" cy="393192"/>
          </a:xfrm>
          <a:prstGeom prst="rect">
            <a:avLst/>
          </a:prstGeom>
          <a:noFill/>
          <a:ln/>
        </p:spPr>
        <p:txBody>
          <a:bodyPr wrap="square" lIns="0" tIns="0" rIns="0" bIns="0" rtlCol="0" anchor="t"/>
          <a:lstStyle/>
          <a:p>
            <a:pPr indent="0" marL="0">
              <a:buNone/>
            </a:pPr>
            <a:r>
              <a:rPr lang="en-US" sz="1000" dirty="0">
                <a:solidFill>
                  <a:srgbClr val="1A1F2B"/>
                </a:solidFill>
              </a:rPr>
              <a:t>The aggregate collection lifecycle and the derived captured and capturable balances.</a:t>
            </a:r>
            <a:endParaRPr lang="en-US" sz="1000" dirty="0"/>
          </a:p>
        </p:txBody>
      </p:sp>
      <p:sp>
        <p:nvSpPr>
          <p:cNvPr id="18" name="owns-1"/>
          <p:cNvSpPr/>
          <p:nvPr/>
        </p:nvSpPr>
        <p:spPr>
          <a:xfrm>
            <a:off x="4277258" y="4700016"/>
            <a:ext cx="3637178" cy="731520"/>
          </a:xfrm>
          <a:prstGeom prst="rect">
            <a:avLst/>
          </a:prstGeom>
          <a:solidFill>
            <a:srgbClr val="FBFAF7"/>
          </a:solidFill>
          <a:ln w="6350">
            <a:solidFill>
              <a:srgbClr val="DCD7CB"/>
            </a:solidFill>
            <a:prstDash val="solid"/>
          </a:ln>
        </p:spPr>
      </p:sp>
      <p:sp>
        <p:nvSpPr>
          <p:cNvPr id="19" name="Text 17"/>
          <p:cNvSpPr txBox="1"/>
          <p:nvPr/>
        </p:nvSpPr>
        <p:spPr>
          <a:xfrm>
            <a:off x="4396130" y="4773168"/>
            <a:ext cx="3399434" cy="173736"/>
          </a:xfrm>
          <a:prstGeom prst="rect">
            <a:avLst/>
          </a:prstGeom>
          <a:noFill/>
          <a:ln/>
        </p:spPr>
        <p:txBody>
          <a:bodyPr wrap="square" lIns="0" tIns="0" rIns="0" bIns="0" rtlCol="0" anchor="ctr"/>
          <a:lstStyle/>
          <a:p>
            <a:pPr indent="0" marL="0">
              <a:buNone/>
            </a:pPr>
            <a:r>
              <a:rPr lang="en-US" sz="850" spc="120" kern="0" dirty="0">
                <a:solidFill>
                  <a:srgbClr val="B8892F"/>
                </a:solidFill>
                <a:latin typeface="Consolas" pitchFamily="34" charset="0"/>
                <a:ea typeface="Consolas" pitchFamily="34" charset="-122"/>
                <a:cs typeface="Consolas" pitchFamily="34" charset="-120"/>
              </a:rPr>
              <a:t>AUTHORIZATION RECORD OWNS</a:t>
            </a:r>
            <a:endParaRPr lang="en-US" sz="850" dirty="0"/>
          </a:p>
        </p:txBody>
      </p:sp>
      <p:sp>
        <p:nvSpPr>
          <p:cNvPr id="20" name="Text 18"/>
          <p:cNvSpPr txBox="1"/>
          <p:nvPr/>
        </p:nvSpPr>
        <p:spPr>
          <a:xfrm>
            <a:off x="4396130" y="4965192"/>
            <a:ext cx="3399434" cy="393192"/>
          </a:xfrm>
          <a:prstGeom prst="rect">
            <a:avLst/>
          </a:prstGeom>
          <a:noFill/>
          <a:ln/>
        </p:spPr>
        <p:txBody>
          <a:bodyPr wrap="square" lIns="0" tIns="0" rIns="0" bIns="0" rtlCol="0" anchor="t"/>
          <a:lstStyle/>
          <a:p>
            <a:pPr indent="0" marL="0">
              <a:buNone/>
            </a:pPr>
            <a:r>
              <a:rPr lang="en-US" sz="1000" dirty="0">
                <a:solidFill>
                  <a:srgbClr val="1A1F2B"/>
                </a:solidFill>
              </a:rPr>
              <a:t>Approved amount, rail and processor reference, expiry, reversal status.</a:t>
            </a:r>
            <a:endParaRPr lang="en-US" sz="1000" dirty="0"/>
          </a:p>
        </p:txBody>
      </p:sp>
      <p:sp>
        <p:nvSpPr>
          <p:cNvPr id="21" name="owns-2"/>
          <p:cNvSpPr/>
          <p:nvPr/>
        </p:nvSpPr>
        <p:spPr>
          <a:xfrm>
            <a:off x="8079029" y="4700016"/>
            <a:ext cx="3637178" cy="731520"/>
          </a:xfrm>
          <a:prstGeom prst="rect">
            <a:avLst/>
          </a:prstGeom>
          <a:solidFill>
            <a:srgbClr val="FBFAF7"/>
          </a:solidFill>
          <a:ln w="6350">
            <a:solidFill>
              <a:srgbClr val="DCD7CB"/>
            </a:solidFill>
            <a:prstDash val="solid"/>
          </a:ln>
        </p:spPr>
      </p:sp>
      <p:sp>
        <p:nvSpPr>
          <p:cNvPr id="22" name="Text 20"/>
          <p:cNvSpPr txBox="1"/>
          <p:nvPr/>
        </p:nvSpPr>
        <p:spPr>
          <a:xfrm>
            <a:off x="8197901" y="4773168"/>
            <a:ext cx="3399434" cy="173736"/>
          </a:xfrm>
          <a:prstGeom prst="rect">
            <a:avLst/>
          </a:prstGeom>
          <a:noFill/>
          <a:ln/>
        </p:spPr>
        <p:txBody>
          <a:bodyPr wrap="square" lIns="0" tIns="0" rIns="0" bIns="0" rtlCol="0" anchor="ctr"/>
          <a:lstStyle/>
          <a:p>
            <a:pPr indent="0" marL="0">
              <a:buNone/>
            </a:pPr>
            <a:r>
              <a:rPr lang="en-US" sz="850" spc="120" kern="0" dirty="0">
                <a:solidFill>
                  <a:srgbClr val="B8892F"/>
                </a:solidFill>
                <a:latin typeface="Consolas" pitchFamily="34" charset="0"/>
                <a:ea typeface="Consolas" pitchFamily="34" charset="-122"/>
                <a:cs typeface="Consolas" pitchFamily="34" charset="-120"/>
              </a:rPr>
              <a:t>CAPTURE RECORD OWNS</a:t>
            </a:r>
            <a:endParaRPr lang="en-US" sz="850" dirty="0"/>
          </a:p>
        </p:txBody>
      </p:sp>
      <p:sp>
        <p:nvSpPr>
          <p:cNvPr id="23" name="Text 21"/>
          <p:cNvSpPr txBox="1"/>
          <p:nvPr/>
        </p:nvSpPr>
        <p:spPr>
          <a:xfrm>
            <a:off x="8197901" y="4965192"/>
            <a:ext cx="3399434" cy="393192"/>
          </a:xfrm>
          <a:prstGeom prst="rect">
            <a:avLst/>
          </a:prstGeom>
          <a:noFill/>
          <a:ln/>
        </p:spPr>
        <p:txBody>
          <a:bodyPr wrap="square" lIns="0" tIns="0" rIns="0" bIns="0" rtlCol="0" anchor="t"/>
          <a:lstStyle/>
          <a:p>
            <a:pPr indent="0" marL="0">
              <a:buNone/>
            </a:pPr>
            <a:r>
              <a:rPr lang="en-US" sz="1000" dirty="0">
                <a:solidFill>
                  <a:srgbClr val="1A1F2B"/>
                </a:solidFill>
              </a:rPr>
              <a:t>Each requested amount, idempotency key, shipment reference, submission status and final outcome.</a:t>
            </a:r>
            <a:endParaRPr lang="en-US" sz="1000" dirty="0"/>
          </a:p>
        </p:txBody>
      </p:sp>
      <p:sp>
        <p:nvSpPr>
          <p:cNvPr id="24" name="takeaway"/>
          <p:cNvSpPr/>
          <p:nvPr/>
        </p:nvSpPr>
        <p:spPr>
          <a:xfrm>
            <a:off x="475488" y="5541264"/>
            <a:ext cx="11240719" cy="768096"/>
          </a:xfrm>
          <a:prstGeom prst="rect">
            <a:avLst/>
          </a:prstGeom>
          <a:solidFill>
            <a:srgbClr val="0F1A2B"/>
          </a:solidFill>
          <a:ln w="12700">
            <a:solidFill>
              <a:srgbClr val="333333"/>
            </a:solidFill>
            <a:prstDash val="solid"/>
          </a:ln>
        </p:spPr>
      </p:sp>
      <p:sp>
        <p:nvSpPr>
          <p:cNvPr id="25" name="Text 23"/>
          <p:cNvSpPr txBox="1"/>
          <p:nvPr/>
        </p:nvSpPr>
        <p:spPr>
          <a:xfrm>
            <a:off x="640080" y="5623560"/>
            <a:ext cx="10911535" cy="182880"/>
          </a:xfrm>
          <a:prstGeom prst="rect">
            <a:avLst/>
          </a:prstGeom>
          <a:noFill/>
          <a:ln/>
        </p:spPr>
        <p:txBody>
          <a:bodyPr wrap="square" lIns="0" tIns="0" rIns="0" bIns="0" rtlCol="0" anchor="ctr"/>
          <a:lstStyle/>
          <a:p>
            <a:pPr indent="0" marL="0">
              <a:buNone/>
            </a:pPr>
            <a:r>
              <a:rPr lang="en-US" sz="900" spc="160" kern="0" dirty="0">
                <a:solidFill>
                  <a:srgbClr val="D9A03C"/>
                </a:solidFill>
                <a:latin typeface="Consolas" pitchFamily="34" charset="0"/>
                <a:ea typeface="Consolas" pitchFamily="34" charset="-122"/>
                <a:cs typeface="Consolas" pitchFamily="34" charset="-120"/>
              </a:rPr>
              <a:t>TAKEAWAY</a:t>
            </a:r>
            <a:endParaRPr lang="en-US" sz="900" dirty="0"/>
          </a:p>
        </p:txBody>
      </p:sp>
      <p:sp>
        <p:nvSpPr>
          <p:cNvPr id="26" name="Text 24"/>
          <p:cNvSpPr txBox="1"/>
          <p:nvPr/>
        </p:nvSpPr>
        <p:spPr>
          <a:xfrm>
            <a:off x="640080" y="5815584"/>
            <a:ext cx="10911535" cy="438912"/>
          </a:xfrm>
          <a:prstGeom prst="rect">
            <a:avLst/>
          </a:prstGeom>
          <a:noFill/>
          <a:ln/>
        </p:spPr>
        <p:txBody>
          <a:bodyPr wrap="square" lIns="0" tIns="0" rIns="0" bIns="0" rtlCol="0" anchor="t"/>
          <a:lstStyle/>
          <a:p>
            <a:pPr indent="0" marL="0">
              <a:buNone/>
            </a:pPr>
            <a:r>
              <a:rPr lang="en-US" sz="1150" dirty="0">
                <a:solidFill>
                  <a:srgbClr val="F2EEE4"/>
                </a:solidFill>
              </a:rPr>
              <a:t>Modelling each capture as an attempt confuses authorization with capture, authorization amount with captured amount, payment failure with capture failure, retry policy with operation retry, and authorization references with capture references. </a:t>
            </a:r>
            <a:pPr indent="0" marL="0">
              <a:buNone/>
            </a:pPr>
            <a:r>
              <a:rPr lang="en-US" sz="1150" b="1" dirty="0">
                <a:solidFill>
                  <a:srgbClr val="E8D9B4"/>
                </a:solidFill>
              </a:rPr>
              <a:t>Five collisions, one bad decision.</a:t>
            </a:r>
            <a:endParaRPr lang="en-US" sz="1150" dirty="0"/>
          </a:p>
        </p:txBody>
      </p:sp>
      <p:sp>
        <p:nvSpPr>
          <p:cNvPr id="25" name="Slide Number Placeholder 0"/>
          <p:cNvSpPr>
            <a:spLocks noGrp="1"/>
          </p:cNvSpPr>
          <p:nvPr>
            <p:ph type="sldNum" sz="quarter" idx="4294967295"/>
          </p:nvPr>
        </p:nvSpPr>
        <p:spPr>
          <a:xfrm>
            <a:off x="11430000" y="6419088"/>
            <a:ext cx="36576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9AA2AE"/>
                </a:solidFill>
                <a:latin typeface="Consolas"/>
                <a:ea typeface="Consolas"/>
                <a:cs typeface="Consolas"/>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475488" y="310896"/>
            <a:ext cx="11240719" cy="219456"/>
          </a:xfrm>
          <a:prstGeom prst="rect">
            <a:avLst/>
          </a:prstGeom>
          <a:noFill/>
          <a:ln/>
        </p:spPr>
        <p:txBody>
          <a:bodyPr wrap="square" lIns="0" tIns="0" rIns="0" bIns="0" rtlCol="0" anchor="ctr"/>
          <a:lstStyle/>
          <a:p>
            <a:pPr indent="0" marL="0">
              <a:buNone/>
            </a:pPr>
            <a:r>
              <a:rPr lang="en-US" sz="1050" spc="240" kern="0" dirty="0">
                <a:solidFill>
                  <a:srgbClr val="B8892F"/>
                </a:solidFill>
                <a:latin typeface="Consolas" pitchFamily="34" charset="0"/>
                <a:ea typeface="Consolas" pitchFamily="34" charset="-122"/>
                <a:cs typeface="Consolas" pitchFamily="34" charset="-120"/>
              </a:rPr>
              <a:t>USE CASE 05  ·  OUTCOME RESOLUTION</a:t>
            </a:r>
            <a:endParaRPr lang="en-US" sz="1050" dirty="0"/>
          </a:p>
        </p:txBody>
      </p:sp>
      <p:sp>
        <p:nvSpPr>
          <p:cNvPr id="3" name="Text 1"/>
          <p:cNvSpPr txBox="1"/>
          <p:nvPr/>
        </p:nvSpPr>
        <p:spPr>
          <a:xfrm>
            <a:off x="475488" y="548640"/>
            <a:ext cx="11240719" cy="566928"/>
          </a:xfrm>
          <a:prstGeom prst="rect">
            <a:avLst/>
          </a:prstGeom>
          <a:noFill/>
          <a:ln/>
        </p:spPr>
        <p:txBody>
          <a:bodyPr wrap="square" lIns="0" tIns="0" rIns="0" bIns="0" rtlCol="0" anchor="t"/>
          <a:lstStyle/>
          <a:p>
            <a:pPr indent="0" marL="0">
              <a:buNone/>
            </a:pPr>
            <a:r>
              <a:rPr lang="en-US" sz="3000" b="1" dirty="0">
                <a:solidFill>
                  <a:srgbClr val="0F1A2B"/>
                </a:solidFill>
                <a:latin typeface="Cambria" pitchFamily="34" charset="0"/>
                <a:ea typeface="Cambria" pitchFamily="34" charset="-122"/>
                <a:cs typeface="Cambria" pitchFamily="34" charset="-120"/>
              </a:rPr>
              <a:t>Authorization timeout and duplicate prevention</a:t>
            </a:r>
            <a:endParaRPr lang="en-US" sz="3000" dirty="0"/>
          </a:p>
        </p:txBody>
      </p:sp>
      <p:sp>
        <p:nvSpPr>
          <p:cNvPr id="4" name="Text 2"/>
          <p:cNvSpPr txBox="1"/>
          <p:nvPr/>
        </p:nvSpPr>
        <p:spPr>
          <a:xfrm>
            <a:off x="475488" y="1188720"/>
            <a:ext cx="11240719" cy="475488"/>
          </a:xfrm>
          <a:prstGeom prst="rect">
            <a:avLst/>
          </a:prstGeom>
          <a:noFill/>
          <a:ln/>
        </p:spPr>
        <p:txBody>
          <a:bodyPr wrap="square" lIns="0" tIns="0" rIns="0" bIns="0" rtlCol="0" anchor="t"/>
          <a:lstStyle/>
          <a:p>
            <a:pPr indent="0" marL="0">
              <a:buNone/>
            </a:pPr>
            <a:r>
              <a:rPr lang="en-US" sz="1250" dirty="0">
                <a:solidFill>
                  <a:srgbClr val="414A5C"/>
                </a:solidFill>
              </a:rPr>
              <a:t>A timeout is a transport observation, not a financial outcome. Treating it as a decline is how customers end up holding two authorizations.</a:t>
            </a:r>
            <a:endParaRPr lang="en-US" sz="1250" dirty="0"/>
          </a:p>
        </p:txBody>
      </p:sp>
      <p:sp>
        <p:nvSpPr>
          <p:cNvPr id="5" name="Shape 3"/>
          <p:cNvSpPr/>
          <p:nvPr/>
        </p:nvSpPr>
        <p:spPr>
          <a:xfrm>
            <a:off x="475488" y="1737360"/>
            <a:ext cx="11240719" cy="22860"/>
          </a:xfrm>
          <a:prstGeom prst="rect">
            <a:avLst/>
          </a:prstGeom>
          <a:solidFill>
            <a:srgbClr val="B8892F"/>
          </a:solidFill>
          <a:ln w="12700">
            <a:solidFill>
              <a:srgbClr val="B8892F"/>
            </a:solidFill>
            <a:prstDash val="solid"/>
          </a:ln>
        </p:spPr>
      </p:sp>
      <p:sp>
        <p:nvSpPr>
          <p:cNvPr id="6" name="scenario"/>
          <p:cNvSpPr/>
          <p:nvPr/>
        </p:nvSpPr>
        <p:spPr>
          <a:xfrm>
            <a:off x="475488" y="1847088"/>
            <a:ext cx="11240719" cy="566928"/>
          </a:xfrm>
          <a:prstGeom prst="rect">
            <a:avLst/>
          </a:prstGeom>
          <a:solidFill>
            <a:srgbClr val="F4F5F7"/>
          </a:solidFill>
          <a:ln w="6350">
            <a:solidFill>
              <a:srgbClr val="DCD7CB"/>
            </a:solidFill>
            <a:prstDash val="solid"/>
          </a:ln>
        </p:spPr>
      </p:sp>
      <p:sp>
        <p:nvSpPr>
          <p:cNvPr id="7" name="Text 5"/>
          <p:cNvSpPr txBox="1"/>
          <p:nvPr/>
        </p:nvSpPr>
        <p:spPr>
          <a:xfrm>
            <a:off x="603504" y="1911096"/>
            <a:ext cx="868680" cy="182880"/>
          </a:xfrm>
          <a:prstGeom prst="rect">
            <a:avLst/>
          </a:prstGeom>
          <a:noFill/>
          <a:ln/>
        </p:spPr>
        <p:txBody>
          <a:bodyPr wrap="square" lIns="0" tIns="0" rIns="0" bIns="0" rtlCol="0" anchor="ctr"/>
          <a:lstStyle/>
          <a:p>
            <a:pPr indent="0" marL="0">
              <a:buNone/>
            </a:pPr>
            <a:r>
              <a:rPr lang="en-US" sz="850" spc="120" kern="0" dirty="0">
                <a:solidFill>
                  <a:srgbClr val="6B7482"/>
                </a:solidFill>
                <a:latin typeface="Consolas" pitchFamily="34" charset="0"/>
                <a:ea typeface="Consolas" pitchFamily="34" charset="-122"/>
                <a:cs typeface="Consolas" pitchFamily="34" charset="-120"/>
              </a:rPr>
              <a:t>SCENARIO</a:t>
            </a:r>
            <a:endParaRPr lang="en-US" sz="850" dirty="0"/>
          </a:p>
        </p:txBody>
      </p:sp>
      <p:sp>
        <p:nvSpPr>
          <p:cNvPr id="8" name="Text 6"/>
          <p:cNvSpPr txBox="1"/>
          <p:nvPr/>
        </p:nvSpPr>
        <p:spPr>
          <a:xfrm>
            <a:off x="1481328" y="1901952"/>
            <a:ext cx="10088575" cy="457200"/>
          </a:xfrm>
          <a:prstGeom prst="rect">
            <a:avLst/>
          </a:prstGeom>
          <a:noFill/>
          <a:ln/>
        </p:spPr>
        <p:txBody>
          <a:bodyPr wrap="square" lIns="0" tIns="0" rIns="0" bIns="0" rtlCol="0" anchor="t"/>
          <a:lstStyle/>
          <a:p>
            <a:pPr indent="0" marL="0">
              <a:buNone/>
            </a:pPr>
            <a:r>
              <a:rPr lang="en-US" sz="1100" dirty="0">
                <a:solidFill>
                  <a:srgbClr val="1A1F2B"/>
                </a:solidFill>
              </a:rPr>
              <a:t>A </a:t>
            </a:r>
            <a:pPr indent="0" marL="0">
              <a:buNone/>
            </a:pPr>
            <a:r>
              <a:rPr lang="en-US" sz="1100" b="1" dirty="0">
                <a:solidFill>
                  <a:srgbClr val="1A1F2B"/>
                </a:solidFill>
              </a:rPr>
              <a:t>$75.00</a:t>
            </a:r>
            <a:pPr indent="0" marL="0">
              <a:buNone/>
            </a:pPr>
            <a:r>
              <a:rPr lang="en-US" sz="1100" dirty="0">
                <a:solidFill>
                  <a:srgbClr val="1A1F2B"/>
                </a:solidFill>
              </a:rPr>
              <a:t> authorization is submitted on rail A. The request times out before any definitive response arrives. Rail A may or may not have authorized it. A naive platform retries on an alternate rail and the customer is left holding </a:t>
            </a:r>
            <a:pPr indent="0" marL="0">
              <a:buNone/>
            </a:pPr>
            <a:r>
              <a:rPr lang="en-US" sz="1100" b="1" dirty="0">
                <a:solidFill>
                  <a:srgbClr val="1A1F2B"/>
                </a:solidFill>
              </a:rPr>
              <a:t>$150.00</a:t>
            </a:r>
            <a:pPr indent="0" marL="0">
              <a:buNone/>
            </a:pPr>
            <a:r>
              <a:rPr lang="en-US" sz="1100" dirty="0">
                <a:solidFill>
                  <a:srgbClr val="1A1F2B"/>
                </a:solidFill>
              </a:rPr>
              <a:t> in authorizations.</a:t>
            </a:r>
            <a:endParaRPr lang="en-US" sz="1100" dirty="0"/>
          </a:p>
        </p:txBody>
      </p:sp>
      <p:sp>
        <p:nvSpPr>
          <p:cNvPr id="9" name="at-attempt-level"/>
          <p:cNvSpPr/>
          <p:nvPr/>
        </p:nvSpPr>
        <p:spPr>
          <a:xfrm>
            <a:off x="475488" y="2542032"/>
            <a:ext cx="5492344" cy="2048256"/>
          </a:xfrm>
          <a:prstGeom prst="rect">
            <a:avLst/>
          </a:prstGeom>
          <a:solidFill>
            <a:srgbClr val="FBEEEE"/>
          </a:solidFill>
          <a:ln w="6350">
            <a:solidFill>
              <a:srgbClr val="DCD7CB"/>
            </a:solidFill>
            <a:prstDash val="solid"/>
          </a:ln>
        </p:spPr>
      </p:sp>
      <p:sp>
        <p:nvSpPr>
          <p:cNvPr id="10" name="Text 8"/>
          <p:cNvSpPr txBox="1"/>
          <p:nvPr/>
        </p:nvSpPr>
        <p:spPr>
          <a:xfrm>
            <a:off x="621792" y="2633472"/>
            <a:ext cx="5199736" cy="182880"/>
          </a:xfrm>
          <a:prstGeom prst="rect">
            <a:avLst/>
          </a:prstGeom>
          <a:noFill/>
          <a:ln/>
        </p:spPr>
        <p:txBody>
          <a:bodyPr wrap="square" lIns="0" tIns="0" rIns="0" bIns="0" rtlCol="0" anchor="ctr"/>
          <a:lstStyle/>
          <a:p>
            <a:pPr indent="0" marL="0">
              <a:buNone/>
            </a:pPr>
            <a:r>
              <a:rPr lang="en-US" sz="950" spc="150" kern="0" dirty="0">
                <a:solidFill>
                  <a:srgbClr val="9B2C2C"/>
                </a:solidFill>
                <a:latin typeface="Consolas" pitchFamily="34" charset="0"/>
                <a:ea typeface="Consolas" pitchFamily="34" charset="-122"/>
                <a:cs typeface="Consolas" pitchFamily="34" charset="-120"/>
              </a:rPr>
              <a:t>AT ATTEMPT LEVEL</a:t>
            </a:r>
            <a:endParaRPr lang="en-US" sz="950" dirty="0"/>
          </a:p>
        </p:txBody>
      </p:sp>
      <p:sp>
        <p:nvSpPr>
          <p:cNvPr id="11" name="Text 9"/>
          <p:cNvSpPr txBox="1"/>
          <p:nvPr/>
        </p:nvSpPr>
        <p:spPr>
          <a:xfrm>
            <a:off x="621792" y="2852928"/>
            <a:ext cx="5199736" cy="1645920"/>
          </a:xfrm>
          <a:prstGeom prst="rect">
            <a:avLst/>
          </a:prstGeom>
          <a:noFill/>
          <a:ln/>
        </p:spPr>
        <p:txBody>
          <a:bodyPr wrap="square" lIns="0" tIns="0" rIns="0" bIns="0" rtlCol="0" anchor="t"/>
          <a:lstStyle/>
          <a:p>
            <a:pPr marL="177800" indent="-177800">
              <a:spcAft>
                <a:spcPts val="500"/>
              </a:spcAft>
              <a:buSzPct val="100000"/>
              <a:buChar char="•"/>
            </a:pPr>
            <a:r>
              <a:rPr lang="en-US" sz="1050" dirty="0">
                <a:solidFill>
                  <a:srgbClr val="1A1F2B"/>
                </a:solidFill>
              </a:rPr>
              <a:t>The identifier is minted </a:t>
            </a:r>
            <a:pPr indent="0" marL="0">
              <a:spcAft>
                <a:spcPts val="500"/>
              </a:spcAft>
              <a:buNone/>
            </a:pPr>
            <a:r>
              <a:rPr lang="en-US" sz="1050" i="1" dirty="0">
                <a:solidFill>
                  <a:srgbClr val="1A1F2B"/>
                </a:solidFill>
              </a:rPr>
              <a:t>in the response</a:t>
            </a:r>
            <a:pPr indent="0" marL="0">
              <a:spcAft>
                <a:spcPts val="500"/>
              </a:spcAft>
              <a:buNone/>
            </a:pPr>
            <a:r>
              <a:rPr lang="en-US" sz="1050" dirty="0">
                <a:solidFill>
                  <a:srgbClr val="1A1F2B"/>
                </a:solidFill>
              </a:rPr>
              <a:t>, so there is no handle to the work that may have just occurred.</a:t>
            </a:r>
            <a:endParaRPr lang="en-US" sz="1050" dirty="0"/>
          </a:p>
          <a:p>
            <a:pPr marL="177800" indent="-177800">
              <a:spcAft>
                <a:spcPts val="500"/>
              </a:spcAft>
              <a:buSzPct val="100000"/>
              <a:buChar char="•"/>
            </a:pPr>
            <a:r>
              <a:rPr lang="en-US" sz="1050" dirty="0">
                <a:solidFill>
                  <a:srgbClr val="1A1F2B"/>
                </a:solidFill>
              </a:rPr>
              <a:t>Every available move is a guess: retry and risk a duplicate, abandon and risk a live hold on the customer's card.</a:t>
            </a:r>
            <a:endParaRPr lang="en-US" sz="1050" dirty="0"/>
          </a:p>
          <a:p>
            <a:pPr marL="177800" indent="-177800">
              <a:spcAft>
                <a:spcPts val="500"/>
              </a:spcAft>
              <a:buSzPct val="100000"/>
              <a:buChar char="•"/>
            </a:pPr>
            <a:r>
              <a:rPr lang="en-US" sz="1050" dirty="0">
                <a:solidFill>
                  <a:srgbClr val="1A1F2B"/>
                </a:solidFill>
              </a:rPr>
              <a:t>There is nowhere to express “unknown” — every request must be forced into success or failure.</a:t>
            </a:r>
            <a:endParaRPr lang="en-US" sz="1050" dirty="0"/>
          </a:p>
          <a:p>
            <a:pPr marL="177800" indent="-177800">
              <a:spcAft>
                <a:spcPts val="500"/>
              </a:spcAft>
              <a:buSzPct val="100000"/>
              <a:buChar char="•"/>
            </a:pPr>
            <a:r>
              <a:rPr lang="en-US" sz="1050" dirty="0">
                <a:solidFill>
                  <a:srgbClr val="1A1F2B"/>
                </a:solidFill>
              </a:rPr>
              <a:t>A hold the merchant cannot see is a hold they cannot release, and the customer calls support about both.</a:t>
            </a:r>
            <a:endParaRPr lang="en-US" sz="1050" dirty="0"/>
          </a:p>
        </p:txBody>
      </p:sp>
      <p:sp>
        <p:nvSpPr>
          <p:cNvPr id="12" name="with-payment-intent"/>
          <p:cNvSpPr/>
          <p:nvPr/>
        </p:nvSpPr>
        <p:spPr>
          <a:xfrm>
            <a:off x="6223864" y="2542032"/>
            <a:ext cx="5492344" cy="2048256"/>
          </a:xfrm>
          <a:prstGeom prst="rect">
            <a:avLst/>
          </a:prstGeom>
          <a:solidFill>
            <a:srgbClr val="D6E7E4"/>
          </a:solidFill>
          <a:ln w="6350">
            <a:solidFill>
              <a:srgbClr val="DCD7CB"/>
            </a:solidFill>
            <a:prstDash val="solid"/>
          </a:ln>
        </p:spPr>
      </p:sp>
      <p:sp>
        <p:nvSpPr>
          <p:cNvPr id="13" name="Text 11"/>
          <p:cNvSpPr txBox="1"/>
          <p:nvPr/>
        </p:nvSpPr>
        <p:spPr>
          <a:xfrm>
            <a:off x="6370168" y="2633472"/>
            <a:ext cx="5199736" cy="182880"/>
          </a:xfrm>
          <a:prstGeom prst="rect">
            <a:avLst/>
          </a:prstGeom>
          <a:noFill/>
          <a:ln/>
        </p:spPr>
        <p:txBody>
          <a:bodyPr wrap="square" lIns="0" tIns="0" rIns="0" bIns="0" rtlCol="0" anchor="ctr"/>
          <a:lstStyle/>
          <a:p>
            <a:pPr indent="0" marL="0">
              <a:buNone/>
            </a:pPr>
            <a:r>
              <a:rPr lang="en-US" sz="950" spc="150" kern="0" dirty="0">
                <a:solidFill>
                  <a:srgbClr val="26706A"/>
                </a:solidFill>
                <a:latin typeface="Consolas" pitchFamily="34" charset="0"/>
                <a:ea typeface="Consolas" pitchFamily="34" charset="-122"/>
                <a:cs typeface="Consolas" pitchFamily="34" charset="-120"/>
              </a:rPr>
              <a:t>WITH A PAYMENT INTENT</a:t>
            </a:r>
            <a:endParaRPr lang="en-US" sz="950" dirty="0"/>
          </a:p>
        </p:txBody>
      </p:sp>
      <p:sp>
        <p:nvSpPr>
          <p:cNvPr id="14" name="Text 12"/>
          <p:cNvSpPr txBox="1"/>
          <p:nvPr/>
        </p:nvSpPr>
        <p:spPr>
          <a:xfrm>
            <a:off x="6370168" y="2852928"/>
            <a:ext cx="5199736" cy="1645920"/>
          </a:xfrm>
          <a:prstGeom prst="rect">
            <a:avLst/>
          </a:prstGeom>
          <a:noFill/>
          <a:ln/>
        </p:spPr>
        <p:txBody>
          <a:bodyPr wrap="square" lIns="0" tIns="0" rIns="0" bIns="0" rtlCol="0" anchor="t"/>
          <a:lstStyle/>
          <a:p>
            <a:pPr marL="177800" indent="-177800">
              <a:spcAft>
                <a:spcPts val="500"/>
              </a:spcAft>
              <a:buSzPct val="100000"/>
              <a:buChar char="•"/>
            </a:pPr>
            <a:r>
              <a:rPr lang="en-US" sz="1050" dirty="0">
                <a:solidFill>
                  <a:srgbClr val="1A1F2B"/>
                </a:solidFill>
              </a:rPr>
              <a:t>The Intent is created </a:t>
            </a:r>
            <a:pPr indent="0" marL="0">
              <a:spcAft>
                <a:spcPts val="500"/>
              </a:spcAft>
              <a:buNone/>
            </a:pPr>
            <a:r>
              <a:rPr lang="en-US" sz="1050" b="1" dirty="0">
                <a:solidFill>
                  <a:srgbClr val="1A1F2B"/>
                </a:solidFill>
              </a:rPr>
              <a:t>before</a:t>
            </a:r>
            <a:pPr indent="0" marL="0">
              <a:spcAft>
                <a:spcPts val="500"/>
              </a:spcAft>
              <a:buNone/>
            </a:pPr>
            <a:r>
              <a:rPr lang="en-US" sz="1050" dirty="0">
                <a:solidFill>
                  <a:srgbClr val="1A1F2B"/>
                </a:solidFill>
              </a:rPr>
              <a:t> the risky call, so the collection is named and addressable whatever happens next.</a:t>
            </a:r>
            <a:endParaRPr lang="en-US" sz="1050" dirty="0"/>
          </a:p>
          <a:p>
            <a:pPr marL="177800" indent="-177800">
              <a:spcAft>
                <a:spcPts val="500"/>
              </a:spcAft>
              <a:buSzPct val="100000"/>
              <a:buChar char="•"/>
            </a:pPr>
            <a:r>
              <a:rPr lang="en-US" sz="1050" dirty="0">
                <a:solidFill>
                  <a:srgbClr val="1A1F2B"/>
                </a:solidFill>
              </a:rPr>
              <a:t>The Attempt holds an explicit </a:t>
            </a:r>
            <a:pPr indent="0" marL="0">
              <a:spcAft>
                <a:spcPts val="500"/>
              </a:spcAft>
              <a:buNone/>
            </a:pPr>
            <a:r>
              <a:rPr lang="en-US" sz="1000" dirty="0">
                <a:solidFill>
                  <a:srgbClr val="1A1F2B"/>
                </a:solidFill>
                <a:latin typeface="Consolas" pitchFamily="34" charset="0"/>
                <a:ea typeface="Consolas" pitchFamily="34" charset="-122"/>
                <a:cs typeface="Consolas" pitchFamily="34" charset="-120"/>
              </a:rPr>
              <a:t>outcome_unknown</a:t>
            </a:r>
            <a:pPr indent="0" marL="0">
              <a:spcAft>
                <a:spcPts val="500"/>
              </a:spcAft>
              <a:buNone/>
            </a:pPr>
            <a:r>
              <a:rPr lang="en-US" sz="1050" dirty="0">
                <a:solidFill>
                  <a:srgbClr val="1A1F2B"/>
                </a:solidFill>
              </a:rPr>
              <a:t> state, preserving request identifier, rail reference and timeout detail.</a:t>
            </a:r>
            <a:endParaRPr lang="en-US" sz="1050" dirty="0"/>
          </a:p>
          <a:p>
            <a:pPr marL="177800" indent="-177800">
              <a:spcAft>
                <a:spcPts val="500"/>
              </a:spcAft>
              <a:buSzPct val="100000"/>
              <a:buChar char="•"/>
            </a:pPr>
            <a:r>
              <a:rPr lang="en-US" sz="1050" dirty="0">
                <a:solidFill>
                  <a:srgbClr val="1A1F2B"/>
                </a:solidFill>
              </a:rPr>
              <a:t>Outcome resolution runs: query the rail, consume delayed notifications, reconcile. </a:t>
            </a:r>
            <a:pPr indent="0" marL="0">
              <a:spcAft>
                <a:spcPts val="500"/>
              </a:spcAft>
              <a:buNone/>
            </a:pPr>
            <a:r>
              <a:rPr lang="en-US" sz="1050" b="1" dirty="0">
                <a:solidFill>
                  <a:srgbClr val="1A1F2B"/>
                </a:solidFill>
              </a:rPr>
              <a:t>Approval found resolves the original attempt.</a:t>
            </a:r>
            <a:endParaRPr lang="en-US" sz="1050" dirty="0"/>
          </a:p>
          <a:p>
            <a:pPr marL="177800" indent="-177800">
              <a:spcAft>
                <a:spcPts val="500"/>
              </a:spcAft>
              <a:buSzPct val="100000"/>
              <a:buChar char="•"/>
            </a:pPr>
            <a:r>
              <a:rPr lang="en-US" sz="1050" dirty="0">
                <a:solidFill>
                  <a:srgbClr val="1A1F2B"/>
                </a:solidFill>
              </a:rPr>
              <a:t>Only a </a:t>
            </a:r>
            <a:pPr indent="0" marL="0">
              <a:spcAft>
                <a:spcPts val="500"/>
              </a:spcAft>
              <a:buNone/>
            </a:pPr>
            <a:r>
              <a:rPr lang="en-US" sz="1050" i="1" dirty="0">
                <a:solidFill>
                  <a:srgbClr val="1A1F2B"/>
                </a:solidFill>
              </a:rPr>
              <a:t>definitive</a:t>
            </a:r>
            <a:pPr indent="0" marL="0">
              <a:spcAft>
                <a:spcPts val="500"/>
              </a:spcAft>
              <a:buNone/>
            </a:pPr>
            <a:r>
              <a:rPr lang="en-US" sz="1050" dirty="0">
                <a:solidFill>
                  <a:srgbClr val="1A1F2B"/>
                </a:solidFill>
              </a:rPr>
              <a:t> failure makes the orchestrator eligible to try another rail.</a:t>
            </a:r>
            <a:endParaRPr lang="en-US" sz="1050" dirty="0"/>
          </a:p>
        </p:txBody>
      </p:sp>
      <p:sp>
        <p:nvSpPr>
          <p:cNvPr id="15" name="owns-0"/>
          <p:cNvSpPr/>
          <p:nvPr/>
        </p:nvSpPr>
        <p:spPr>
          <a:xfrm>
            <a:off x="475488" y="4700016"/>
            <a:ext cx="3637178" cy="731520"/>
          </a:xfrm>
          <a:prstGeom prst="rect">
            <a:avLst/>
          </a:prstGeom>
          <a:solidFill>
            <a:srgbClr val="FBFAF7"/>
          </a:solidFill>
          <a:ln w="6350">
            <a:solidFill>
              <a:srgbClr val="DCD7CB"/>
            </a:solidFill>
            <a:prstDash val="solid"/>
          </a:ln>
        </p:spPr>
      </p:sp>
      <p:sp>
        <p:nvSpPr>
          <p:cNvPr id="16" name="Text 14"/>
          <p:cNvSpPr txBox="1"/>
          <p:nvPr/>
        </p:nvSpPr>
        <p:spPr>
          <a:xfrm>
            <a:off x="594360" y="4773168"/>
            <a:ext cx="3399434" cy="173736"/>
          </a:xfrm>
          <a:prstGeom prst="rect">
            <a:avLst/>
          </a:prstGeom>
          <a:noFill/>
          <a:ln/>
        </p:spPr>
        <p:txBody>
          <a:bodyPr wrap="square" lIns="0" tIns="0" rIns="0" bIns="0" rtlCol="0" anchor="ctr"/>
          <a:lstStyle/>
          <a:p>
            <a:pPr indent="0" marL="0">
              <a:buNone/>
            </a:pPr>
            <a:r>
              <a:rPr lang="en-US" sz="850" spc="120" kern="0" dirty="0">
                <a:solidFill>
                  <a:srgbClr val="B8892F"/>
                </a:solidFill>
                <a:latin typeface="Consolas" pitchFamily="34" charset="0"/>
                <a:ea typeface="Consolas" pitchFamily="34" charset="-122"/>
                <a:cs typeface="Consolas" pitchFamily="34" charset="-120"/>
              </a:rPr>
              <a:t>PAYMENT INTENT OWNS</a:t>
            </a:r>
            <a:endParaRPr lang="en-US" sz="850" dirty="0"/>
          </a:p>
        </p:txBody>
      </p:sp>
      <p:sp>
        <p:nvSpPr>
          <p:cNvPr id="17" name="Text 15"/>
          <p:cNvSpPr txBox="1"/>
          <p:nvPr/>
        </p:nvSpPr>
        <p:spPr>
          <a:xfrm>
            <a:off x="594360" y="4965192"/>
            <a:ext cx="3399434" cy="393192"/>
          </a:xfrm>
          <a:prstGeom prst="rect">
            <a:avLst/>
          </a:prstGeom>
          <a:noFill/>
          <a:ln/>
        </p:spPr>
        <p:txBody>
          <a:bodyPr wrap="square" lIns="0" tIns="0" rIns="0" bIns="0" rtlCol="0" anchor="t"/>
          <a:lstStyle/>
          <a:p>
            <a:pPr indent="0" marL="0">
              <a:buNone/>
            </a:pPr>
            <a:r>
              <a:rPr lang="en-US" sz="1000" dirty="0">
                <a:solidFill>
                  <a:srgbClr val="1A1F2B"/>
                </a:solidFill>
              </a:rPr>
              <a:t>The unresolved collection state, and the fact that the objective is still live.</a:t>
            </a:r>
            <a:endParaRPr lang="en-US" sz="1000" dirty="0"/>
          </a:p>
        </p:txBody>
      </p:sp>
      <p:sp>
        <p:nvSpPr>
          <p:cNvPr id="18" name="owns-1"/>
          <p:cNvSpPr/>
          <p:nvPr/>
        </p:nvSpPr>
        <p:spPr>
          <a:xfrm>
            <a:off x="4277258" y="4700016"/>
            <a:ext cx="3637178" cy="731520"/>
          </a:xfrm>
          <a:prstGeom prst="rect">
            <a:avLst/>
          </a:prstGeom>
          <a:solidFill>
            <a:srgbClr val="FBFAF7"/>
          </a:solidFill>
          <a:ln w="6350">
            <a:solidFill>
              <a:srgbClr val="DCD7CB"/>
            </a:solidFill>
            <a:prstDash val="solid"/>
          </a:ln>
        </p:spPr>
      </p:sp>
      <p:sp>
        <p:nvSpPr>
          <p:cNvPr id="19" name="Text 17"/>
          <p:cNvSpPr txBox="1"/>
          <p:nvPr/>
        </p:nvSpPr>
        <p:spPr>
          <a:xfrm>
            <a:off x="4396130" y="4773168"/>
            <a:ext cx="3399434" cy="173736"/>
          </a:xfrm>
          <a:prstGeom prst="rect">
            <a:avLst/>
          </a:prstGeom>
          <a:noFill/>
          <a:ln/>
        </p:spPr>
        <p:txBody>
          <a:bodyPr wrap="square" lIns="0" tIns="0" rIns="0" bIns="0" rtlCol="0" anchor="ctr"/>
          <a:lstStyle/>
          <a:p>
            <a:pPr indent="0" marL="0">
              <a:buNone/>
            </a:pPr>
            <a:r>
              <a:rPr lang="en-US" sz="850" spc="120" kern="0" dirty="0">
                <a:solidFill>
                  <a:srgbClr val="B8892F"/>
                </a:solidFill>
                <a:latin typeface="Consolas" pitchFamily="34" charset="0"/>
                <a:ea typeface="Consolas" pitchFamily="34" charset="-122"/>
                <a:cs typeface="Consolas" pitchFamily="34" charset="-120"/>
              </a:rPr>
              <a:t>PAYMENT ATTEMPT OWNS</a:t>
            </a:r>
            <a:endParaRPr lang="en-US" sz="850" dirty="0"/>
          </a:p>
        </p:txBody>
      </p:sp>
      <p:sp>
        <p:nvSpPr>
          <p:cNvPr id="20" name="Text 18"/>
          <p:cNvSpPr txBox="1"/>
          <p:nvPr/>
        </p:nvSpPr>
        <p:spPr>
          <a:xfrm>
            <a:off x="4396130" y="4965192"/>
            <a:ext cx="3399434" cy="393192"/>
          </a:xfrm>
          <a:prstGeom prst="rect">
            <a:avLst/>
          </a:prstGeom>
          <a:noFill/>
          <a:ln/>
        </p:spPr>
        <p:txBody>
          <a:bodyPr wrap="square" lIns="0" tIns="0" rIns="0" bIns="0" rtlCol="0" anchor="t"/>
          <a:lstStyle/>
          <a:p>
            <a:pPr indent="0" marL="0">
              <a:buNone/>
            </a:pPr>
            <a:r>
              <a:rPr lang="en-US" sz="1000" dirty="0">
                <a:solidFill>
                  <a:srgbClr val="1A1F2B"/>
                </a:solidFill>
              </a:rPr>
              <a:t>Request identifier, rail reference, idempotency data and timeout detail, held as outcome_unknown.</a:t>
            </a:r>
            <a:endParaRPr lang="en-US" sz="1000" dirty="0"/>
          </a:p>
        </p:txBody>
      </p:sp>
      <p:sp>
        <p:nvSpPr>
          <p:cNvPr id="21" name="owns-2"/>
          <p:cNvSpPr/>
          <p:nvPr/>
        </p:nvSpPr>
        <p:spPr>
          <a:xfrm>
            <a:off x="8079029" y="4700016"/>
            <a:ext cx="3637178" cy="731520"/>
          </a:xfrm>
          <a:prstGeom prst="rect">
            <a:avLst/>
          </a:prstGeom>
          <a:solidFill>
            <a:srgbClr val="FBFAF7"/>
          </a:solidFill>
          <a:ln w="6350">
            <a:solidFill>
              <a:srgbClr val="DCD7CB"/>
            </a:solidFill>
            <a:prstDash val="solid"/>
          </a:ln>
        </p:spPr>
      </p:sp>
      <p:sp>
        <p:nvSpPr>
          <p:cNvPr id="22" name="Text 20"/>
          <p:cNvSpPr txBox="1"/>
          <p:nvPr/>
        </p:nvSpPr>
        <p:spPr>
          <a:xfrm>
            <a:off x="8197901" y="4773168"/>
            <a:ext cx="3399434" cy="173736"/>
          </a:xfrm>
          <a:prstGeom prst="rect">
            <a:avLst/>
          </a:prstGeom>
          <a:noFill/>
          <a:ln/>
        </p:spPr>
        <p:txBody>
          <a:bodyPr wrap="square" lIns="0" tIns="0" rIns="0" bIns="0" rtlCol="0" anchor="ctr"/>
          <a:lstStyle/>
          <a:p>
            <a:pPr indent="0" marL="0">
              <a:buNone/>
            </a:pPr>
            <a:r>
              <a:rPr lang="en-US" sz="850" spc="120" kern="0" dirty="0">
                <a:solidFill>
                  <a:srgbClr val="B8892F"/>
                </a:solidFill>
                <a:latin typeface="Consolas" pitchFamily="34" charset="0"/>
                <a:ea typeface="Consolas" pitchFamily="34" charset="-122"/>
                <a:cs typeface="Consolas" pitchFamily="34" charset="-120"/>
              </a:rPr>
              <a:t>ORCHESTRATION DECISION OWNS</a:t>
            </a:r>
            <a:endParaRPr lang="en-US" sz="850" dirty="0"/>
          </a:p>
        </p:txBody>
      </p:sp>
      <p:sp>
        <p:nvSpPr>
          <p:cNvPr id="23" name="Text 21"/>
          <p:cNvSpPr txBox="1"/>
          <p:nvPr/>
        </p:nvSpPr>
        <p:spPr>
          <a:xfrm>
            <a:off x="8197901" y="4965192"/>
            <a:ext cx="3399434" cy="393192"/>
          </a:xfrm>
          <a:prstGeom prst="rect">
            <a:avLst/>
          </a:prstGeom>
          <a:noFill/>
          <a:ln/>
        </p:spPr>
        <p:txBody>
          <a:bodyPr wrap="square" lIns="0" tIns="0" rIns="0" bIns="0" rtlCol="0" anchor="t"/>
          <a:lstStyle/>
          <a:p>
            <a:pPr indent="0" marL="0">
              <a:buNone/>
            </a:pPr>
            <a:r>
              <a:rPr lang="en-US" sz="1000" dirty="0">
                <a:solidFill>
                  <a:srgbClr val="1A1F2B"/>
                </a:solidFill>
              </a:rPr>
              <a:t>Why resolution was chosen over retry, and the recovery policy version applied.</a:t>
            </a:r>
            <a:endParaRPr lang="en-US" sz="1000" dirty="0"/>
          </a:p>
        </p:txBody>
      </p:sp>
      <p:sp>
        <p:nvSpPr>
          <p:cNvPr id="24" name="takeaway"/>
          <p:cNvSpPr/>
          <p:nvPr/>
        </p:nvSpPr>
        <p:spPr>
          <a:xfrm>
            <a:off x="475488" y="5541264"/>
            <a:ext cx="11240719" cy="768096"/>
          </a:xfrm>
          <a:prstGeom prst="rect">
            <a:avLst/>
          </a:prstGeom>
          <a:solidFill>
            <a:srgbClr val="0F1A2B"/>
          </a:solidFill>
          <a:ln w="12700">
            <a:solidFill>
              <a:srgbClr val="333333"/>
            </a:solidFill>
            <a:prstDash val="solid"/>
          </a:ln>
        </p:spPr>
      </p:sp>
      <p:sp>
        <p:nvSpPr>
          <p:cNvPr id="25" name="Text 23"/>
          <p:cNvSpPr txBox="1"/>
          <p:nvPr/>
        </p:nvSpPr>
        <p:spPr>
          <a:xfrm>
            <a:off x="640080" y="5623560"/>
            <a:ext cx="10911535" cy="182880"/>
          </a:xfrm>
          <a:prstGeom prst="rect">
            <a:avLst/>
          </a:prstGeom>
          <a:noFill/>
          <a:ln/>
        </p:spPr>
        <p:txBody>
          <a:bodyPr wrap="square" lIns="0" tIns="0" rIns="0" bIns="0" rtlCol="0" anchor="ctr"/>
          <a:lstStyle/>
          <a:p>
            <a:pPr indent="0" marL="0">
              <a:buNone/>
            </a:pPr>
            <a:r>
              <a:rPr lang="en-US" sz="900" spc="160" kern="0" dirty="0">
                <a:solidFill>
                  <a:srgbClr val="D9A03C"/>
                </a:solidFill>
                <a:latin typeface="Consolas" pitchFamily="34" charset="0"/>
                <a:ea typeface="Consolas" pitchFamily="34" charset="-122"/>
                <a:cs typeface="Consolas" pitchFamily="34" charset="-120"/>
              </a:rPr>
              <a:t>TAKEAWAY</a:t>
            </a:r>
            <a:endParaRPr lang="en-US" sz="900" dirty="0"/>
          </a:p>
        </p:txBody>
      </p:sp>
      <p:sp>
        <p:nvSpPr>
          <p:cNvPr id="26" name="Text 24"/>
          <p:cNvSpPr txBox="1"/>
          <p:nvPr/>
        </p:nvSpPr>
        <p:spPr>
          <a:xfrm>
            <a:off x="640080" y="5815584"/>
            <a:ext cx="10911535" cy="438912"/>
          </a:xfrm>
          <a:prstGeom prst="rect">
            <a:avLst/>
          </a:prstGeom>
          <a:noFill/>
          <a:ln/>
        </p:spPr>
        <p:txBody>
          <a:bodyPr wrap="square" lIns="0" tIns="0" rIns="0" bIns="0" rtlCol="0" anchor="t"/>
          <a:lstStyle/>
          <a:p>
            <a:pPr indent="0" marL="0">
              <a:buNone/>
            </a:pPr>
            <a:r>
              <a:rPr lang="en-US" sz="1150" dirty="0">
                <a:solidFill>
                  <a:srgbClr val="F2EEE4"/>
                </a:solidFill>
              </a:rPr>
              <a:t>If the platform cannot determine the result within the recovery window it must expose an </a:t>
            </a:r>
            <a:pPr indent="0" marL="0">
              <a:buNone/>
            </a:pPr>
            <a:r>
              <a:rPr lang="en-US" sz="1150" b="1" dirty="0">
                <a:solidFill>
                  <a:srgbClr val="E8D9B4"/>
                </a:solidFill>
              </a:rPr>
              <a:t>unresolved state and a defined escalation path</a:t>
            </a:r>
            <a:pPr indent="0" marL="0">
              <a:buNone/>
            </a:pPr>
            <a:r>
              <a:rPr lang="en-US" sz="1150" dirty="0">
                <a:solidFill>
                  <a:srgbClr val="F2EEE4"/>
                </a:solidFill>
              </a:rPr>
              <a:t>, never assume failure. This is the case with no attempt-level answer at all.</a:t>
            </a:r>
            <a:endParaRPr lang="en-US" sz="1150" dirty="0"/>
          </a:p>
        </p:txBody>
      </p:sp>
      <p:sp>
        <p:nvSpPr>
          <p:cNvPr id="25" name="Slide Number Placeholder 0"/>
          <p:cNvSpPr>
            <a:spLocks noGrp="1"/>
          </p:cNvSpPr>
          <p:nvPr>
            <p:ph type="sldNum" sz="quarter" idx="4294967295"/>
          </p:nvPr>
        </p:nvSpPr>
        <p:spPr>
          <a:xfrm>
            <a:off x="11430000" y="6419088"/>
            <a:ext cx="36576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9AA2AE"/>
                </a:solidFill>
                <a:latin typeface="Consolas"/>
                <a:ea typeface="Consolas"/>
                <a:cs typeface="Consolas"/>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475488" y="310896"/>
            <a:ext cx="11240719" cy="219456"/>
          </a:xfrm>
          <a:prstGeom prst="rect">
            <a:avLst/>
          </a:prstGeom>
          <a:noFill/>
          <a:ln/>
        </p:spPr>
        <p:txBody>
          <a:bodyPr wrap="square" lIns="0" tIns="0" rIns="0" bIns="0" rtlCol="0" anchor="ctr"/>
          <a:lstStyle/>
          <a:p>
            <a:pPr indent="0" marL="0">
              <a:buNone/>
            </a:pPr>
            <a:r>
              <a:rPr lang="en-US" sz="1050" spc="240" kern="0" dirty="0">
                <a:solidFill>
                  <a:srgbClr val="B8892F"/>
                </a:solidFill>
                <a:latin typeface="Consolas" pitchFamily="34" charset="0"/>
                <a:ea typeface="Consolas" pitchFamily="34" charset="-122"/>
                <a:cs typeface="Consolas" pitchFamily="34" charset="-120"/>
              </a:rPr>
              <a:t>USE CASE 06  ·  CREDENTIALS</a:t>
            </a:r>
            <a:endParaRPr lang="en-US" sz="1050" dirty="0"/>
          </a:p>
        </p:txBody>
      </p:sp>
      <p:sp>
        <p:nvSpPr>
          <p:cNvPr id="3" name="Text 1"/>
          <p:cNvSpPr txBox="1"/>
          <p:nvPr/>
        </p:nvSpPr>
        <p:spPr>
          <a:xfrm>
            <a:off x="475488" y="548640"/>
            <a:ext cx="11240719" cy="566928"/>
          </a:xfrm>
          <a:prstGeom prst="rect">
            <a:avLst/>
          </a:prstGeom>
          <a:noFill/>
          <a:ln/>
        </p:spPr>
        <p:txBody>
          <a:bodyPr wrap="square" lIns="0" tIns="0" rIns="0" bIns="0" rtlCol="0" anchor="t"/>
          <a:lstStyle/>
          <a:p>
            <a:pPr indent="0" marL="0">
              <a:buNone/>
            </a:pPr>
            <a:r>
              <a:rPr lang="en-US" sz="3000" b="1" dirty="0">
                <a:solidFill>
                  <a:srgbClr val="0F1A2B"/>
                </a:solidFill>
                <a:latin typeface="Cambria" pitchFamily="34" charset="0"/>
                <a:ea typeface="Cambria" pitchFamily="34" charset="-122"/>
                <a:cs typeface="Cambria" pitchFamily="34" charset="-120"/>
              </a:rPr>
              <a:t>Credential replacement between attempts</a:t>
            </a:r>
            <a:endParaRPr lang="en-US" sz="3000" dirty="0"/>
          </a:p>
        </p:txBody>
      </p:sp>
      <p:sp>
        <p:nvSpPr>
          <p:cNvPr id="4" name="Text 2"/>
          <p:cNvSpPr txBox="1"/>
          <p:nvPr/>
        </p:nvSpPr>
        <p:spPr>
          <a:xfrm>
            <a:off x="475488" y="1188720"/>
            <a:ext cx="11240719" cy="475488"/>
          </a:xfrm>
          <a:prstGeom prst="rect">
            <a:avLst/>
          </a:prstGeom>
          <a:noFill/>
          <a:ln/>
        </p:spPr>
        <p:txBody>
          <a:bodyPr wrap="square" lIns="0" tIns="0" rIns="0" bIns="0" rtlCol="0" anchor="t"/>
          <a:lstStyle/>
          <a:p>
            <a:pPr indent="0" marL="0">
              <a:buNone/>
            </a:pPr>
            <a:r>
              <a:rPr lang="en-US" sz="1250" dirty="0">
                <a:solidFill>
                  <a:srgbClr val="414A5C"/>
                </a:solidFill>
              </a:rPr>
              <a:t>The collection objective has not changed, so the Intent should not. But the next attempt must record exactly which credential was used, and who chose it.</a:t>
            </a:r>
            <a:endParaRPr lang="en-US" sz="1250" dirty="0"/>
          </a:p>
        </p:txBody>
      </p:sp>
      <p:sp>
        <p:nvSpPr>
          <p:cNvPr id="5" name="Shape 3"/>
          <p:cNvSpPr/>
          <p:nvPr/>
        </p:nvSpPr>
        <p:spPr>
          <a:xfrm>
            <a:off x="475488" y="1737360"/>
            <a:ext cx="11240719" cy="22860"/>
          </a:xfrm>
          <a:prstGeom prst="rect">
            <a:avLst/>
          </a:prstGeom>
          <a:solidFill>
            <a:srgbClr val="B8892F"/>
          </a:solidFill>
          <a:ln w="12700">
            <a:solidFill>
              <a:srgbClr val="B8892F"/>
            </a:solidFill>
            <a:prstDash val="solid"/>
          </a:ln>
        </p:spPr>
      </p:sp>
      <p:sp>
        <p:nvSpPr>
          <p:cNvPr id="6" name="scenario"/>
          <p:cNvSpPr/>
          <p:nvPr/>
        </p:nvSpPr>
        <p:spPr>
          <a:xfrm>
            <a:off x="475488" y="1847088"/>
            <a:ext cx="11240719" cy="566928"/>
          </a:xfrm>
          <a:prstGeom prst="rect">
            <a:avLst/>
          </a:prstGeom>
          <a:solidFill>
            <a:srgbClr val="F4F5F7"/>
          </a:solidFill>
          <a:ln w="6350">
            <a:solidFill>
              <a:srgbClr val="DCD7CB"/>
            </a:solidFill>
            <a:prstDash val="solid"/>
          </a:ln>
        </p:spPr>
      </p:sp>
      <p:sp>
        <p:nvSpPr>
          <p:cNvPr id="7" name="Text 5"/>
          <p:cNvSpPr txBox="1"/>
          <p:nvPr/>
        </p:nvSpPr>
        <p:spPr>
          <a:xfrm>
            <a:off x="603504" y="1911096"/>
            <a:ext cx="868680" cy="182880"/>
          </a:xfrm>
          <a:prstGeom prst="rect">
            <a:avLst/>
          </a:prstGeom>
          <a:noFill/>
          <a:ln/>
        </p:spPr>
        <p:txBody>
          <a:bodyPr wrap="square" lIns="0" tIns="0" rIns="0" bIns="0" rtlCol="0" anchor="ctr"/>
          <a:lstStyle/>
          <a:p>
            <a:pPr indent="0" marL="0">
              <a:buNone/>
            </a:pPr>
            <a:r>
              <a:rPr lang="en-US" sz="850" spc="120" kern="0" dirty="0">
                <a:solidFill>
                  <a:srgbClr val="6B7482"/>
                </a:solidFill>
                <a:latin typeface="Consolas" pitchFamily="34" charset="0"/>
                <a:ea typeface="Consolas" pitchFamily="34" charset="-122"/>
                <a:cs typeface="Consolas" pitchFamily="34" charset="-120"/>
              </a:rPr>
              <a:t>SCENARIO</a:t>
            </a:r>
            <a:endParaRPr lang="en-US" sz="850" dirty="0"/>
          </a:p>
        </p:txBody>
      </p:sp>
      <p:sp>
        <p:nvSpPr>
          <p:cNvPr id="8" name="Text 6"/>
          <p:cNvSpPr txBox="1"/>
          <p:nvPr/>
        </p:nvSpPr>
        <p:spPr>
          <a:xfrm>
            <a:off x="1481328" y="1901952"/>
            <a:ext cx="10088575" cy="457200"/>
          </a:xfrm>
          <a:prstGeom prst="rect">
            <a:avLst/>
          </a:prstGeom>
          <a:noFill/>
          <a:ln/>
        </p:spPr>
        <p:txBody>
          <a:bodyPr wrap="square" lIns="0" tIns="0" rIns="0" bIns="0" rtlCol="0" anchor="t"/>
          <a:lstStyle/>
          <a:p>
            <a:pPr indent="0" marL="0">
              <a:buNone/>
            </a:pPr>
            <a:r>
              <a:rPr lang="en-US" sz="1100" dirty="0">
                <a:solidFill>
                  <a:srgbClr val="1A1F2B"/>
                </a:solidFill>
              </a:rPr>
              <a:t>A recurring charge of </a:t>
            </a:r>
            <a:pPr indent="0" marL="0">
              <a:buNone/>
            </a:pPr>
            <a:r>
              <a:rPr lang="en-US" sz="1100" b="1" dirty="0">
                <a:solidFill>
                  <a:srgbClr val="1A1F2B"/>
                </a:solidFill>
              </a:rPr>
              <a:t>$59.00</a:t>
            </a:r>
            <a:pPr indent="0" marL="0">
              <a:buNone/>
            </a:pPr>
            <a:r>
              <a:rPr lang="en-US" sz="1100" dirty="0">
                <a:solidFill>
                  <a:srgbClr val="1A1F2B"/>
                </a:solidFill>
              </a:rPr>
              <a:t> is attempted on a vaulted PAN and returns a response indicating the credential is no longer usable. A replacement arrives — supplied by the customer, by the merchant, or selected by the platform's credential service.</a:t>
            </a:r>
            <a:endParaRPr lang="en-US" sz="1100" dirty="0"/>
          </a:p>
        </p:txBody>
      </p:sp>
      <p:sp>
        <p:nvSpPr>
          <p:cNvPr id="9" name="at-attempt-level"/>
          <p:cNvSpPr/>
          <p:nvPr/>
        </p:nvSpPr>
        <p:spPr>
          <a:xfrm>
            <a:off x="475488" y="2542032"/>
            <a:ext cx="5492344" cy="2048256"/>
          </a:xfrm>
          <a:prstGeom prst="rect">
            <a:avLst/>
          </a:prstGeom>
          <a:solidFill>
            <a:srgbClr val="FBEEEE"/>
          </a:solidFill>
          <a:ln w="6350">
            <a:solidFill>
              <a:srgbClr val="DCD7CB"/>
            </a:solidFill>
            <a:prstDash val="solid"/>
          </a:ln>
        </p:spPr>
      </p:sp>
      <p:sp>
        <p:nvSpPr>
          <p:cNvPr id="10" name="Text 8"/>
          <p:cNvSpPr txBox="1"/>
          <p:nvPr/>
        </p:nvSpPr>
        <p:spPr>
          <a:xfrm>
            <a:off x="621792" y="2633472"/>
            <a:ext cx="5199736" cy="182880"/>
          </a:xfrm>
          <a:prstGeom prst="rect">
            <a:avLst/>
          </a:prstGeom>
          <a:noFill/>
          <a:ln/>
        </p:spPr>
        <p:txBody>
          <a:bodyPr wrap="square" lIns="0" tIns="0" rIns="0" bIns="0" rtlCol="0" anchor="ctr"/>
          <a:lstStyle/>
          <a:p>
            <a:pPr indent="0" marL="0">
              <a:buNone/>
            </a:pPr>
            <a:r>
              <a:rPr lang="en-US" sz="950" spc="150" kern="0" dirty="0">
                <a:solidFill>
                  <a:srgbClr val="9B2C2C"/>
                </a:solidFill>
                <a:latin typeface="Consolas" pitchFamily="34" charset="0"/>
                <a:ea typeface="Consolas" pitchFamily="34" charset="-122"/>
                <a:cs typeface="Consolas" pitchFamily="34" charset="-120"/>
              </a:rPr>
              <a:t>AT ATTEMPT LEVEL</a:t>
            </a:r>
            <a:endParaRPr lang="en-US" sz="950" dirty="0"/>
          </a:p>
        </p:txBody>
      </p:sp>
      <p:sp>
        <p:nvSpPr>
          <p:cNvPr id="11" name="Text 9"/>
          <p:cNvSpPr txBox="1"/>
          <p:nvPr/>
        </p:nvSpPr>
        <p:spPr>
          <a:xfrm>
            <a:off x="621792" y="2852928"/>
            <a:ext cx="5199736" cy="1645920"/>
          </a:xfrm>
          <a:prstGeom prst="rect">
            <a:avLst/>
          </a:prstGeom>
          <a:noFill/>
          <a:ln/>
        </p:spPr>
        <p:txBody>
          <a:bodyPr wrap="square" lIns="0" tIns="0" rIns="0" bIns="0" rtlCol="0" anchor="t"/>
          <a:lstStyle/>
          <a:p>
            <a:pPr marL="177800" indent="-177800">
              <a:spcAft>
                <a:spcPts val="500"/>
              </a:spcAft>
              <a:buSzPct val="100000"/>
              <a:buChar char="•"/>
            </a:pPr>
            <a:r>
              <a:rPr lang="en-US" sz="1050" dirty="0">
                <a:solidFill>
                  <a:srgbClr val="1A1F2B"/>
                </a:solidFill>
              </a:rPr>
              <a:t>Account updater is a separate product with a separate integration and a separate response format.</a:t>
            </a:r>
            <a:endParaRPr lang="en-US" sz="1050" dirty="0"/>
          </a:p>
          <a:p>
            <a:pPr marL="177800" indent="-177800">
              <a:spcAft>
                <a:spcPts val="500"/>
              </a:spcAft>
              <a:buSzPct val="100000"/>
              <a:buChar char="•"/>
            </a:pPr>
            <a:r>
              <a:rPr lang="en-US" sz="1050" dirty="0">
                <a:solidFill>
                  <a:srgbClr val="1A1F2B"/>
                </a:solidFill>
              </a:rPr>
              <a:t>Whether the credential chain survives the refresh is a question the merchant must answer, and then re-point.</a:t>
            </a:r>
            <a:endParaRPr lang="en-US" sz="1050" dirty="0"/>
          </a:p>
          <a:p>
            <a:pPr marL="177800" indent="-177800">
              <a:spcAft>
                <a:spcPts val="500"/>
              </a:spcAft>
              <a:buSzPct val="100000"/>
              <a:buChar char="•"/>
            </a:pPr>
            <a:r>
              <a:rPr lang="en-US" sz="1050" dirty="0">
                <a:solidFill>
                  <a:srgbClr val="1A1F2B"/>
                </a:solidFill>
              </a:rPr>
              <a:t>Nothing records </a:t>
            </a:r>
            <a:pPr indent="0" marL="0">
              <a:spcAft>
                <a:spcPts val="500"/>
              </a:spcAft>
              <a:buNone/>
            </a:pPr>
            <a:r>
              <a:rPr lang="en-US" sz="1050" i="1" dirty="0">
                <a:solidFill>
                  <a:srgbClr val="1A1F2B"/>
                </a:solidFill>
              </a:rPr>
              <a:t>why</a:t>
            </a:r>
            <a:pPr indent="0" marL="0">
              <a:spcAft>
                <a:spcPts val="500"/>
              </a:spcAft>
              <a:buNone/>
            </a:pPr>
            <a:r>
              <a:rPr lang="en-US" sz="1050" dirty="0">
                <a:solidFill>
                  <a:srgbClr val="1A1F2B"/>
                </a:solidFill>
              </a:rPr>
              <a:t> a different credential was used — merchant replacement and platform selection look identical afterwards.</a:t>
            </a:r>
            <a:endParaRPr lang="en-US" sz="1050" dirty="0"/>
          </a:p>
          <a:p>
            <a:pPr marL="177800" indent="-177800">
              <a:spcAft>
                <a:spcPts val="500"/>
              </a:spcAft>
              <a:buSzPct val="100000"/>
              <a:buChar char="•"/>
            </a:pPr>
            <a:r>
              <a:rPr lang="en-US" sz="1050" b="1" dirty="0">
                <a:solidFill>
                  <a:srgbClr val="1A1F2B"/>
                </a:solidFill>
              </a:rPr>
              <a:t>Lose the chain and interchange qualification degrades</a:t>
            </a:r>
            <a:pPr indent="0" marL="0">
              <a:spcAft>
                <a:spcPts val="500"/>
              </a:spcAft>
              <a:buNone/>
            </a:pPr>
            <a:r>
              <a:rPr lang="en-US" sz="1050" dirty="0">
                <a:solidFill>
                  <a:srgbClr val="1A1F2B"/>
                </a:solidFill>
              </a:rPr>
              <a:t> — invisibly, until a rate review months later.</a:t>
            </a:r>
            <a:endParaRPr lang="en-US" sz="1050" dirty="0"/>
          </a:p>
        </p:txBody>
      </p:sp>
      <p:sp>
        <p:nvSpPr>
          <p:cNvPr id="12" name="with-payment-intent"/>
          <p:cNvSpPr/>
          <p:nvPr/>
        </p:nvSpPr>
        <p:spPr>
          <a:xfrm>
            <a:off x="6223864" y="2542032"/>
            <a:ext cx="5492344" cy="2048256"/>
          </a:xfrm>
          <a:prstGeom prst="rect">
            <a:avLst/>
          </a:prstGeom>
          <a:solidFill>
            <a:srgbClr val="D6E7E4"/>
          </a:solidFill>
          <a:ln w="6350">
            <a:solidFill>
              <a:srgbClr val="DCD7CB"/>
            </a:solidFill>
            <a:prstDash val="solid"/>
          </a:ln>
        </p:spPr>
      </p:sp>
      <p:sp>
        <p:nvSpPr>
          <p:cNvPr id="13" name="Text 11"/>
          <p:cNvSpPr txBox="1"/>
          <p:nvPr/>
        </p:nvSpPr>
        <p:spPr>
          <a:xfrm>
            <a:off x="6370168" y="2633472"/>
            <a:ext cx="5199736" cy="182880"/>
          </a:xfrm>
          <a:prstGeom prst="rect">
            <a:avLst/>
          </a:prstGeom>
          <a:noFill/>
          <a:ln/>
        </p:spPr>
        <p:txBody>
          <a:bodyPr wrap="square" lIns="0" tIns="0" rIns="0" bIns="0" rtlCol="0" anchor="ctr"/>
          <a:lstStyle/>
          <a:p>
            <a:pPr indent="0" marL="0">
              <a:buNone/>
            </a:pPr>
            <a:r>
              <a:rPr lang="en-US" sz="950" spc="150" kern="0" dirty="0">
                <a:solidFill>
                  <a:srgbClr val="26706A"/>
                </a:solidFill>
                <a:latin typeface="Consolas" pitchFamily="34" charset="0"/>
                <a:ea typeface="Consolas" pitchFamily="34" charset="-122"/>
                <a:cs typeface="Consolas" pitchFamily="34" charset="-120"/>
              </a:rPr>
              <a:t>WITH A PAYMENT INTENT</a:t>
            </a:r>
            <a:endParaRPr lang="en-US" sz="950" dirty="0"/>
          </a:p>
        </p:txBody>
      </p:sp>
      <p:sp>
        <p:nvSpPr>
          <p:cNvPr id="14" name="Text 12"/>
          <p:cNvSpPr txBox="1"/>
          <p:nvPr/>
        </p:nvSpPr>
        <p:spPr>
          <a:xfrm>
            <a:off x="6370168" y="2852928"/>
            <a:ext cx="5199736" cy="1645920"/>
          </a:xfrm>
          <a:prstGeom prst="rect">
            <a:avLst/>
          </a:prstGeom>
          <a:noFill/>
          <a:ln/>
        </p:spPr>
        <p:txBody>
          <a:bodyPr wrap="square" lIns="0" tIns="0" rIns="0" bIns="0" rtlCol="0" anchor="t"/>
          <a:lstStyle/>
          <a:p>
            <a:pPr marL="177800" indent="-177800">
              <a:spcAft>
                <a:spcPts val="500"/>
              </a:spcAft>
              <a:buSzPct val="100000"/>
              <a:buChar char="•"/>
            </a:pPr>
            <a:r>
              <a:rPr lang="en-US" sz="1050" dirty="0">
                <a:solidFill>
                  <a:srgbClr val="1A1F2B"/>
                </a:solidFill>
              </a:rPr>
              <a:t>The Intent persists because the objective is unchanged; </a:t>
            </a:r>
            <a:pPr indent="0" marL="0">
              <a:spcAft>
                <a:spcPts val="500"/>
              </a:spcAft>
              <a:buNone/>
            </a:pPr>
            <a:r>
              <a:rPr lang="en-US" sz="1000" dirty="0">
                <a:solidFill>
                  <a:srgbClr val="1A1F2B"/>
                </a:solidFill>
                <a:latin typeface="Consolas" pitchFamily="34" charset="0"/>
                <a:ea typeface="Consolas" pitchFamily="34" charset="-122"/>
                <a:cs typeface="Consolas" pitchFamily="34" charset="-120"/>
              </a:rPr>
              <a:t>refresh_then_retry</a:t>
            </a:r>
            <a:pPr indent="0" marL="0">
              <a:spcAft>
                <a:spcPts val="500"/>
              </a:spcAft>
              <a:buNone/>
            </a:pPr>
            <a:r>
              <a:rPr lang="en-US" sz="1050" dirty="0">
                <a:solidFill>
                  <a:srgbClr val="1A1F2B"/>
                </a:solidFill>
              </a:rPr>
              <a:t> is one policy token.</a:t>
            </a:r>
            <a:endParaRPr lang="en-US" sz="1050" dirty="0"/>
          </a:p>
          <a:p>
            <a:pPr marL="177800" indent="-177800">
              <a:spcAft>
                <a:spcPts val="500"/>
              </a:spcAft>
              <a:buSzPct val="100000"/>
              <a:buChar char="•"/>
            </a:pPr>
            <a:r>
              <a:rPr lang="en-US" sz="1050" dirty="0">
                <a:solidFill>
                  <a:srgbClr val="1A1F2B"/>
                </a:solidFill>
              </a:rPr>
              <a:t>Each attempt records the credential used, so the history answers: was the original rejected, what replaced it, who chose it.</a:t>
            </a:r>
            <a:endParaRPr lang="en-US" sz="1050" dirty="0"/>
          </a:p>
          <a:p>
            <a:pPr marL="177800" indent="-177800">
              <a:spcAft>
                <a:spcPts val="500"/>
              </a:spcAft>
              <a:buSzPct val="100000"/>
              <a:buChar char="•"/>
            </a:pPr>
            <a:r>
              <a:rPr lang="en-US" sz="1050" dirty="0">
                <a:solidFill>
                  <a:srgbClr val="1A1F2B"/>
                </a:solidFill>
              </a:rPr>
              <a:t>Token and wallet constraints are enforced at </a:t>
            </a:r>
            <a:pPr indent="0" marL="0">
              <a:spcAft>
                <a:spcPts val="500"/>
              </a:spcAft>
              <a:buNone/>
            </a:pPr>
            <a:r>
              <a:rPr lang="en-US" sz="1050" i="1" dirty="0">
                <a:solidFill>
                  <a:srgbClr val="1A1F2B"/>
                </a:solidFill>
              </a:rPr>
              <a:t>selection</a:t>
            </a:r>
            <a:pPr indent="0" marL="0">
              <a:spcAft>
                <a:spcPts val="500"/>
              </a:spcAft>
              <a:buNone/>
            </a:pPr>
            <a:r>
              <a:rPr lang="en-US" sz="1050" dirty="0">
                <a:solidFill>
                  <a:srgbClr val="1A1F2B"/>
                </a:solidFill>
              </a:rPr>
              <a:t> time — a credential valid on one rail or channel may not be valid on another.</a:t>
            </a:r>
            <a:endParaRPr lang="en-US" sz="1050" dirty="0"/>
          </a:p>
          <a:p>
            <a:pPr marL="177800" indent="-177800">
              <a:spcAft>
                <a:spcPts val="500"/>
              </a:spcAft>
              <a:buSzPct val="100000"/>
              <a:buChar char="•"/>
            </a:pPr>
            <a:r>
              <a:rPr lang="en-US" sz="1050" dirty="0">
                <a:solidFill>
                  <a:srgbClr val="1A1F2B"/>
                </a:solidFill>
              </a:rPr>
              <a:t>The credential platform owns the chain, so it cannot be lost by a deploy or a schema migration.</a:t>
            </a:r>
            <a:endParaRPr lang="en-US" sz="1050" dirty="0"/>
          </a:p>
        </p:txBody>
      </p:sp>
      <p:sp>
        <p:nvSpPr>
          <p:cNvPr id="15" name="owns-0"/>
          <p:cNvSpPr/>
          <p:nvPr/>
        </p:nvSpPr>
        <p:spPr>
          <a:xfrm>
            <a:off x="475488" y="4700016"/>
            <a:ext cx="3637178" cy="731520"/>
          </a:xfrm>
          <a:prstGeom prst="rect">
            <a:avLst/>
          </a:prstGeom>
          <a:solidFill>
            <a:srgbClr val="FBFAF7"/>
          </a:solidFill>
          <a:ln w="6350">
            <a:solidFill>
              <a:srgbClr val="DCD7CB"/>
            </a:solidFill>
            <a:prstDash val="solid"/>
          </a:ln>
        </p:spPr>
      </p:sp>
      <p:sp>
        <p:nvSpPr>
          <p:cNvPr id="16" name="Text 14"/>
          <p:cNvSpPr txBox="1"/>
          <p:nvPr/>
        </p:nvSpPr>
        <p:spPr>
          <a:xfrm>
            <a:off x="594360" y="4773168"/>
            <a:ext cx="3399434" cy="173736"/>
          </a:xfrm>
          <a:prstGeom prst="rect">
            <a:avLst/>
          </a:prstGeom>
          <a:noFill/>
          <a:ln/>
        </p:spPr>
        <p:txBody>
          <a:bodyPr wrap="square" lIns="0" tIns="0" rIns="0" bIns="0" rtlCol="0" anchor="ctr"/>
          <a:lstStyle/>
          <a:p>
            <a:pPr indent="0" marL="0">
              <a:buNone/>
            </a:pPr>
            <a:r>
              <a:rPr lang="en-US" sz="850" spc="120" kern="0" dirty="0">
                <a:solidFill>
                  <a:srgbClr val="B8892F"/>
                </a:solidFill>
                <a:latin typeface="Consolas" pitchFamily="34" charset="0"/>
                <a:ea typeface="Consolas" pitchFamily="34" charset="-122"/>
                <a:cs typeface="Consolas" pitchFamily="34" charset="-120"/>
              </a:rPr>
              <a:t>PAYMENT INTENT OWNS</a:t>
            </a:r>
            <a:endParaRPr lang="en-US" sz="850" dirty="0"/>
          </a:p>
        </p:txBody>
      </p:sp>
      <p:sp>
        <p:nvSpPr>
          <p:cNvPr id="17" name="Text 15"/>
          <p:cNvSpPr txBox="1"/>
          <p:nvPr/>
        </p:nvSpPr>
        <p:spPr>
          <a:xfrm>
            <a:off x="594360" y="4965192"/>
            <a:ext cx="3399434" cy="393192"/>
          </a:xfrm>
          <a:prstGeom prst="rect">
            <a:avLst/>
          </a:prstGeom>
          <a:noFill/>
          <a:ln/>
        </p:spPr>
        <p:txBody>
          <a:bodyPr wrap="square" lIns="0" tIns="0" rIns="0" bIns="0" rtlCol="0" anchor="t"/>
          <a:lstStyle/>
          <a:p>
            <a:pPr indent="0" marL="0">
              <a:buNone/>
            </a:pPr>
            <a:r>
              <a:rPr lang="en-US" sz="1000" dirty="0">
                <a:solidFill>
                  <a:srgbClr val="1A1F2B"/>
                </a:solidFill>
              </a:rPr>
              <a:t>The unchanged collection objective, and whether a further attempt is permitted at all.</a:t>
            </a:r>
            <a:endParaRPr lang="en-US" sz="1000" dirty="0"/>
          </a:p>
        </p:txBody>
      </p:sp>
      <p:sp>
        <p:nvSpPr>
          <p:cNvPr id="18" name="owns-1"/>
          <p:cNvSpPr/>
          <p:nvPr/>
        </p:nvSpPr>
        <p:spPr>
          <a:xfrm>
            <a:off x="4277258" y="4700016"/>
            <a:ext cx="3637178" cy="731520"/>
          </a:xfrm>
          <a:prstGeom prst="rect">
            <a:avLst/>
          </a:prstGeom>
          <a:solidFill>
            <a:srgbClr val="FBFAF7"/>
          </a:solidFill>
          <a:ln w="6350">
            <a:solidFill>
              <a:srgbClr val="DCD7CB"/>
            </a:solidFill>
            <a:prstDash val="solid"/>
          </a:ln>
        </p:spPr>
      </p:sp>
      <p:sp>
        <p:nvSpPr>
          <p:cNvPr id="19" name="Text 17"/>
          <p:cNvSpPr txBox="1"/>
          <p:nvPr/>
        </p:nvSpPr>
        <p:spPr>
          <a:xfrm>
            <a:off x="4396130" y="4773168"/>
            <a:ext cx="3399434" cy="173736"/>
          </a:xfrm>
          <a:prstGeom prst="rect">
            <a:avLst/>
          </a:prstGeom>
          <a:noFill/>
          <a:ln/>
        </p:spPr>
        <p:txBody>
          <a:bodyPr wrap="square" lIns="0" tIns="0" rIns="0" bIns="0" rtlCol="0" anchor="ctr"/>
          <a:lstStyle/>
          <a:p>
            <a:pPr indent="0" marL="0">
              <a:buNone/>
            </a:pPr>
            <a:r>
              <a:rPr lang="en-US" sz="850" spc="120" kern="0" dirty="0">
                <a:solidFill>
                  <a:srgbClr val="B8892F"/>
                </a:solidFill>
                <a:latin typeface="Consolas" pitchFamily="34" charset="0"/>
                <a:ea typeface="Consolas" pitchFamily="34" charset="-122"/>
                <a:cs typeface="Consolas" pitchFamily="34" charset="-120"/>
              </a:rPr>
              <a:t>CREDENTIAL PLATFORM OWNS</a:t>
            </a:r>
            <a:endParaRPr lang="en-US" sz="850" dirty="0"/>
          </a:p>
        </p:txBody>
      </p:sp>
      <p:sp>
        <p:nvSpPr>
          <p:cNvPr id="20" name="Text 18"/>
          <p:cNvSpPr txBox="1"/>
          <p:nvPr/>
        </p:nvSpPr>
        <p:spPr>
          <a:xfrm>
            <a:off x="4396130" y="4965192"/>
            <a:ext cx="3399434" cy="393192"/>
          </a:xfrm>
          <a:prstGeom prst="rect">
            <a:avLst/>
          </a:prstGeom>
          <a:noFill/>
          <a:ln/>
        </p:spPr>
        <p:txBody>
          <a:bodyPr wrap="square" lIns="0" tIns="0" rIns="0" bIns="0" rtlCol="0" anchor="t"/>
          <a:lstStyle/>
          <a:p>
            <a:pPr indent="0" marL="0">
              <a:buNone/>
            </a:pPr>
            <a:r>
              <a:rPr lang="en-US" sz="1000" dirty="0">
                <a:solidFill>
                  <a:srgbClr val="1A1F2B"/>
                </a:solidFill>
              </a:rPr>
              <a:t>Credential lifecycle, eligibility, use constraints and cryptogram availability per rail and channel.</a:t>
            </a:r>
            <a:endParaRPr lang="en-US" sz="1000" dirty="0"/>
          </a:p>
        </p:txBody>
      </p:sp>
      <p:sp>
        <p:nvSpPr>
          <p:cNvPr id="21" name="owns-2"/>
          <p:cNvSpPr/>
          <p:nvPr/>
        </p:nvSpPr>
        <p:spPr>
          <a:xfrm>
            <a:off x="8079029" y="4700016"/>
            <a:ext cx="3637178" cy="731520"/>
          </a:xfrm>
          <a:prstGeom prst="rect">
            <a:avLst/>
          </a:prstGeom>
          <a:solidFill>
            <a:srgbClr val="FBFAF7"/>
          </a:solidFill>
          <a:ln w="6350">
            <a:solidFill>
              <a:srgbClr val="DCD7CB"/>
            </a:solidFill>
            <a:prstDash val="solid"/>
          </a:ln>
        </p:spPr>
      </p:sp>
      <p:sp>
        <p:nvSpPr>
          <p:cNvPr id="22" name="Text 20"/>
          <p:cNvSpPr txBox="1"/>
          <p:nvPr/>
        </p:nvSpPr>
        <p:spPr>
          <a:xfrm>
            <a:off x="8197901" y="4773168"/>
            <a:ext cx="3399434" cy="173736"/>
          </a:xfrm>
          <a:prstGeom prst="rect">
            <a:avLst/>
          </a:prstGeom>
          <a:noFill/>
          <a:ln/>
        </p:spPr>
        <p:txBody>
          <a:bodyPr wrap="square" lIns="0" tIns="0" rIns="0" bIns="0" rtlCol="0" anchor="ctr"/>
          <a:lstStyle/>
          <a:p>
            <a:pPr indent="0" marL="0">
              <a:buNone/>
            </a:pPr>
            <a:r>
              <a:rPr lang="en-US" sz="850" spc="120" kern="0" dirty="0">
                <a:solidFill>
                  <a:srgbClr val="B8892F"/>
                </a:solidFill>
                <a:latin typeface="Consolas" pitchFamily="34" charset="0"/>
                <a:ea typeface="Consolas" pitchFamily="34" charset="-122"/>
                <a:cs typeface="Consolas" pitchFamily="34" charset="-120"/>
              </a:rPr>
              <a:t>PAYMENT ATTEMPT OWNS</a:t>
            </a:r>
            <a:endParaRPr lang="en-US" sz="850" dirty="0"/>
          </a:p>
        </p:txBody>
      </p:sp>
      <p:sp>
        <p:nvSpPr>
          <p:cNvPr id="23" name="Text 21"/>
          <p:cNvSpPr txBox="1"/>
          <p:nvPr/>
        </p:nvSpPr>
        <p:spPr>
          <a:xfrm>
            <a:off x="8197901" y="4965192"/>
            <a:ext cx="3399434" cy="393192"/>
          </a:xfrm>
          <a:prstGeom prst="rect">
            <a:avLst/>
          </a:prstGeom>
          <a:noFill/>
          <a:ln/>
        </p:spPr>
        <p:txBody>
          <a:bodyPr wrap="square" lIns="0" tIns="0" rIns="0" bIns="0" rtlCol="0" anchor="t"/>
          <a:lstStyle/>
          <a:p>
            <a:pPr indent="0" marL="0">
              <a:buNone/>
            </a:pPr>
            <a:r>
              <a:rPr lang="en-US" sz="1000" dirty="0">
                <a:solidFill>
                  <a:srgbClr val="1A1F2B"/>
                </a:solidFill>
              </a:rPr>
              <a:t>The exact credential and execution context actually submitted.</a:t>
            </a:r>
            <a:endParaRPr lang="en-US" sz="1000" dirty="0"/>
          </a:p>
        </p:txBody>
      </p:sp>
      <p:sp>
        <p:nvSpPr>
          <p:cNvPr id="24" name="takeaway"/>
          <p:cNvSpPr/>
          <p:nvPr/>
        </p:nvSpPr>
        <p:spPr>
          <a:xfrm>
            <a:off x="475488" y="5541264"/>
            <a:ext cx="11240719" cy="768096"/>
          </a:xfrm>
          <a:prstGeom prst="rect">
            <a:avLst/>
          </a:prstGeom>
          <a:solidFill>
            <a:srgbClr val="0F1A2B"/>
          </a:solidFill>
          <a:ln w="12700">
            <a:solidFill>
              <a:srgbClr val="333333"/>
            </a:solidFill>
            <a:prstDash val="solid"/>
          </a:ln>
        </p:spPr>
      </p:sp>
      <p:sp>
        <p:nvSpPr>
          <p:cNvPr id="25" name="Text 23"/>
          <p:cNvSpPr txBox="1"/>
          <p:nvPr/>
        </p:nvSpPr>
        <p:spPr>
          <a:xfrm>
            <a:off x="640080" y="5623560"/>
            <a:ext cx="10911535" cy="182880"/>
          </a:xfrm>
          <a:prstGeom prst="rect">
            <a:avLst/>
          </a:prstGeom>
          <a:noFill/>
          <a:ln/>
        </p:spPr>
        <p:txBody>
          <a:bodyPr wrap="square" lIns="0" tIns="0" rIns="0" bIns="0" rtlCol="0" anchor="ctr"/>
          <a:lstStyle/>
          <a:p>
            <a:pPr indent="0" marL="0">
              <a:buNone/>
            </a:pPr>
            <a:r>
              <a:rPr lang="en-US" sz="900" spc="160" kern="0" dirty="0">
                <a:solidFill>
                  <a:srgbClr val="D9A03C"/>
                </a:solidFill>
                <a:latin typeface="Consolas" pitchFamily="34" charset="0"/>
                <a:ea typeface="Consolas" pitchFamily="34" charset="-122"/>
                <a:cs typeface="Consolas" pitchFamily="34" charset="-120"/>
              </a:rPr>
              <a:t>TAKEAWAY</a:t>
            </a:r>
            <a:endParaRPr lang="en-US" sz="900" dirty="0"/>
          </a:p>
        </p:txBody>
      </p:sp>
      <p:sp>
        <p:nvSpPr>
          <p:cNvPr id="26" name="Text 24"/>
          <p:cNvSpPr txBox="1"/>
          <p:nvPr/>
        </p:nvSpPr>
        <p:spPr>
          <a:xfrm>
            <a:off x="640080" y="5815584"/>
            <a:ext cx="10911535" cy="438912"/>
          </a:xfrm>
          <a:prstGeom prst="rect">
            <a:avLst/>
          </a:prstGeom>
          <a:noFill/>
          <a:ln/>
        </p:spPr>
        <p:txBody>
          <a:bodyPr wrap="square" lIns="0" tIns="0" rIns="0" bIns="0" rtlCol="0" anchor="t"/>
          <a:lstStyle/>
          <a:p>
            <a:pPr indent="0" marL="0">
              <a:buNone/>
            </a:pPr>
            <a:r>
              <a:rPr lang="en-US" sz="1150" dirty="0">
                <a:solidFill>
                  <a:srgbClr val="F2EEE4"/>
                </a:solidFill>
              </a:rPr>
              <a:t>Same Intent only if the objective is unchanged. </a:t>
            </a:r>
            <a:pPr indent="0" marL="0">
              <a:buNone/>
            </a:pPr>
            <a:r>
              <a:rPr lang="en-US" sz="1150" b="1" dirty="0">
                <a:solidFill>
                  <a:srgbClr val="E8D9B4"/>
                </a:solidFill>
              </a:rPr>
              <a:t>A new objective is a new Intent</a:t>
            </a:r>
            <a:pPr indent="0" marL="0">
              <a:buNone/>
            </a:pPr>
            <a:r>
              <a:rPr lang="en-US" sz="1150" dirty="0">
                <a:solidFill>
                  <a:srgbClr val="F2EEE4"/>
                </a:solidFill>
              </a:rPr>
              <a:t> — conflating the two is how a platform loses the thread between what the merchant wanted and what was actually tried.</a:t>
            </a:r>
            <a:endParaRPr lang="en-US" sz="1150" dirty="0"/>
          </a:p>
        </p:txBody>
      </p:sp>
      <p:sp>
        <p:nvSpPr>
          <p:cNvPr id="25" name="Slide Number Placeholder 0"/>
          <p:cNvSpPr>
            <a:spLocks noGrp="1"/>
          </p:cNvSpPr>
          <p:nvPr>
            <p:ph type="sldNum" sz="quarter" idx="4294967295"/>
          </p:nvPr>
        </p:nvSpPr>
        <p:spPr>
          <a:xfrm>
            <a:off x="11430000" y="6419088"/>
            <a:ext cx="36576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9AA2AE"/>
                </a:solidFill>
                <a:latin typeface="Consolas"/>
                <a:ea typeface="Consolas"/>
                <a:cs typeface="Consolas"/>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475488" y="310896"/>
            <a:ext cx="11240719" cy="219456"/>
          </a:xfrm>
          <a:prstGeom prst="rect">
            <a:avLst/>
          </a:prstGeom>
          <a:noFill/>
          <a:ln/>
        </p:spPr>
        <p:txBody>
          <a:bodyPr wrap="square" lIns="0" tIns="0" rIns="0" bIns="0" rtlCol="0" anchor="ctr"/>
          <a:lstStyle/>
          <a:p>
            <a:pPr indent="0" marL="0">
              <a:buNone/>
            </a:pPr>
            <a:r>
              <a:rPr lang="en-US" sz="1050" spc="240" kern="0" dirty="0">
                <a:solidFill>
                  <a:srgbClr val="B8892F"/>
                </a:solidFill>
                <a:latin typeface="Consolas" pitchFamily="34" charset="0"/>
                <a:ea typeface="Consolas" pitchFamily="34" charset="-122"/>
                <a:cs typeface="Consolas" pitchFamily="34" charset="-120"/>
              </a:rPr>
              <a:t>USE CASE 07  ·  ORDER LAYER</a:t>
            </a:r>
            <a:endParaRPr lang="en-US" sz="1050" dirty="0"/>
          </a:p>
        </p:txBody>
      </p:sp>
      <p:sp>
        <p:nvSpPr>
          <p:cNvPr id="3" name="Text 1"/>
          <p:cNvSpPr txBox="1"/>
          <p:nvPr/>
        </p:nvSpPr>
        <p:spPr>
          <a:xfrm>
            <a:off x="475488" y="548640"/>
            <a:ext cx="11240719" cy="566928"/>
          </a:xfrm>
          <a:prstGeom prst="rect">
            <a:avLst/>
          </a:prstGeom>
          <a:noFill/>
          <a:ln/>
        </p:spPr>
        <p:txBody>
          <a:bodyPr wrap="square" lIns="0" tIns="0" rIns="0" bIns="0" rtlCol="0" anchor="t"/>
          <a:lstStyle/>
          <a:p>
            <a:pPr indent="0" marL="0">
              <a:buNone/>
            </a:pPr>
            <a:r>
              <a:rPr lang="en-US" sz="3000" b="1" dirty="0">
                <a:solidFill>
                  <a:srgbClr val="0F1A2B"/>
                </a:solidFill>
                <a:latin typeface="Cambria" pitchFamily="34" charset="0"/>
                <a:ea typeface="Cambria" pitchFamily="34" charset="-122"/>
                <a:cs typeface="Cambria" pitchFamily="34" charset="-120"/>
              </a:rPr>
              <a:t>Orders with multiple tenders or collection obligations</a:t>
            </a:r>
            <a:endParaRPr lang="en-US" sz="3000" dirty="0"/>
          </a:p>
        </p:txBody>
      </p:sp>
      <p:sp>
        <p:nvSpPr>
          <p:cNvPr id="4" name="Text 2"/>
          <p:cNvSpPr txBox="1"/>
          <p:nvPr/>
        </p:nvSpPr>
        <p:spPr>
          <a:xfrm>
            <a:off x="475488" y="1188720"/>
            <a:ext cx="11240719" cy="475488"/>
          </a:xfrm>
          <a:prstGeom prst="rect">
            <a:avLst/>
          </a:prstGeom>
          <a:noFill/>
          <a:ln/>
        </p:spPr>
        <p:txBody>
          <a:bodyPr wrap="square" lIns="0" tIns="0" rIns="0" bIns="0" rtlCol="0" anchor="t"/>
          <a:lstStyle/>
          <a:p>
            <a:pPr indent="0" marL="0">
              <a:buNone/>
            </a:pPr>
            <a:r>
              <a:rPr lang="en-US" sz="1250" dirty="0">
                <a:solidFill>
                  <a:srgbClr val="414A5C"/>
                </a:solidFill>
              </a:rPr>
              <a:t>Where tenders have independent lifecycles, they are independent collection obligations. The Order coordinates the purchase; separate Intents manage the collections.</a:t>
            </a:r>
            <a:endParaRPr lang="en-US" sz="1250" dirty="0"/>
          </a:p>
        </p:txBody>
      </p:sp>
      <p:sp>
        <p:nvSpPr>
          <p:cNvPr id="5" name="Shape 3"/>
          <p:cNvSpPr/>
          <p:nvPr/>
        </p:nvSpPr>
        <p:spPr>
          <a:xfrm>
            <a:off x="475488" y="1737360"/>
            <a:ext cx="11240719" cy="22860"/>
          </a:xfrm>
          <a:prstGeom prst="rect">
            <a:avLst/>
          </a:prstGeom>
          <a:solidFill>
            <a:srgbClr val="B8892F"/>
          </a:solidFill>
          <a:ln w="12700">
            <a:solidFill>
              <a:srgbClr val="B8892F"/>
            </a:solidFill>
            <a:prstDash val="solid"/>
          </a:ln>
        </p:spPr>
      </p:sp>
      <p:sp>
        <p:nvSpPr>
          <p:cNvPr id="6" name="scenario"/>
          <p:cNvSpPr/>
          <p:nvPr/>
        </p:nvSpPr>
        <p:spPr>
          <a:xfrm>
            <a:off x="475488" y="1847088"/>
            <a:ext cx="11240719" cy="566928"/>
          </a:xfrm>
          <a:prstGeom prst="rect">
            <a:avLst/>
          </a:prstGeom>
          <a:solidFill>
            <a:srgbClr val="F4F5F7"/>
          </a:solidFill>
          <a:ln w="6350">
            <a:solidFill>
              <a:srgbClr val="DCD7CB"/>
            </a:solidFill>
            <a:prstDash val="solid"/>
          </a:ln>
        </p:spPr>
      </p:sp>
      <p:sp>
        <p:nvSpPr>
          <p:cNvPr id="7" name="Text 5"/>
          <p:cNvSpPr txBox="1"/>
          <p:nvPr/>
        </p:nvSpPr>
        <p:spPr>
          <a:xfrm>
            <a:off x="603504" y="1911096"/>
            <a:ext cx="868680" cy="182880"/>
          </a:xfrm>
          <a:prstGeom prst="rect">
            <a:avLst/>
          </a:prstGeom>
          <a:noFill/>
          <a:ln/>
        </p:spPr>
        <p:txBody>
          <a:bodyPr wrap="square" lIns="0" tIns="0" rIns="0" bIns="0" rtlCol="0" anchor="ctr"/>
          <a:lstStyle/>
          <a:p>
            <a:pPr indent="0" marL="0">
              <a:buNone/>
            </a:pPr>
            <a:r>
              <a:rPr lang="en-US" sz="850" spc="120" kern="0" dirty="0">
                <a:solidFill>
                  <a:srgbClr val="6B7482"/>
                </a:solidFill>
                <a:latin typeface="Consolas" pitchFamily="34" charset="0"/>
                <a:ea typeface="Consolas" pitchFamily="34" charset="-122"/>
                <a:cs typeface="Consolas" pitchFamily="34" charset="-120"/>
              </a:rPr>
              <a:t>SCENARIO</a:t>
            </a:r>
            <a:endParaRPr lang="en-US" sz="850" dirty="0"/>
          </a:p>
        </p:txBody>
      </p:sp>
      <p:sp>
        <p:nvSpPr>
          <p:cNvPr id="8" name="Text 6"/>
          <p:cNvSpPr txBox="1"/>
          <p:nvPr/>
        </p:nvSpPr>
        <p:spPr>
          <a:xfrm>
            <a:off x="1481328" y="1901952"/>
            <a:ext cx="10088575" cy="457200"/>
          </a:xfrm>
          <a:prstGeom prst="rect">
            <a:avLst/>
          </a:prstGeom>
          <a:noFill/>
          <a:ln/>
        </p:spPr>
        <p:txBody>
          <a:bodyPr wrap="square" lIns="0" tIns="0" rIns="0" bIns="0" rtlCol="0" anchor="t"/>
          <a:lstStyle/>
          <a:p>
            <a:pPr indent="0" marL="0">
              <a:buNone/>
            </a:pPr>
            <a:r>
              <a:rPr lang="en-US" sz="1100" dirty="0">
                <a:solidFill>
                  <a:srgbClr val="1A1F2B"/>
                </a:solidFill>
              </a:rPr>
              <a:t>A </a:t>
            </a:r>
            <a:pPr indent="0" marL="0">
              <a:buNone/>
            </a:pPr>
            <a:r>
              <a:rPr lang="en-US" sz="1100" b="1" dirty="0">
                <a:solidFill>
                  <a:srgbClr val="1A1F2B"/>
                </a:solidFill>
              </a:rPr>
              <a:t>$4,180.00</a:t>
            </a:r>
            <a:pPr indent="0" marL="0">
              <a:buNone/>
            </a:pPr>
            <a:r>
              <a:rPr lang="en-US" sz="1100" dirty="0">
                <a:solidFill>
                  <a:srgbClr val="1A1F2B"/>
                </a:solidFill>
              </a:rPr>
              <a:t> furniture order: a </a:t>
            </a:r>
            <a:pPr indent="0" marL="0">
              <a:buNone/>
            </a:pPr>
            <a:r>
              <a:rPr lang="en-US" sz="1100" b="1" dirty="0">
                <a:solidFill>
                  <a:srgbClr val="1A1F2B"/>
                </a:solidFill>
              </a:rPr>
              <a:t>$500.00</a:t>
            </a:r>
            <a:pPr indent="0" marL="0">
              <a:buNone/>
            </a:pPr>
            <a:r>
              <a:rPr lang="en-US" sz="1100" dirty="0">
                <a:solidFill>
                  <a:srgbClr val="1A1F2B"/>
                </a:solidFill>
              </a:rPr>
              <a:t> non-refundable deposit on the card rail at order time, and the </a:t>
            </a:r>
            <a:pPr indent="0" marL="0">
              <a:buNone/>
            </a:pPr>
            <a:r>
              <a:rPr lang="en-US" sz="1100" b="1" dirty="0">
                <a:solidFill>
                  <a:srgbClr val="1A1F2B"/>
                </a:solidFill>
              </a:rPr>
              <a:t>$3,680.00</a:t>
            </a:r>
            <a:pPr indent="0" marL="0">
              <a:buNone/>
            </a:pPr>
            <a:r>
              <a:rPr lang="en-US" sz="1100" dirty="0">
                <a:solidFill>
                  <a:srgbClr val="1A1F2B"/>
                </a:solidFill>
              </a:rPr>
              <a:t> balance collected by ACH at dispatch nineteen days later. Two rails, two settlement timings, two refundability rules.</a:t>
            </a:r>
            <a:endParaRPr lang="en-US" sz="1100" dirty="0"/>
          </a:p>
        </p:txBody>
      </p:sp>
      <p:sp>
        <p:nvSpPr>
          <p:cNvPr id="9" name="at-attempt-level"/>
          <p:cNvSpPr/>
          <p:nvPr/>
        </p:nvSpPr>
        <p:spPr>
          <a:xfrm>
            <a:off x="475488" y="2542032"/>
            <a:ext cx="5492344" cy="2048256"/>
          </a:xfrm>
          <a:prstGeom prst="rect">
            <a:avLst/>
          </a:prstGeom>
          <a:solidFill>
            <a:srgbClr val="FBEEEE"/>
          </a:solidFill>
          <a:ln w="6350">
            <a:solidFill>
              <a:srgbClr val="DCD7CB"/>
            </a:solidFill>
            <a:prstDash val="solid"/>
          </a:ln>
        </p:spPr>
      </p:sp>
      <p:sp>
        <p:nvSpPr>
          <p:cNvPr id="10" name="Text 8"/>
          <p:cNvSpPr txBox="1"/>
          <p:nvPr/>
        </p:nvSpPr>
        <p:spPr>
          <a:xfrm>
            <a:off x="621792" y="2633472"/>
            <a:ext cx="5199736" cy="182880"/>
          </a:xfrm>
          <a:prstGeom prst="rect">
            <a:avLst/>
          </a:prstGeom>
          <a:noFill/>
          <a:ln/>
        </p:spPr>
        <p:txBody>
          <a:bodyPr wrap="square" lIns="0" tIns="0" rIns="0" bIns="0" rtlCol="0" anchor="ctr"/>
          <a:lstStyle/>
          <a:p>
            <a:pPr indent="0" marL="0">
              <a:buNone/>
            </a:pPr>
            <a:r>
              <a:rPr lang="en-US" sz="950" spc="150" kern="0" dirty="0">
                <a:solidFill>
                  <a:srgbClr val="9B2C2C"/>
                </a:solidFill>
                <a:latin typeface="Consolas" pitchFamily="34" charset="0"/>
                <a:ea typeface="Consolas" pitchFamily="34" charset="-122"/>
                <a:cs typeface="Consolas" pitchFamily="34" charset="-120"/>
              </a:rPr>
              <a:t>AT ATTEMPT LEVEL</a:t>
            </a:r>
            <a:endParaRPr lang="en-US" sz="950" dirty="0"/>
          </a:p>
        </p:txBody>
      </p:sp>
      <p:sp>
        <p:nvSpPr>
          <p:cNvPr id="11" name="Text 9"/>
          <p:cNvSpPr txBox="1"/>
          <p:nvPr/>
        </p:nvSpPr>
        <p:spPr>
          <a:xfrm>
            <a:off x="621792" y="2852928"/>
            <a:ext cx="5199736" cy="1645920"/>
          </a:xfrm>
          <a:prstGeom prst="rect">
            <a:avLst/>
          </a:prstGeom>
          <a:noFill/>
          <a:ln/>
        </p:spPr>
        <p:txBody>
          <a:bodyPr wrap="square" lIns="0" tIns="0" rIns="0" bIns="0" rtlCol="0" anchor="t"/>
          <a:lstStyle/>
          <a:p>
            <a:pPr marL="177800" indent="-177800">
              <a:spcAft>
                <a:spcPts val="500"/>
              </a:spcAft>
              <a:buSzPct val="100000"/>
              <a:buChar char="•"/>
            </a:pPr>
            <a:r>
              <a:rPr lang="en-US" sz="1050" dirty="0">
                <a:solidFill>
                  <a:srgbClr val="1A1F2B"/>
                </a:solidFill>
              </a:rPr>
              <a:t>Two charges nineteen days apart, with nothing linking them to each other or to the order.</a:t>
            </a:r>
            <a:endParaRPr lang="en-US" sz="1050" dirty="0"/>
          </a:p>
          <a:p>
            <a:pPr marL="177800" indent="-177800">
              <a:spcAft>
                <a:spcPts val="500"/>
              </a:spcAft>
              <a:buSzPct val="100000"/>
              <a:buChar char="•"/>
            </a:pPr>
            <a:r>
              <a:rPr lang="en-US" sz="1050" dirty="0">
                <a:solidFill>
                  <a:srgbClr val="1A1F2B"/>
                </a:solidFill>
              </a:rPr>
              <a:t>The deposit's refundability differs from the balance's, and that rule lives only in merchant code.</a:t>
            </a:r>
            <a:endParaRPr lang="en-US" sz="1050" dirty="0"/>
          </a:p>
          <a:p>
            <a:pPr marL="177800" indent="-177800">
              <a:spcAft>
                <a:spcPts val="500"/>
              </a:spcAft>
              <a:buSzPct val="100000"/>
              <a:buChar char="•"/>
            </a:pPr>
            <a:r>
              <a:rPr lang="en-US" sz="1050" b="1" dirty="0">
                <a:solidFill>
                  <a:srgbClr val="1A1F2B"/>
                </a:solidFill>
              </a:rPr>
              <a:t>The two rails have different finality</a:t>
            </a:r>
            <a:pPr indent="0" marL="0">
              <a:spcAft>
                <a:spcPts val="500"/>
              </a:spcAft>
              <a:buNone/>
            </a:pPr>
            <a:r>
              <a:rPr lang="en-US" sz="1050" dirty="0">
                <a:solidFill>
                  <a:srgbClr val="1A1F2B"/>
                </a:solidFill>
              </a:rPr>
              <a:t> — the card deposit is near-immediate, the ACH balance is provisional and returnable.</a:t>
            </a:r>
            <a:endParaRPr lang="en-US" sz="1050" dirty="0"/>
          </a:p>
          <a:p>
            <a:pPr marL="177800" indent="-177800">
              <a:spcAft>
                <a:spcPts val="500"/>
              </a:spcAft>
              <a:buSzPct val="100000"/>
              <a:buChar char="•"/>
            </a:pPr>
            <a:r>
              <a:rPr lang="en-US" sz="1050" dirty="0">
                <a:solidFill>
                  <a:srgbClr val="1A1F2B"/>
                </a:solidFill>
              </a:rPr>
              <a:t>A failed balance collection leaves a deposit taken against an order that will not ship, and nothing models that state.</a:t>
            </a:r>
            <a:endParaRPr lang="en-US" sz="1050" dirty="0"/>
          </a:p>
        </p:txBody>
      </p:sp>
      <p:sp>
        <p:nvSpPr>
          <p:cNvPr id="12" name="with-payment-intent"/>
          <p:cNvSpPr/>
          <p:nvPr/>
        </p:nvSpPr>
        <p:spPr>
          <a:xfrm>
            <a:off x="6223864" y="2542032"/>
            <a:ext cx="5492344" cy="2048256"/>
          </a:xfrm>
          <a:prstGeom prst="rect">
            <a:avLst/>
          </a:prstGeom>
          <a:solidFill>
            <a:srgbClr val="D6E7E4"/>
          </a:solidFill>
          <a:ln w="6350">
            <a:solidFill>
              <a:srgbClr val="DCD7CB"/>
            </a:solidFill>
            <a:prstDash val="solid"/>
          </a:ln>
        </p:spPr>
      </p:sp>
      <p:sp>
        <p:nvSpPr>
          <p:cNvPr id="13" name="Text 11"/>
          <p:cNvSpPr txBox="1"/>
          <p:nvPr/>
        </p:nvSpPr>
        <p:spPr>
          <a:xfrm>
            <a:off x="6370168" y="2633472"/>
            <a:ext cx="5199736" cy="182880"/>
          </a:xfrm>
          <a:prstGeom prst="rect">
            <a:avLst/>
          </a:prstGeom>
          <a:noFill/>
          <a:ln/>
        </p:spPr>
        <p:txBody>
          <a:bodyPr wrap="square" lIns="0" tIns="0" rIns="0" bIns="0" rtlCol="0" anchor="ctr"/>
          <a:lstStyle/>
          <a:p>
            <a:pPr indent="0" marL="0">
              <a:buNone/>
            </a:pPr>
            <a:r>
              <a:rPr lang="en-US" sz="950" spc="150" kern="0" dirty="0">
                <a:solidFill>
                  <a:srgbClr val="26706A"/>
                </a:solidFill>
                <a:latin typeface="Consolas" pitchFamily="34" charset="0"/>
                <a:ea typeface="Consolas" pitchFamily="34" charset="-122"/>
                <a:cs typeface="Consolas" pitchFamily="34" charset="-120"/>
              </a:rPr>
              <a:t>WITH A PAYMENT INTENT</a:t>
            </a:r>
            <a:endParaRPr lang="en-US" sz="950" dirty="0"/>
          </a:p>
        </p:txBody>
      </p:sp>
      <p:sp>
        <p:nvSpPr>
          <p:cNvPr id="14" name="Text 12"/>
          <p:cNvSpPr txBox="1"/>
          <p:nvPr/>
        </p:nvSpPr>
        <p:spPr>
          <a:xfrm>
            <a:off x="6370168" y="2852928"/>
            <a:ext cx="5199736" cy="1645920"/>
          </a:xfrm>
          <a:prstGeom prst="rect">
            <a:avLst/>
          </a:prstGeom>
          <a:noFill/>
          <a:ln/>
        </p:spPr>
        <p:txBody>
          <a:bodyPr wrap="square" lIns="0" tIns="0" rIns="0" bIns="0" rtlCol="0" anchor="t"/>
          <a:lstStyle/>
          <a:p>
            <a:pPr marL="177800" indent="-177800">
              <a:spcAft>
                <a:spcPts val="500"/>
              </a:spcAft>
              <a:buSzPct val="100000"/>
              <a:buChar char="•"/>
            </a:pPr>
            <a:r>
              <a:rPr lang="en-US" sz="1050" b="1" dirty="0">
                <a:solidFill>
                  <a:srgbClr val="1A1F2B"/>
                </a:solidFill>
              </a:rPr>
              <a:t>One Order, two Intents.</a:t>
            </a:r>
            <a:pPr indent="0" marL="0">
              <a:spcAft>
                <a:spcPts val="500"/>
              </a:spcAft>
              <a:buNone/>
            </a:pPr>
            <a:r>
              <a:rPr lang="en-US" sz="1050" dirty="0">
                <a:solidFill>
                  <a:srgbClr val="1A1F2B"/>
                </a:solidFill>
              </a:rPr>
              <a:t> Each has its own lifecycle, policy, rail, refundability and settlement timing.</a:t>
            </a:r>
            <a:endParaRPr lang="en-US" sz="1050" dirty="0"/>
          </a:p>
          <a:p>
            <a:pPr marL="177800" indent="-177800">
              <a:spcAft>
                <a:spcPts val="500"/>
              </a:spcAft>
              <a:buSzPct val="100000"/>
              <a:buChar char="•"/>
            </a:pPr>
            <a:r>
              <a:rPr lang="en-US" sz="1050" dirty="0">
                <a:solidFill>
                  <a:srgbClr val="1A1F2B"/>
                </a:solidFill>
              </a:rPr>
              <a:t>The Order owns the purchase and the total obligation; each Intent owns one collection against it.</a:t>
            </a:r>
            <a:endParaRPr lang="en-US" sz="1050" dirty="0"/>
          </a:p>
          <a:p>
            <a:pPr marL="177800" indent="-177800">
              <a:spcAft>
                <a:spcPts val="500"/>
              </a:spcAft>
              <a:buSzPct val="100000"/>
              <a:buChar char="•"/>
            </a:pPr>
            <a:r>
              <a:rPr lang="en-US" sz="1050" dirty="0">
                <a:solidFill>
                  <a:srgbClr val="1A1F2B"/>
                </a:solidFill>
              </a:rPr>
              <a:t>Each Intent carries its rail's finality as data, so the ACH return path is expressed rather than inferred.</a:t>
            </a:r>
            <a:endParaRPr lang="en-US" sz="1050" dirty="0"/>
          </a:p>
          <a:p>
            <a:pPr marL="177800" indent="-177800">
              <a:spcAft>
                <a:spcPts val="500"/>
              </a:spcAft>
              <a:buSzPct val="100000"/>
              <a:buChar char="•"/>
            </a:pPr>
            <a:r>
              <a:rPr lang="en-US" sz="1050" b="1" dirty="0">
                <a:solidFill>
                  <a:srgbClr val="1A1F2B"/>
                </a:solidFill>
              </a:rPr>
              <a:t>Contrast a single checkout</a:t>
            </a:r>
            <a:pPr indent="0" marL="0">
              <a:spcAft>
                <a:spcPts val="500"/>
              </a:spcAft>
              <a:buNone/>
            </a:pPr>
            <a:r>
              <a:rPr lang="en-US" sz="1050" dirty="0">
                <a:solidFill>
                  <a:srgbClr val="1A1F2B"/>
                </a:solidFill>
              </a:rPr>
              <a:t> paid by gift card plus points plus card: those resolve together, so they are legs of </a:t>
            </a:r>
            <a:pPr indent="0" marL="0">
              <a:spcAft>
                <a:spcPts val="500"/>
              </a:spcAft>
              <a:buNone/>
            </a:pPr>
            <a:r>
              <a:rPr lang="en-US" sz="1050" i="1" dirty="0">
                <a:solidFill>
                  <a:srgbClr val="1A1F2B"/>
                </a:solidFill>
              </a:rPr>
              <a:t>one</a:t>
            </a:r>
            <a:pPr indent="0" marL="0">
              <a:spcAft>
                <a:spcPts val="500"/>
              </a:spcAft>
              <a:buNone/>
            </a:pPr>
            <a:r>
              <a:rPr lang="en-US" sz="1050" dirty="0">
                <a:solidFill>
                  <a:srgbClr val="1A1F2B"/>
                </a:solidFill>
              </a:rPr>
              <a:t> Intent.</a:t>
            </a:r>
            <a:endParaRPr lang="en-US" sz="1050" dirty="0"/>
          </a:p>
        </p:txBody>
      </p:sp>
      <p:sp>
        <p:nvSpPr>
          <p:cNvPr id="15" name="owns-0"/>
          <p:cNvSpPr/>
          <p:nvPr/>
        </p:nvSpPr>
        <p:spPr>
          <a:xfrm>
            <a:off x="475488" y="4700016"/>
            <a:ext cx="3637178" cy="731520"/>
          </a:xfrm>
          <a:prstGeom prst="rect">
            <a:avLst/>
          </a:prstGeom>
          <a:solidFill>
            <a:srgbClr val="FBFAF7"/>
          </a:solidFill>
          <a:ln w="6350">
            <a:solidFill>
              <a:srgbClr val="DCD7CB"/>
            </a:solidFill>
            <a:prstDash val="solid"/>
          </a:ln>
        </p:spPr>
      </p:sp>
      <p:sp>
        <p:nvSpPr>
          <p:cNvPr id="16" name="Text 14"/>
          <p:cNvSpPr txBox="1"/>
          <p:nvPr/>
        </p:nvSpPr>
        <p:spPr>
          <a:xfrm>
            <a:off x="594360" y="4773168"/>
            <a:ext cx="3399434" cy="173736"/>
          </a:xfrm>
          <a:prstGeom prst="rect">
            <a:avLst/>
          </a:prstGeom>
          <a:noFill/>
          <a:ln/>
        </p:spPr>
        <p:txBody>
          <a:bodyPr wrap="square" lIns="0" tIns="0" rIns="0" bIns="0" rtlCol="0" anchor="ctr"/>
          <a:lstStyle/>
          <a:p>
            <a:pPr indent="0" marL="0">
              <a:buNone/>
            </a:pPr>
            <a:r>
              <a:rPr lang="en-US" sz="850" spc="120" kern="0" dirty="0">
                <a:solidFill>
                  <a:srgbClr val="B8892F"/>
                </a:solidFill>
                <a:latin typeface="Consolas" pitchFamily="34" charset="0"/>
                <a:ea typeface="Consolas" pitchFamily="34" charset="-122"/>
                <a:cs typeface="Consolas" pitchFamily="34" charset="-120"/>
              </a:rPr>
              <a:t>ORDER OWNS</a:t>
            </a:r>
            <a:endParaRPr lang="en-US" sz="850" dirty="0"/>
          </a:p>
        </p:txBody>
      </p:sp>
      <p:sp>
        <p:nvSpPr>
          <p:cNvPr id="17" name="Text 15"/>
          <p:cNvSpPr txBox="1"/>
          <p:nvPr/>
        </p:nvSpPr>
        <p:spPr>
          <a:xfrm>
            <a:off x="594360" y="4965192"/>
            <a:ext cx="3399434" cy="393192"/>
          </a:xfrm>
          <a:prstGeom prst="rect">
            <a:avLst/>
          </a:prstGeom>
          <a:noFill/>
          <a:ln/>
        </p:spPr>
        <p:txBody>
          <a:bodyPr wrap="square" lIns="0" tIns="0" rIns="0" bIns="0" rtlCol="0" anchor="t"/>
          <a:lstStyle/>
          <a:p>
            <a:pPr indent="0" marL="0">
              <a:buNone/>
            </a:pPr>
            <a:r>
              <a:rPr lang="en-US" sz="1000" dirty="0">
                <a:solidFill>
                  <a:srgbClr val="1A1F2B"/>
                </a:solidFill>
              </a:rPr>
              <a:t>The purchase, line items, total obligation, and coordination between separate collections.</a:t>
            </a:r>
            <a:endParaRPr lang="en-US" sz="1000" dirty="0"/>
          </a:p>
        </p:txBody>
      </p:sp>
      <p:sp>
        <p:nvSpPr>
          <p:cNvPr id="18" name="owns-1"/>
          <p:cNvSpPr/>
          <p:nvPr/>
        </p:nvSpPr>
        <p:spPr>
          <a:xfrm>
            <a:off x="4277258" y="4700016"/>
            <a:ext cx="3637178" cy="731520"/>
          </a:xfrm>
          <a:prstGeom prst="rect">
            <a:avLst/>
          </a:prstGeom>
          <a:solidFill>
            <a:srgbClr val="FBFAF7"/>
          </a:solidFill>
          <a:ln w="6350">
            <a:solidFill>
              <a:srgbClr val="DCD7CB"/>
            </a:solidFill>
            <a:prstDash val="solid"/>
          </a:ln>
        </p:spPr>
      </p:sp>
      <p:sp>
        <p:nvSpPr>
          <p:cNvPr id="19" name="Text 17"/>
          <p:cNvSpPr txBox="1"/>
          <p:nvPr/>
        </p:nvSpPr>
        <p:spPr>
          <a:xfrm>
            <a:off x="4396130" y="4773168"/>
            <a:ext cx="3399434" cy="173736"/>
          </a:xfrm>
          <a:prstGeom prst="rect">
            <a:avLst/>
          </a:prstGeom>
          <a:noFill/>
          <a:ln/>
        </p:spPr>
        <p:txBody>
          <a:bodyPr wrap="square" lIns="0" tIns="0" rIns="0" bIns="0" rtlCol="0" anchor="ctr"/>
          <a:lstStyle/>
          <a:p>
            <a:pPr indent="0" marL="0">
              <a:buNone/>
            </a:pPr>
            <a:r>
              <a:rPr lang="en-US" sz="850" spc="120" kern="0" dirty="0">
                <a:solidFill>
                  <a:srgbClr val="B8892F"/>
                </a:solidFill>
                <a:latin typeface="Consolas" pitchFamily="34" charset="0"/>
                <a:ea typeface="Consolas" pitchFamily="34" charset="-122"/>
                <a:cs typeface="Consolas" pitchFamily="34" charset="-120"/>
              </a:rPr>
              <a:t>PAYMENT INTENT OWNS</a:t>
            </a:r>
            <a:endParaRPr lang="en-US" sz="850" dirty="0"/>
          </a:p>
        </p:txBody>
      </p:sp>
      <p:sp>
        <p:nvSpPr>
          <p:cNvPr id="20" name="Text 18"/>
          <p:cNvSpPr txBox="1"/>
          <p:nvPr/>
        </p:nvSpPr>
        <p:spPr>
          <a:xfrm>
            <a:off x="4396130" y="4965192"/>
            <a:ext cx="3399434" cy="393192"/>
          </a:xfrm>
          <a:prstGeom prst="rect">
            <a:avLst/>
          </a:prstGeom>
          <a:noFill/>
          <a:ln/>
        </p:spPr>
        <p:txBody>
          <a:bodyPr wrap="square" lIns="0" tIns="0" rIns="0" bIns="0" rtlCol="0" anchor="t"/>
          <a:lstStyle/>
          <a:p>
            <a:pPr indent="0" marL="0">
              <a:buNone/>
            </a:pPr>
            <a:r>
              <a:rPr lang="en-US" sz="1000" dirty="0">
                <a:solidFill>
                  <a:srgbClr val="1A1F2B"/>
                </a:solidFill>
              </a:rPr>
              <a:t>One collection obligation with one lifecycle and one rail — deposit or balance, never both.</a:t>
            </a:r>
            <a:endParaRPr lang="en-US" sz="1000" dirty="0"/>
          </a:p>
        </p:txBody>
      </p:sp>
      <p:sp>
        <p:nvSpPr>
          <p:cNvPr id="21" name="owns-2"/>
          <p:cNvSpPr/>
          <p:nvPr/>
        </p:nvSpPr>
        <p:spPr>
          <a:xfrm>
            <a:off x="8079029" y="4700016"/>
            <a:ext cx="3637178" cy="731520"/>
          </a:xfrm>
          <a:prstGeom prst="rect">
            <a:avLst/>
          </a:prstGeom>
          <a:solidFill>
            <a:srgbClr val="FBFAF7"/>
          </a:solidFill>
          <a:ln w="6350">
            <a:solidFill>
              <a:srgbClr val="DCD7CB"/>
            </a:solidFill>
            <a:prstDash val="solid"/>
          </a:ln>
        </p:spPr>
      </p:sp>
      <p:sp>
        <p:nvSpPr>
          <p:cNvPr id="22" name="Text 20"/>
          <p:cNvSpPr txBox="1"/>
          <p:nvPr/>
        </p:nvSpPr>
        <p:spPr>
          <a:xfrm>
            <a:off x="8197901" y="4773168"/>
            <a:ext cx="3399434" cy="173736"/>
          </a:xfrm>
          <a:prstGeom prst="rect">
            <a:avLst/>
          </a:prstGeom>
          <a:noFill/>
          <a:ln/>
        </p:spPr>
        <p:txBody>
          <a:bodyPr wrap="square" lIns="0" tIns="0" rIns="0" bIns="0" rtlCol="0" anchor="ctr"/>
          <a:lstStyle/>
          <a:p>
            <a:pPr indent="0" marL="0">
              <a:buNone/>
            </a:pPr>
            <a:r>
              <a:rPr lang="en-US" sz="850" spc="120" kern="0" dirty="0">
                <a:solidFill>
                  <a:srgbClr val="B8892F"/>
                </a:solidFill>
                <a:latin typeface="Consolas" pitchFamily="34" charset="0"/>
                <a:ea typeface="Consolas" pitchFamily="34" charset="-122"/>
                <a:cs typeface="Consolas" pitchFamily="34" charset="-120"/>
              </a:rPr>
              <a:t>PAYMENT ATTEMPT OWNS</a:t>
            </a:r>
            <a:endParaRPr lang="en-US" sz="850" dirty="0"/>
          </a:p>
        </p:txBody>
      </p:sp>
      <p:sp>
        <p:nvSpPr>
          <p:cNvPr id="23" name="Text 21"/>
          <p:cNvSpPr txBox="1"/>
          <p:nvPr/>
        </p:nvSpPr>
        <p:spPr>
          <a:xfrm>
            <a:off x="8197901" y="4965192"/>
            <a:ext cx="3399434" cy="393192"/>
          </a:xfrm>
          <a:prstGeom prst="rect">
            <a:avLst/>
          </a:prstGeom>
          <a:noFill/>
          <a:ln/>
        </p:spPr>
        <p:txBody>
          <a:bodyPr wrap="square" lIns="0" tIns="0" rIns="0" bIns="0" rtlCol="0" anchor="t"/>
          <a:lstStyle/>
          <a:p>
            <a:pPr indent="0" marL="0">
              <a:buNone/>
            </a:pPr>
            <a:r>
              <a:rPr lang="en-US" sz="1000" dirty="0">
                <a:solidFill>
                  <a:srgbClr val="1A1F2B"/>
                </a:solidFill>
              </a:rPr>
              <a:t>Each execution within whichever Intent it belongs to.</a:t>
            </a:r>
            <a:endParaRPr lang="en-US" sz="1000" dirty="0"/>
          </a:p>
        </p:txBody>
      </p:sp>
      <p:sp>
        <p:nvSpPr>
          <p:cNvPr id="24" name="takeaway"/>
          <p:cNvSpPr/>
          <p:nvPr/>
        </p:nvSpPr>
        <p:spPr>
          <a:xfrm>
            <a:off x="475488" y="5541264"/>
            <a:ext cx="11240719" cy="768096"/>
          </a:xfrm>
          <a:prstGeom prst="rect">
            <a:avLst/>
          </a:prstGeom>
          <a:solidFill>
            <a:srgbClr val="0F1A2B"/>
          </a:solidFill>
          <a:ln w="12700">
            <a:solidFill>
              <a:srgbClr val="333333"/>
            </a:solidFill>
            <a:prstDash val="solid"/>
          </a:ln>
        </p:spPr>
      </p:sp>
      <p:sp>
        <p:nvSpPr>
          <p:cNvPr id="25" name="Text 23"/>
          <p:cNvSpPr txBox="1"/>
          <p:nvPr/>
        </p:nvSpPr>
        <p:spPr>
          <a:xfrm>
            <a:off x="640080" y="5623560"/>
            <a:ext cx="10911535" cy="182880"/>
          </a:xfrm>
          <a:prstGeom prst="rect">
            <a:avLst/>
          </a:prstGeom>
          <a:noFill/>
          <a:ln/>
        </p:spPr>
        <p:txBody>
          <a:bodyPr wrap="square" lIns="0" tIns="0" rIns="0" bIns="0" rtlCol="0" anchor="ctr"/>
          <a:lstStyle/>
          <a:p>
            <a:pPr indent="0" marL="0">
              <a:buNone/>
            </a:pPr>
            <a:r>
              <a:rPr lang="en-US" sz="900" spc="160" kern="0" dirty="0">
                <a:solidFill>
                  <a:srgbClr val="D9A03C"/>
                </a:solidFill>
                <a:latin typeface="Consolas" pitchFamily="34" charset="0"/>
                <a:ea typeface="Consolas" pitchFamily="34" charset="-122"/>
                <a:cs typeface="Consolas" pitchFamily="34" charset="-120"/>
              </a:rPr>
              <a:t>TAKEAWAY</a:t>
            </a:r>
            <a:endParaRPr lang="en-US" sz="900" dirty="0"/>
          </a:p>
        </p:txBody>
      </p:sp>
      <p:sp>
        <p:nvSpPr>
          <p:cNvPr id="26" name="Text 24"/>
          <p:cNvSpPr txBox="1"/>
          <p:nvPr/>
        </p:nvSpPr>
        <p:spPr>
          <a:xfrm>
            <a:off x="640080" y="5815584"/>
            <a:ext cx="10911535" cy="438912"/>
          </a:xfrm>
          <a:prstGeom prst="rect">
            <a:avLst/>
          </a:prstGeom>
          <a:noFill/>
          <a:ln/>
        </p:spPr>
        <p:txBody>
          <a:bodyPr wrap="square" lIns="0" tIns="0" rIns="0" bIns="0" rtlCol="0" anchor="t"/>
          <a:lstStyle/>
          <a:p>
            <a:pPr indent="0" marL="0">
              <a:buNone/>
            </a:pPr>
            <a:r>
              <a:rPr lang="en-US" sz="1150" b="1" dirty="0">
                <a:solidFill>
                  <a:srgbClr val="E8D9B4"/>
                </a:solidFill>
              </a:rPr>
              <a:t>The rule to state explicitly:</a:t>
            </a:r>
            <a:pPr indent="0" marL="0">
              <a:buNone/>
            </a:pPr>
            <a:r>
              <a:rPr lang="en-US" sz="1150" dirty="0">
                <a:solidFill>
                  <a:srgbClr val="F2EEE4"/>
                </a:solidFill>
              </a:rPr>
              <a:t> tenders that resolve together are legs of one Intent; collections with independent lifecycles are separate Intents under one Order. Leave it unstated and implementations will pick one and get the other wrong.</a:t>
            </a:r>
            <a:endParaRPr lang="en-US" sz="1150" dirty="0"/>
          </a:p>
        </p:txBody>
      </p:sp>
      <p:sp>
        <p:nvSpPr>
          <p:cNvPr id="25" name="Slide Number Placeholder 0"/>
          <p:cNvSpPr>
            <a:spLocks noGrp="1"/>
          </p:cNvSpPr>
          <p:nvPr>
            <p:ph type="sldNum" sz="quarter" idx="4294967295"/>
          </p:nvPr>
        </p:nvSpPr>
        <p:spPr>
          <a:xfrm>
            <a:off x="11430000" y="6419088"/>
            <a:ext cx="36576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9AA2AE"/>
                </a:solidFill>
                <a:latin typeface="Consolas"/>
                <a:ea typeface="Consolas"/>
                <a:cs typeface="Consolas"/>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475488" y="310896"/>
            <a:ext cx="11240719" cy="219456"/>
          </a:xfrm>
          <a:prstGeom prst="rect">
            <a:avLst/>
          </a:prstGeom>
          <a:noFill/>
          <a:ln/>
        </p:spPr>
        <p:txBody>
          <a:bodyPr wrap="square" lIns="0" tIns="0" rIns="0" bIns="0" rtlCol="0" anchor="ctr"/>
          <a:lstStyle/>
          <a:p>
            <a:pPr indent="0" marL="0">
              <a:buNone/>
            </a:pPr>
            <a:r>
              <a:rPr lang="en-US" sz="1050" spc="240" kern="0" dirty="0">
                <a:solidFill>
                  <a:srgbClr val="B8892F"/>
                </a:solidFill>
                <a:latin typeface="Consolas" pitchFamily="34" charset="0"/>
                <a:ea typeface="Consolas" pitchFamily="34" charset="-122"/>
                <a:cs typeface="Consolas" pitchFamily="34" charset="-120"/>
              </a:rPr>
              <a:t>LIFECYCLE</a:t>
            </a:r>
            <a:endParaRPr lang="en-US" sz="1050" dirty="0"/>
          </a:p>
        </p:txBody>
      </p:sp>
      <p:sp>
        <p:nvSpPr>
          <p:cNvPr id="3" name="Text 1"/>
          <p:cNvSpPr txBox="1"/>
          <p:nvPr/>
        </p:nvSpPr>
        <p:spPr>
          <a:xfrm>
            <a:off x="475488" y="548640"/>
            <a:ext cx="11240719" cy="566928"/>
          </a:xfrm>
          <a:prstGeom prst="rect">
            <a:avLst/>
          </a:prstGeom>
          <a:noFill/>
          <a:ln/>
        </p:spPr>
        <p:txBody>
          <a:bodyPr wrap="square" lIns="0" tIns="0" rIns="0" bIns="0" rtlCol="0" anchor="t"/>
          <a:lstStyle/>
          <a:p>
            <a:pPr indent="0" marL="0">
              <a:buNone/>
            </a:pPr>
            <a:r>
              <a:rPr lang="en-US" sz="3000" b="1" dirty="0">
                <a:solidFill>
                  <a:srgbClr val="0F1A2B"/>
                </a:solidFill>
                <a:latin typeface="Cambria" pitchFamily="34" charset="0"/>
                <a:ea typeface="Cambria" pitchFamily="34" charset="-122"/>
                <a:cs typeface="Cambria" pitchFamily="34" charset="-120"/>
              </a:rPr>
              <a:t>The Intent state machine stays small on purpose</a:t>
            </a:r>
            <a:endParaRPr lang="en-US" sz="3000" dirty="0"/>
          </a:p>
        </p:txBody>
      </p:sp>
      <p:sp>
        <p:nvSpPr>
          <p:cNvPr id="4" name="Text 2"/>
          <p:cNvSpPr txBox="1"/>
          <p:nvPr/>
        </p:nvSpPr>
        <p:spPr>
          <a:xfrm>
            <a:off x="475488" y="1188720"/>
            <a:ext cx="11240719" cy="475488"/>
          </a:xfrm>
          <a:prstGeom prst="rect">
            <a:avLst/>
          </a:prstGeom>
          <a:noFill/>
          <a:ln/>
        </p:spPr>
        <p:txBody>
          <a:bodyPr wrap="square" lIns="0" tIns="0" rIns="0" bIns="0" rtlCol="0" anchor="t"/>
          <a:lstStyle/>
          <a:p>
            <a:pPr indent="0" marL="0">
              <a:buNone/>
            </a:pPr>
            <a:r>
              <a:rPr lang="en-US" sz="1250" dirty="0">
                <a:solidFill>
                  <a:srgbClr val="414A5C"/>
                </a:solidFill>
              </a:rPr>
              <a:t>Do not try to represent every processor outcome as an Intent status. Expose a compact, client-meaningful lifecycle and keep detailed execution state on attempts and operation records.</a:t>
            </a:r>
            <a:endParaRPr lang="en-US" sz="1250" dirty="0"/>
          </a:p>
        </p:txBody>
      </p:sp>
      <p:sp>
        <p:nvSpPr>
          <p:cNvPr id="5" name="Shape 3"/>
          <p:cNvSpPr/>
          <p:nvPr/>
        </p:nvSpPr>
        <p:spPr>
          <a:xfrm>
            <a:off x="475488" y="1737360"/>
            <a:ext cx="11240719" cy="22860"/>
          </a:xfrm>
          <a:prstGeom prst="rect">
            <a:avLst/>
          </a:prstGeom>
          <a:solidFill>
            <a:srgbClr val="B8892F"/>
          </a:solidFill>
          <a:ln w="12700">
            <a:solidFill>
              <a:srgbClr val="B8892F"/>
            </a:solidFill>
            <a:prstDash val="solid"/>
          </a:ln>
        </p:spPr>
      </p:sp>
      <p:graphicFrame>
        <p:nvGraphicFramePr>
          <p:cNvPr id="13" name="state-table"/>
          <p:cNvGraphicFramePr>
            <a:graphicFrameLocks noGrp="1"/>
          </p:cNvGraphicFramePr>
          <p:nvPr>
            <p:extLst>
              <p:ext uri="{D42A27DB-BD31-4B8C-83A1-F6EECF244321}">
                <p14:modId xmlns:p14="http://schemas.microsoft.com/office/powerpoint/2010/main" val="1579011935"/>
              </p:ext>
            </p:extLst>
          </p:nvPr>
        </p:nvGraphicFramePr>
        <p:xfrm>
          <a:off x="475488" y="1920240"/>
          <a:ext cx="11240719" cy="914400"/>
        </p:xfrm>
        <a:graphic>
          <a:graphicData uri="http://schemas.openxmlformats.org/drawingml/2006/table">
            <a:tbl>
              <a:tblPr/>
              <a:tblGrid>
                <a:gridCol w="2651760"/>
                <a:gridCol w="4572000"/>
                <a:gridCol w="4016959"/>
              </a:tblGrid>
              <a:tr h="274320">
                <a:tc>
                  <a:txBody>
                    <a:bodyPr/>
                    <a:lstStyle/>
                    <a:p>
                      <a:pPr indent="0" marL="0">
                        <a:buNone/>
                      </a:pPr>
                      <a:r>
                        <a:rPr lang="en-US" sz="950" b="1" spc="60" kern="0" dirty="0">
                          <a:solidFill>
                            <a:srgbClr val="F2EEE4"/>
                          </a:solidFill>
                          <a:latin typeface="Calibri" pitchFamily="34" charset="0"/>
                          <a:ea typeface="Calibri" pitchFamily="34" charset="-122"/>
                          <a:cs typeface="Calibri" pitchFamily="34" charset="-120"/>
                        </a:rPr>
                        <a:t>INTENT STATE</a:t>
                      </a:r>
                      <a:endParaRPr lang="en-US" sz="950" dirty="0">
                        <a:latin typeface="Calibri" charset="0"/>
                        <a:ea typeface="Calibri" charset="0"/>
                        <a:cs typeface="Calibri" charset="0"/>
                      </a:endParaRPr>
                    </a:p>
                  </a:txBody>
                  <a:tcPr marL="91440" marR="91440" marT="45720" marB="45720" anchor="ctr">
                    <a:lnL w="6350" cap="flat" cmpd="sng" algn="ctr">
                      <a:solidFill>
                        <a:srgbClr val="EAE6DC"/>
                      </a:solidFill>
                      <a:prstDash val="solid"/>
                      <a:round/>
                      <a:headEnd type="none" w="med" len="med"/>
                      <a:tailEnd type="none" w="med" len="med"/>
                    </a:lnL>
                    <a:lnR w="6350" cap="flat" cmpd="sng" algn="ctr">
                      <a:solidFill>
                        <a:srgbClr val="EAE6DC"/>
                      </a:solidFill>
                      <a:prstDash val="solid"/>
                      <a:round/>
                      <a:headEnd type="none" w="med" len="med"/>
                      <a:tailEnd type="none" w="med" len="med"/>
                    </a:lnR>
                    <a:lnT w="6350" cap="flat" cmpd="sng" algn="ctr">
                      <a:solidFill>
                        <a:srgbClr val="EAE6DC"/>
                      </a:solidFill>
                      <a:prstDash val="solid"/>
                      <a:round/>
                      <a:headEnd type="none" w="med" len="med"/>
                      <a:tailEnd type="none" w="med" len="med"/>
                    </a:lnT>
                    <a:lnB w="6350" cap="flat" cmpd="sng" algn="ctr">
                      <a:solidFill>
                        <a:srgbClr val="EAE6DC"/>
                      </a:solidFill>
                      <a:prstDash val="solid"/>
                      <a:round/>
                      <a:headEnd type="none" w="med" len="med"/>
                      <a:tailEnd type="none" w="med" len="med"/>
                    </a:lnB>
                    <a:solidFill>
                      <a:srgbClr val="0F1A2B"/>
                    </a:solidFill>
                  </a:tcPr>
                </a:tc>
                <a:tc>
                  <a:txBody>
                    <a:bodyPr/>
                    <a:lstStyle/>
                    <a:p>
                      <a:pPr indent="0" marL="0">
                        <a:buNone/>
                      </a:pPr>
                      <a:r>
                        <a:rPr lang="en-US" sz="950" b="1" spc="60" kern="0" dirty="0">
                          <a:solidFill>
                            <a:srgbClr val="F2EEE4"/>
                          </a:solidFill>
                          <a:latin typeface="Calibri" pitchFamily="34" charset="0"/>
                          <a:ea typeface="Calibri" pitchFamily="34" charset="-122"/>
                          <a:cs typeface="Calibri" pitchFamily="34" charset="-120"/>
                        </a:rPr>
                        <a:t>MEANING</a:t>
                      </a:r>
                      <a:endParaRPr lang="en-US" sz="950" dirty="0">
                        <a:latin typeface="Calibri" charset="0"/>
                        <a:ea typeface="Calibri" charset="0"/>
                        <a:cs typeface="Calibri" charset="0"/>
                      </a:endParaRPr>
                    </a:p>
                  </a:txBody>
                  <a:tcPr marL="91440" marR="91440" marT="45720" marB="45720" anchor="ctr">
                    <a:lnL w="6350" cap="flat" cmpd="sng" algn="ctr">
                      <a:solidFill>
                        <a:srgbClr val="EAE6DC"/>
                      </a:solidFill>
                      <a:prstDash val="solid"/>
                      <a:round/>
                      <a:headEnd type="none" w="med" len="med"/>
                      <a:tailEnd type="none" w="med" len="med"/>
                    </a:lnL>
                    <a:lnR w="6350" cap="flat" cmpd="sng" algn="ctr">
                      <a:solidFill>
                        <a:srgbClr val="EAE6DC"/>
                      </a:solidFill>
                      <a:prstDash val="solid"/>
                      <a:round/>
                      <a:headEnd type="none" w="med" len="med"/>
                      <a:tailEnd type="none" w="med" len="med"/>
                    </a:lnR>
                    <a:lnT w="6350" cap="flat" cmpd="sng" algn="ctr">
                      <a:solidFill>
                        <a:srgbClr val="EAE6DC"/>
                      </a:solidFill>
                      <a:prstDash val="solid"/>
                      <a:round/>
                      <a:headEnd type="none" w="med" len="med"/>
                      <a:tailEnd type="none" w="med" len="med"/>
                    </a:lnT>
                    <a:lnB w="6350" cap="flat" cmpd="sng" algn="ctr">
                      <a:solidFill>
                        <a:srgbClr val="EAE6DC"/>
                      </a:solidFill>
                      <a:prstDash val="solid"/>
                      <a:round/>
                      <a:headEnd type="none" w="med" len="med"/>
                      <a:tailEnd type="none" w="med" len="med"/>
                    </a:lnB>
                    <a:solidFill>
                      <a:srgbClr val="0F1A2B"/>
                    </a:solidFill>
                  </a:tcPr>
                </a:tc>
                <a:tc>
                  <a:txBody>
                    <a:bodyPr/>
                    <a:lstStyle/>
                    <a:p>
                      <a:pPr indent="0" marL="0">
                        <a:buNone/>
                      </a:pPr>
                      <a:r>
                        <a:rPr lang="en-US" sz="950" b="1" spc="60" kern="0" dirty="0">
                          <a:solidFill>
                            <a:srgbClr val="F2EEE4"/>
                          </a:solidFill>
                          <a:latin typeface="Calibri" pitchFamily="34" charset="0"/>
                          <a:ea typeface="Calibri" pitchFamily="34" charset="-122"/>
                          <a:cs typeface="Calibri" pitchFamily="34" charset="-120"/>
                        </a:rPr>
                        <a:t>TYPICAL NEXT ACTION</a:t>
                      </a:r>
                      <a:endParaRPr lang="en-US" sz="950" dirty="0">
                        <a:latin typeface="Calibri" charset="0"/>
                        <a:ea typeface="Calibri" charset="0"/>
                        <a:cs typeface="Calibri" charset="0"/>
                      </a:endParaRPr>
                    </a:p>
                  </a:txBody>
                  <a:tcPr marL="91440" marR="91440" marT="45720" marB="45720" anchor="ctr">
                    <a:lnL w="6350" cap="flat" cmpd="sng" algn="ctr">
                      <a:solidFill>
                        <a:srgbClr val="EAE6DC"/>
                      </a:solidFill>
                      <a:prstDash val="solid"/>
                      <a:round/>
                      <a:headEnd type="none" w="med" len="med"/>
                      <a:tailEnd type="none" w="med" len="med"/>
                    </a:lnL>
                    <a:lnR w="6350" cap="flat" cmpd="sng" algn="ctr">
                      <a:solidFill>
                        <a:srgbClr val="EAE6DC"/>
                      </a:solidFill>
                      <a:prstDash val="solid"/>
                      <a:round/>
                      <a:headEnd type="none" w="med" len="med"/>
                      <a:tailEnd type="none" w="med" len="med"/>
                    </a:lnR>
                    <a:lnT w="6350" cap="flat" cmpd="sng" algn="ctr">
                      <a:solidFill>
                        <a:srgbClr val="EAE6DC"/>
                      </a:solidFill>
                      <a:prstDash val="solid"/>
                      <a:round/>
                      <a:headEnd type="none" w="med" len="med"/>
                      <a:tailEnd type="none" w="med" len="med"/>
                    </a:lnT>
                    <a:lnB w="6350" cap="flat" cmpd="sng" algn="ctr">
                      <a:solidFill>
                        <a:srgbClr val="EAE6DC"/>
                      </a:solidFill>
                      <a:prstDash val="solid"/>
                      <a:round/>
                      <a:headEnd type="none" w="med" len="med"/>
                      <a:tailEnd type="none" w="med" len="med"/>
                    </a:lnB>
                    <a:solidFill>
                      <a:srgbClr val="0F1A2B"/>
                    </a:solidFill>
                  </a:tcPr>
                </a:tc>
              </a:tr>
              <a:tr h="274320">
                <a:tc>
                  <a:txBody>
                    <a:bodyPr/>
                    <a:lstStyle/>
                    <a:p>
                      <a:pPr indent="0" marL="0">
                        <a:buNone/>
                      </a:pPr>
                      <a:r>
                        <a:rPr lang="en-US" sz="1000" dirty="0">
                          <a:solidFill>
                            <a:srgbClr val="1A1F2B"/>
                          </a:solidFill>
                          <a:latin typeface="Consolas" pitchFamily="34" charset="0"/>
                          <a:ea typeface="Consolas" pitchFamily="34" charset="-122"/>
                          <a:cs typeface="Consolas" pitchFamily="34" charset="-120"/>
                        </a:rPr>
                        <a:t>requires_payment_method</a:t>
                      </a:r>
                      <a:endParaRPr lang="en-US" sz="1000" dirty="0">
                        <a:latin typeface="Consolas" charset="0"/>
                        <a:ea typeface="Consolas" charset="0"/>
                        <a:cs typeface="Consolas" charset="0"/>
                      </a:endParaRPr>
                    </a:p>
                  </a:txBody>
                  <a:tcPr marL="91440" marR="91440" marT="45720" marB="45720" anchor="t">
                    <a:lnL w="6350" cap="flat" cmpd="sng" algn="ctr">
                      <a:solidFill>
                        <a:srgbClr val="EAE6DC"/>
                      </a:solidFill>
                      <a:prstDash val="solid"/>
                      <a:round/>
                      <a:headEnd type="none" w="med" len="med"/>
                      <a:tailEnd type="none" w="med" len="med"/>
                    </a:lnL>
                    <a:lnR w="6350" cap="flat" cmpd="sng" algn="ctr">
                      <a:solidFill>
                        <a:srgbClr val="EAE6DC"/>
                      </a:solidFill>
                      <a:prstDash val="solid"/>
                      <a:round/>
                      <a:headEnd type="none" w="med" len="med"/>
                      <a:tailEnd type="none" w="med" len="med"/>
                    </a:lnR>
                    <a:lnT w="6350" cap="flat" cmpd="sng" algn="ctr">
                      <a:solidFill>
                        <a:srgbClr val="EAE6DC"/>
                      </a:solidFill>
                      <a:prstDash val="solid"/>
                      <a:round/>
                      <a:headEnd type="none" w="med" len="med"/>
                      <a:tailEnd type="none" w="med" len="med"/>
                    </a:lnT>
                    <a:lnB w="6350" cap="flat" cmpd="sng" algn="ctr">
                      <a:solidFill>
                        <a:srgbClr val="EAE6DC"/>
                      </a:solidFill>
                      <a:prstDash val="solid"/>
                      <a:round/>
                      <a:headEnd type="none" w="med" len="med"/>
                      <a:tailEnd type="none" w="med" len="med"/>
                    </a:lnB>
                  </a:tcPr>
                </a:tc>
                <a:tc>
                  <a:txBody>
                    <a:bodyPr/>
                    <a:lstStyle/>
                    <a:p>
                      <a:pPr indent="0" marL="0">
                        <a:buNone/>
                      </a:pPr>
                      <a:r>
                        <a:rPr lang="en-US" sz="1100" dirty="0">
                          <a:solidFill>
                            <a:srgbClr val="1A1F2B"/>
                          </a:solidFill>
                          <a:latin typeface="Calibri" pitchFamily="34" charset="0"/>
                          <a:ea typeface="Calibri" pitchFamily="34" charset="-122"/>
                          <a:cs typeface="Calibri" pitchFamily="34" charset="-120"/>
                        </a:rPr>
                        <a:t>No usable payment method is currently available</a:t>
                      </a:r>
                      <a:endParaRPr lang="en-US" sz="1100" dirty="0">
                        <a:latin typeface="Calibri" charset="0"/>
                        <a:ea typeface="Calibri" charset="0"/>
                        <a:cs typeface="Calibri" charset="0"/>
                      </a:endParaRPr>
                    </a:p>
                  </a:txBody>
                  <a:tcPr marL="91440" marR="91440" marT="45720" marB="45720" anchor="t">
                    <a:lnL w="6350" cap="flat" cmpd="sng" algn="ctr">
                      <a:solidFill>
                        <a:srgbClr val="EAE6DC"/>
                      </a:solidFill>
                      <a:prstDash val="solid"/>
                      <a:round/>
                      <a:headEnd type="none" w="med" len="med"/>
                      <a:tailEnd type="none" w="med" len="med"/>
                    </a:lnL>
                    <a:lnR w="6350" cap="flat" cmpd="sng" algn="ctr">
                      <a:solidFill>
                        <a:srgbClr val="EAE6DC"/>
                      </a:solidFill>
                      <a:prstDash val="solid"/>
                      <a:round/>
                      <a:headEnd type="none" w="med" len="med"/>
                      <a:tailEnd type="none" w="med" len="med"/>
                    </a:lnR>
                    <a:lnT w="6350" cap="flat" cmpd="sng" algn="ctr">
                      <a:solidFill>
                        <a:srgbClr val="EAE6DC"/>
                      </a:solidFill>
                      <a:prstDash val="solid"/>
                      <a:round/>
                      <a:headEnd type="none" w="med" len="med"/>
                      <a:tailEnd type="none" w="med" len="med"/>
                    </a:lnT>
                    <a:lnB w="6350" cap="flat" cmpd="sng" algn="ctr">
                      <a:solidFill>
                        <a:srgbClr val="EAE6DC"/>
                      </a:solidFill>
                      <a:prstDash val="solid"/>
                      <a:round/>
                      <a:headEnd type="none" w="med" len="med"/>
                      <a:tailEnd type="none" w="med" len="med"/>
                    </a:lnB>
                  </a:tcPr>
                </a:tc>
                <a:tc>
                  <a:txBody>
                    <a:bodyPr/>
                    <a:lstStyle/>
                    <a:p>
                      <a:pPr indent="0" marL="0">
                        <a:buNone/>
                      </a:pPr>
                      <a:r>
                        <a:rPr lang="en-US" sz="1100" dirty="0">
                          <a:solidFill>
                            <a:srgbClr val="1A1F2B"/>
                          </a:solidFill>
                          <a:latin typeface="Calibri" pitchFamily="34" charset="0"/>
                          <a:ea typeface="Calibri" pitchFamily="34" charset="-122"/>
                          <a:cs typeface="Calibri" pitchFamily="34" charset="-120"/>
                        </a:rPr>
                        <a:t>Supply or select a payment method</a:t>
                      </a:r>
                      <a:endParaRPr lang="en-US" sz="1100" dirty="0">
                        <a:latin typeface="Calibri" charset="0"/>
                        <a:ea typeface="Calibri" charset="0"/>
                        <a:cs typeface="Calibri" charset="0"/>
                      </a:endParaRPr>
                    </a:p>
                  </a:txBody>
                  <a:tcPr marL="91440" marR="91440" marT="45720" marB="45720" anchor="t">
                    <a:lnL w="6350" cap="flat" cmpd="sng" algn="ctr">
                      <a:solidFill>
                        <a:srgbClr val="EAE6DC"/>
                      </a:solidFill>
                      <a:prstDash val="solid"/>
                      <a:round/>
                      <a:headEnd type="none" w="med" len="med"/>
                      <a:tailEnd type="none" w="med" len="med"/>
                    </a:lnL>
                    <a:lnR w="6350" cap="flat" cmpd="sng" algn="ctr">
                      <a:solidFill>
                        <a:srgbClr val="EAE6DC"/>
                      </a:solidFill>
                      <a:prstDash val="solid"/>
                      <a:round/>
                      <a:headEnd type="none" w="med" len="med"/>
                      <a:tailEnd type="none" w="med" len="med"/>
                    </a:lnR>
                    <a:lnT w="6350" cap="flat" cmpd="sng" algn="ctr">
                      <a:solidFill>
                        <a:srgbClr val="EAE6DC"/>
                      </a:solidFill>
                      <a:prstDash val="solid"/>
                      <a:round/>
                      <a:headEnd type="none" w="med" len="med"/>
                      <a:tailEnd type="none" w="med" len="med"/>
                    </a:lnT>
                    <a:lnB w="6350" cap="flat" cmpd="sng" algn="ctr">
                      <a:solidFill>
                        <a:srgbClr val="EAE6DC"/>
                      </a:solidFill>
                      <a:prstDash val="solid"/>
                      <a:round/>
                      <a:headEnd type="none" w="med" len="med"/>
                      <a:tailEnd type="none" w="med" len="med"/>
                    </a:lnB>
                  </a:tcPr>
                </a:tc>
              </a:tr>
              <a:tr h="274320">
                <a:tc>
                  <a:txBody>
                    <a:bodyPr/>
                    <a:lstStyle/>
                    <a:p>
                      <a:pPr indent="0" marL="0">
                        <a:buNone/>
                      </a:pPr>
                      <a:r>
                        <a:rPr lang="en-US" sz="1000" dirty="0">
                          <a:solidFill>
                            <a:srgbClr val="1A1F2B"/>
                          </a:solidFill>
                          <a:latin typeface="Consolas" pitchFamily="34" charset="0"/>
                          <a:ea typeface="Consolas" pitchFamily="34" charset="-122"/>
                          <a:cs typeface="Consolas" pitchFamily="34" charset="-120"/>
                        </a:rPr>
                        <a:t>requires_confirmation</a:t>
                      </a:r>
                      <a:endParaRPr lang="en-US" sz="1000" dirty="0">
                        <a:latin typeface="Consolas" charset="0"/>
                        <a:ea typeface="Consolas" charset="0"/>
                        <a:cs typeface="Consolas" charset="0"/>
                      </a:endParaRPr>
                    </a:p>
                  </a:txBody>
                  <a:tcPr marL="91440" marR="91440" marT="45720" marB="45720" anchor="t">
                    <a:lnL w="6350" cap="flat" cmpd="sng" algn="ctr">
                      <a:solidFill>
                        <a:srgbClr val="EAE6DC"/>
                      </a:solidFill>
                      <a:prstDash val="solid"/>
                      <a:round/>
                      <a:headEnd type="none" w="med" len="med"/>
                      <a:tailEnd type="none" w="med" len="med"/>
                    </a:lnL>
                    <a:lnR w="6350" cap="flat" cmpd="sng" algn="ctr">
                      <a:solidFill>
                        <a:srgbClr val="EAE6DC"/>
                      </a:solidFill>
                      <a:prstDash val="solid"/>
                      <a:round/>
                      <a:headEnd type="none" w="med" len="med"/>
                      <a:tailEnd type="none" w="med" len="med"/>
                    </a:lnR>
                    <a:lnT w="6350" cap="flat" cmpd="sng" algn="ctr">
                      <a:solidFill>
                        <a:srgbClr val="EAE6DC"/>
                      </a:solidFill>
                      <a:prstDash val="solid"/>
                      <a:round/>
                      <a:headEnd type="none" w="med" len="med"/>
                      <a:tailEnd type="none" w="med" len="med"/>
                    </a:lnT>
                    <a:lnB w="6350" cap="flat" cmpd="sng" algn="ctr">
                      <a:solidFill>
                        <a:srgbClr val="EAE6DC"/>
                      </a:solidFill>
                      <a:prstDash val="solid"/>
                      <a:round/>
                      <a:headEnd type="none" w="med" len="med"/>
                      <a:tailEnd type="none" w="med" len="med"/>
                    </a:lnB>
                  </a:tcPr>
                </a:tc>
                <a:tc>
                  <a:txBody>
                    <a:bodyPr/>
                    <a:lstStyle/>
                    <a:p>
                      <a:pPr indent="0" marL="0">
                        <a:buNone/>
                      </a:pPr>
                      <a:r>
                        <a:rPr lang="en-US" sz="1100" dirty="0">
                          <a:solidFill>
                            <a:srgbClr val="1A1F2B"/>
                          </a:solidFill>
                          <a:latin typeface="Calibri" pitchFamily="34" charset="0"/>
                          <a:ea typeface="Calibri" pitchFamily="34" charset="-122"/>
                          <a:cs typeface="Calibri" pitchFamily="34" charset="-120"/>
                        </a:rPr>
                        <a:t>Ready for an authorized execution decision</a:t>
                      </a:r>
                      <a:endParaRPr lang="en-US" sz="1100" dirty="0">
                        <a:latin typeface="Calibri" charset="0"/>
                        <a:ea typeface="Calibri" charset="0"/>
                        <a:cs typeface="Calibri" charset="0"/>
                      </a:endParaRPr>
                    </a:p>
                  </a:txBody>
                  <a:tcPr marL="91440" marR="91440" marT="45720" marB="45720" anchor="t">
                    <a:lnL w="6350" cap="flat" cmpd="sng" algn="ctr">
                      <a:solidFill>
                        <a:srgbClr val="EAE6DC"/>
                      </a:solidFill>
                      <a:prstDash val="solid"/>
                      <a:round/>
                      <a:headEnd type="none" w="med" len="med"/>
                      <a:tailEnd type="none" w="med" len="med"/>
                    </a:lnL>
                    <a:lnR w="6350" cap="flat" cmpd="sng" algn="ctr">
                      <a:solidFill>
                        <a:srgbClr val="EAE6DC"/>
                      </a:solidFill>
                      <a:prstDash val="solid"/>
                      <a:round/>
                      <a:headEnd type="none" w="med" len="med"/>
                      <a:tailEnd type="none" w="med" len="med"/>
                    </a:lnR>
                    <a:lnT w="6350" cap="flat" cmpd="sng" algn="ctr">
                      <a:solidFill>
                        <a:srgbClr val="EAE6DC"/>
                      </a:solidFill>
                      <a:prstDash val="solid"/>
                      <a:round/>
                      <a:headEnd type="none" w="med" len="med"/>
                      <a:tailEnd type="none" w="med" len="med"/>
                    </a:lnT>
                    <a:lnB w="6350" cap="flat" cmpd="sng" algn="ctr">
                      <a:solidFill>
                        <a:srgbClr val="EAE6DC"/>
                      </a:solidFill>
                      <a:prstDash val="solid"/>
                      <a:round/>
                      <a:headEnd type="none" w="med" len="med"/>
                      <a:tailEnd type="none" w="med" len="med"/>
                    </a:lnB>
                  </a:tcPr>
                </a:tc>
                <a:tc>
                  <a:txBody>
                    <a:bodyPr/>
                    <a:lstStyle/>
                    <a:p>
                      <a:pPr indent="0" marL="0">
                        <a:buNone/>
                      </a:pPr>
                      <a:r>
                        <a:rPr lang="en-US" sz="1100" dirty="0">
                          <a:solidFill>
                            <a:srgbClr val="1A1F2B"/>
                          </a:solidFill>
                          <a:latin typeface="Calibri" pitchFamily="34" charset="0"/>
                          <a:ea typeface="Calibri" pitchFamily="34" charset="-122"/>
                          <a:cs typeface="Calibri" pitchFamily="34" charset="-120"/>
                        </a:rPr>
                        <a:t>Confirm the payment</a:t>
                      </a:r>
                      <a:endParaRPr lang="en-US" sz="1100" dirty="0">
                        <a:latin typeface="Calibri" charset="0"/>
                        <a:ea typeface="Calibri" charset="0"/>
                        <a:cs typeface="Calibri" charset="0"/>
                      </a:endParaRPr>
                    </a:p>
                  </a:txBody>
                  <a:tcPr marL="91440" marR="91440" marT="45720" marB="45720" anchor="t">
                    <a:lnL w="6350" cap="flat" cmpd="sng" algn="ctr">
                      <a:solidFill>
                        <a:srgbClr val="EAE6DC"/>
                      </a:solidFill>
                      <a:prstDash val="solid"/>
                      <a:round/>
                      <a:headEnd type="none" w="med" len="med"/>
                      <a:tailEnd type="none" w="med" len="med"/>
                    </a:lnL>
                    <a:lnR w="6350" cap="flat" cmpd="sng" algn="ctr">
                      <a:solidFill>
                        <a:srgbClr val="EAE6DC"/>
                      </a:solidFill>
                      <a:prstDash val="solid"/>
                      <a:round/>
                      <a:headEnd type="none" w="med" len="med"/>
                      <a:tailEnd type="none" w="med" len="med"/>
                    </a:lnR>
                    <a:lnT w="6350" cap="flat" cmpd="sng" algn="ctr">
                      <a:solidFill>
                        <a:srgbClr val="EAE6DC"/>
                      </a:solidFill>
                      <a:prstDash val="solid"/>
                      <a:round/>
                      <a:headEnd type="none" w="med" len="med"/>
                      <a:tailEnd type="none" w="med" len="med"/>
                    </a:lnT>
                    <a:lnB w="6350" cap="flat" cmpd="sng" algn="ctr">
                      <a:solidFill>
                        <a:srgbClr val="EAE6DC"/>
                      </a:solidFill>
                      <a:prstDash val="solid"/>
                      <a:round/>
                      <a:headEnd type="none" w="med" len="med"/>
                      <a:tailEnd type="none" w="med" len="med"/>
                    </a:lnB>
                  </a:tcPr>
                </a:tc>
              </a:tr>
              <a:tr h="274320">
                <a:tc>
                  <a:txBody>
                    <a:bodyPr/>
                    <a:lstStyle/>
                    <a:p>
                      <a:pPr indent="0" marL="0">
                        <a:buNone/>
                      </a:pPr>
                      <a:r>
                        <a:rPr lang="en-US" sz="1000" dirty="0">
                          <a:solidFill>
                            <a:srgbClr val="1A1F2B"/>
                          </a:solidFill>
                          <a:latin typeface="Consolas" pitchFamily="34" charset="0"/>
                          <a:ea typeface="Consolas" pitchFamily="34" charset="-122"/>
                          <a:cs typeface="Consolas" pitchFamily="34" charset="-120"/>
                        </a:rPr>
                        <a:t>requires_action</a:t>
                      </a:r>
                      <a:endParaRPr lang="en-US" sz="1000" dirty="0">
                        <a:latin typeface="Consolas" charset="0"/>
                        <a:ea typeface="Consolas" charset="0"/>
                        <a:cs typeface="Consolas" charset="0"/>
                      </a:endParaRPr>
                    </a:p>
                  </a:txBody>
                  <a:tcPr marL="91440" marR="91440" marT="45720" marB="45720" anchor="t">
                    <a:lnL w="6350" cap="flat" cmpd="sng" algn="ctr">
                      <a:solidFill>
                        <a:srgbClr val="EAE6DC"/>
                      </a:solidFill>
                      <a:prstDash val="solid"/>
                      <a:round/>
                      <a:headEnd type="none" w="med" len="med"/>
                      <a:tailEnd type="none" w="med" len="med"/>
                    </a:lnL>
                    <a:lnR w="6350" cap="flat" cmpd="sng" algn="ctr">
                      <a:solidFill>
                        <a:srgbClr val="EAE6DC"/>
                      </a:solidFill>
                      <a:prstDash val="solid"/>
                      <a:round/>
                      <a:headEnd type="none" w="med" len="med"/>
                      <a:tailEnd type="none" w="med" len="med"/>
                    </a:lnR>
                    <a:lnT w="6350" cap="flat" cmpd="sng" algn="ctr">
                      <a:solidFill>
                        <a:srgbClr val="EAE6DC"/>
                      </a:solidFill>
                      <a:prstDash val="solid"/>
                      <a:round/>
                      <a:headEnd type="none" w="med" len="med"/>
                      <a:tailEnd type="none" w="med" len="med"/>
                    </a:lnT>
                    <a:lnB w="6350" cap="flat" cmpd="sng" algn="ctr">
                      <a:solidFill>
                        <a:srgbClr val="EAE6DC"/>
                      </a:solidFill>
                      <a:prstDash val="solid"/>
                      <a:round/>
                      <a:headEnd type="none" w="med" len="med"/>
                      <a:tailEnd type="none" w="med" len="med"/>
                    </a:lnB>
                  </a:tcPr>
                </a:tc>
                <a:tc>
                  <a:txBody>
                    <a:bodyPr/>
                    <a:lstStyle/>
                    <a:p>
                      <a:pPr indent="0" marL="0">
                        <a:buNone/>
                      </a:pPr>
                      <a:r>
                        <a:rPr lang="en-US" sz="1100" dirty="0">
                          <a:solidFill>
                            <a:srgbClr val="1A1F2B"/>
                          </a:solidFill>
                          <a:latin typeface="Calibri" pitchFamily="34" charset="0"/>
                          <a:ea typeface="Calibri" pitchFamily="34" charset="-122"/>
                          <a:cs typeface="Calibri" pitchFamily="34" charset="-120"/>
                        </a:rPr>
                        <a:t>A customer or another actor must complete a required action</a:t>
                      </a:r>
                      <a:endParaRPr lang="en-US" sz="1100" dirty="0">
                        <a:latin typeface="Calibri" charset="0"/>
                        <a:ea typeface="Calibri" charset="0"/>
                        <a:cs typeface="Calibri" charset="0"/>
                      </a:endParaRPr>
                    </a:p>
                  </a:txBody>
                  <a:tcPr marL="91440" marR="91440" marT="45720" marB="45720" anchor="t">
                    <a:lnL w="6350" cap="flat" cmpd="sng" algn="ctr">
                      <a:solidFill>
                        <a:srgbClr val="EAE6DC"/>
                      </a:solidFill>
                      <a:prstDash val="solid"/>
                      <a:round/>
                      <a:headEnd type="none" w="med" len="med"/>
                      <a:tailEnd type="none" w="med" len="med"/>
                    </a:lnL>
                    <a:lnR w="6350" cap="flat" cmpd="sng" algn="ctr">
                      <a:solidFill>
                        <a:srgbClr val="EAE6DC"/>
                      </a:solidFill>
                      <a:prstDash val="solid"/>
                      <a:round/>
                      <a:headEnd type="none" w="med" len="med"/>
                      <a:tailEnd type="none" w="med" len="med"/>
                    </a:lnR>
                    <a:lnT w="6350" cap="flat" cmpd="sng" algn="ctr">
                      <a:solidFill>
                        <a:srgbClr val="EAE6DC"/>
                      </a:solidFill>
                      <a:prstDash val="solid"/>
                      <a:round/>
                      <a:headEnd type="none" w="med" len="med"/>
                      <a:tailEnd type="none" w="med" len="med"/>
                    </a:lnT>
                    <a:lnB w="6350" cap="flat" cmpd="sng" algn="ctr">
                      <a:solidFill>
                        <a:srgbClr val="EAE6DC"/>
                      </a:solidFill>
                      <a:prstDash val="solid"/>
                      <a:round/>
                      <a:headEnd type="none" w="med" len="med"/>
                      <a:tailEnd type="none" w="med" len="med"/>
                    </a:lnB>
                  </a:tcPr>
                </a:tc>
                <a:tc>
                  <a:txBody>
                    <a:bodyPr/>
                    <a:lstStyle/>
                    <a:p>
                      <a:pPr indent="0" marL="0">
                        <a:buNone/>
                      </a:pPr>
                      <a:r>
                        <a:rPr lang="en-US" sz="1100" dirty="0">
                          <a:solidFill>
                            <a:srgbClr val="1A1F2B"/>
                          </a:solidFill>
                          <a:latin typeface="Calibri" pitchFamily="34" charset="0"/>
                          <a:ea typeface="Calibri" pitchFamily="34" charset="-122"/>
                          <a:cs typeface="Calibri" pitchFamily="34" charset="-120"/>
                        </a:rPr>
                        <a:t>Complete 3DS or another supported action</a:t>
                      </a:r>
                      <a:endParaRPr lang="en-US" sz="1100" dirty="0">
                        <a:latin typeface="Calibri" charset="0"/>
                        <a:ea typeface="Calibri" charset="0"/>
                        <a:cs typeface="Calibri" charset="0"/>
                      </a:endParaRPr>
                    </a:p>
                  </a:txBody>
                  <a:tcPr marL="91440" marR="91440" marT="45720" marB="45720" anchor="t">
                    <a:lnL w="6350" cap="flat" cmpd="sng" algn="ctr">
                      <a:solidFill>
                        <a:srgbClr val="EAE6DC"/>
                      </a:solidFill>
                      <a:prstDash val="solid"/>
                      <a:round/>
                      <a:headEnd type="none" w="med" len="med"/>
                      <a:tailEnd type="none" w="med" len="med"/>
                    </a:lnL>
                    <a:lnR w="6350" cap="flat" cmpd="sng" algn="ctr">
                      <a:solidFill>
                        <a:srgbClr val="EAE6DC"/>
                      </a:solidFill>
                      <a:prstDash val="solid"/>
                      <a:round/>
                      <a:headEnd type="none" w="med" len="med"/>
                      <a:tailEnd type="none" w="med" len="med"/>
                    </a:lnR>
                    <a:lnT w="6350" cap="flat" cmpd="sng" algn="ctr">
                      <a:solidFill>
                        <a:srgbClr val="EAE6DC"/>
                      </a:solidFill>
                      <a:prstDash val="solid"/>
                      <a:round/>
                      <a:headEnd type="none" w="med" len="med"/>
                      <a:tailEnd type="none" w="med" len="med"/>
                    </a:lnT>
                    <a:lnB w="6350" cap="flat" cmpd="sng" algn="ctr">
                      <a:solidFill>
                        <a:srgbClr val="EAE6DC"/>
                      </a:solidFill>
                      <a:prstDash val="solid"/>
                      <a:round/>
                      <a:headEnd type="none" w="med" len="med"/>
                      <a:tailEnd type="none" w="med" len="med"/>
                    </a:lnB>
                  </a:tcPr>
                </a:tc>
              </a:tr>
              <a:tr h="274320">
                <a:tc>
                  <a:txBody>
                    <a:bodyPr/>
                    <a:lstStyle/>
                    <a:p>
                      <a:pPr indent="0" marL="0">
                        <a:buNone/>
                      </a:pPr>
                      <a:r>
                        <a:rPr lang="en-US" sz="1000" dirty="0">
                          <a:solidFill>
                            <a:srgbClr val="1A1F2B"/>
                          </a:solidFill>
                          <a:latin typeface="Consolas" pitchFamily="34" charset="0"/>
                          <a:ea typeface="Consolas" pitchFamily="34" charset="-122"/>
                          <a:cs typeface="Consolas" pitchFamily="34" charset="-120"/>
                        </a:rPr>
                        <a:t>processing</a:t>
                      </a:r>
                      <a:endParaRPr lang="en-US" sz="1000" dirty="0">
                        <a:latin typeface="Consolas" charset="0"/>
                        <a:ea typeface="Consolas" charset="0"/>
                        <a:cs typeface="Consolas" charset="0"/>
                      </a:endParaRPr>
                    </a:p>
                  </a:txBody>
                  <a:tcPr marL="91440" marR="91440" marT="45720" marB="45720" anchor="t">
                    <a:lnL w="6350" cap="flat" cmpd="sng" algn="ctr">
                      <a:solidFill>
                        <a:srgbClr val="EAE6DC"/>
                      </a:solidFill>
                      <a:prstDash val="solid"/>
                      <a:round/>
                      <a:headEnd type="none" w="med" len="med"/>
                      <a:tailEnd type="none" w="med" len="med"/>
                    </a:lnL>
                    <a:lnR w="6350" cap="flat" cmpd="sng" algn="ctr">
                      <a:solidFill>
                        <a:srgbClr val="EAE6DC"/>
                      </a:solidFill>
                      <a:prstDash val="solid"/>
                      <a:round/>
                      <a:headEnd type="none" w="med" len="med"/>
                      <a:tailEnd type="none" w="med" len="med"/>
                    </a:lnR>
                    <a:lnT w="6350" cap="flat" cmpd="sng" algn="ctr">
                      <a:solidFill>
                        <a:srgbClr val="EAE6DC"/>
                      </a:solidFill>
                      <a:prstDash val="solid"/>
                      <a:round/>
                      <a:headEnd type="none" w="med" len="med"/>
                      <a:tailEnd type="none" w="med" len="med"/>
                    </a:lnT>
                    <a:lnB w="6350" cap="flat" cmpd="sng" algn="ctr">
                      <a:solidFill>
                        <a:srgbClr val="EAE6DC"/>
                      </a:solidFill>
                      <a:prstDash val="solid"/>
                      <a:round/>
                      <a:headEnd type="none" w="med" len="med"/>
                      <a:tailEnd type="none" w="med" len="med"/>
                    </a:lnB>
                  </a:tcPr>
                </a:tc>
                <a:tc>
                  <a:txBody>
                    <a:bodyPr/>
                    <a:lstStyle/>
                    <a:p>
                      <a:pPr indent="0" marL="0">
                        <a:buNone/>
                      </a:pPr>
                      <a:r>
                        <a:rPr lang="en-US" sz="1100" dirty="0">
                          <a:solidFill>
                            <a:srgbClr val="1A1F2B"/>
                          </a:solidFill>
                          <a:latin typeface="Calibri" pitchFamily="34" charset="0"/>
                          <a:ea typeface="Calibri" pitchFamily="34" charset="-122"/>
                          <a:cs typeface="Calibri" pitchFamily="34" charset="-120"/>
                        </a:rPr>
                        <a:t>Execution or outcome resolution is in progress</a:t>
                      </a:r>
                      <a:endParaRPr lang="en-US" sz="1100" dirty="0">
                        <a:latin typeface="Calibri" charset="0"/>
                        <a:ea typeface="Calibri" charset="0"/>
                        <a:cs typeface="Calibri" charset="0"/>
                      </a:endParaRPr>
                    </a:p>
                  </a:txBody>
                  <a:tcPr marL="91440" marR="91440" marT="45720" marB="45720" anchor="t">
                    <a:lnL w="6350" cap="flat" cmpd="sng" algn="ctr">
                      <a:solidFill>
                        <a:srgbClr val="EAE6DC"/>
                      </a:solidFill>
                      <a:prstDash val="solid"/>
                      <a:round/>
                      <a:headEnd type="none" w="med" len="med"/>
                      <a:tailEnd type="none" w="med" len="med"/>
                    </a:lnL>
                    <a:lnR w="6350" cap="flat" cmpd="sng" algn="ctr">
                      <a:solidFill>
                        <a:srgbClr val="EAE6DC"/>
                      </a:solidFill>
                      <a:prstDash val="solid"/>
                      <a:round/>
                      <a:headEnd type="none" w="med" len="med"/>
                      <a:tailEnd type="none" w="med" len="med"/>
                    </a:lnR>
                    <a:lnT w="6350" cap="flat" cmpd="sng" algn="ctr">
                      <a:solidFill>
                        <a:srgbClr val="EAE6DC"/>
                      </a:solidFill>
                      <a:prstDash val="solid"/>
                      <a:round/>
                      <a:headEnd type="none" w="med" len="med"/>
                      <a:tailEnd type="none" w="med" len="med"/>
                    </a:lnT>
                    <a:lnB w="6350" cap="flat" cmpd="sng" algn="ctr">
                      <a:solidFill>
                        <a:srgbClr val="EAE6DC"/>
                      </a:solidFill>
                      <a:prstDash val="solid"/>
                      <a:round/>
                      <a:headEnd type="none" w="med" len="med"/>
                      <a:tailEnd type="none" w="med" len="med"/>
                    </a:lnB>
                  </a:tcPr>
                </a:tc>
                <a:tc>
                  <a:txBody>
                    <a:bodyPr/>
                    <a:lstStyle/>
                    <a:p>
                      <a:pPr indent="0" marL="0">
                        <a:buNone/>
                      </a:pPr>
                      <a:r>
                        <a:rPr lang="en-US" sz="1100" dirty="0">
                          <a:solidFill>
                            <a:srgbClr val="1A1F2B"/>
                          </a:solidFill>
                          <a:latin typeface="Calibri" pitchFamily="34" charset="0"/>
                          <a:ea typeface="Calibri" pitchFamily="34" charset="-122"/>
                          <a:cs typeface="Calibri" pitchFamily="34" charset="-120"/>
                        </a:rPr>
                        <a:t>Wait for a result, or resolve an ambiguous outcome</a:t>
                      </a:r>
                      <a:endParaRPr lang="en-US" sz="1100" dirty="0">
                        <a:latin typeface="Calibri" charset="0"/>
                        <a:ea typeface="Calibri" charset="0"/>
                        <a:cs typeface="Calibri" charset="0"/>
                      </a:endParaRPr>
                    </a:p>
                  </a:txBody>
                  <a:tcPr marL="91440" marR="91440" marT="45720" marB="45720" anchor="t">
                    <a:lnL w="6350" cap="flat" cmpd="sng" algn="ctr">
                      <a:solidFill>
                        <a:srgbClr val="EAE6DC"/>
                      </a:solidFill>
                      <a:prstDash val="solid"/>
                      <a:round/>
                      <a:headEnd type="none" w="med" len="med"/>
                      <a:tailEnd type="none" w="med" len="med"/>
                    </a:lnL>
                    <a:lnR w="6350" cap="flat" cmpd="sng" algn="ctr">
                      <a:solidFill>
                        <a:srgbClr val="EAE6DC"/>
                      </a:solidFill>
                      <a:prstDash val="solid"/>
                      <a:round/>
                      <a:headEnd type="none" w="med" len="med"/>
                      <a:tailEnd type="none" w="med" len="med"/>
                    </a:lnR>
                    <a:lnT w="6350" cap="flat" cmpd="sng" algn="ctr">
                      <a:solidFill>
                        <a:srgbClr val="EAE6DC"/>
                      </a:solidFill>
                      <a:prstDash val="solid"/>
                      <a:round/>
                      <a:headEnd type="none" w="med" len="med"/>
                      <a:tailEnd type="none" w="med" len="med"/>
                    </a:lnT>
                    <a:lnB w="6350" cap="flat" cmpd="sng" algn="ctr">
                      <a:solidFill>
                        <a:srgbClr val="EAE6DC"/>
                      </a:solidFill>
                      <a:prstDash val="solid"/>
                      <a:round/>
                      <a:headEnd type="none" w="med" len="med"/>
                      <a:tailEnd type="none" w="med" len="med"/>
                    </a:lnB>
                  </a:tcPr>
                </a:tc>
              </a:tr>
              <a:tr h="274320">
                <a:tc>
                  <a:txBody>
                    <a:bodyPr/>
                    <a:lstStyle/>
                    <a:p>
                      <a:pPr indent="0" marL="0">
                        <a:buNone/>
                      </a:pPr>
                      <a:r>
                        <a:rPr lang="en-US" sz="1000" dirty="0">
                          <a:solidFill>
                            <a:srgbClr val="1A1F2B"/>
                          </a:solidFill>
                          <a:latin typeface="Consolas" pitchFamily="34" charset="0"/>
                          <a:ea typeface="Consolas" pitchFamily="34" charset="-122"/>
                          <a:cs typeface="Consolas" pitchFamily="34" charset="-120"/>
                        </a:rPr>
                        <a:t>requires_capture</a:t>
                      </a:r>
                      <a:endParaRPr lang="en-US" sz="1000" dirty="0">
                        <a:latin typeface="Consolas" charset="0"/>
                        <a:ea typeface="Consolas" charset="0"/>
                        <a:cs typeface="Consolas" charset="0"/>
                      </a:endParaRPr>
                    </a:p>
                  </a:txBody>
                  <a:tcPr marL="91440" marR="91440" marT="45720" marB="45720" anchor="t">
                    <a:lnL w="6350" cap="flat" cmpd="sng" algn="ctr">
                      <a:solidFill>
                        <a:srgbClr val="EAE6DC"/>
                      </a:solidFill>
                      <a:prstDash val="solid"/>
                      <a:round/>
                      <a:headEnd type="none" w="med" len="med"/>
                      <a:tailEnd type="none" w="med" len="med"/>
                    </a:lnL>
                    <a:lnR w="6350" cap="flat" cmpd="sng" algn="ctr">
                      <a:solidFill>
                        <a:srgbClr val="EAE6DC"/>
                      </a:solidFill>
                      <a:prstDash val="solid"/>
                      <a:round/>
                      <a:headEnd type="none" w="med" len="med"/>
                      <a:tailEnd type="none" w="med" len="med"/>
                    </a:lnR>
                    <a:lnT w="6350" cap="flat" cmpd="sng" algn="ctr">
                      <a:solidFill>
                        <a:srgbClr val="EAE6DC"/>
                      </a:solidFill>
                      <a:prstDash val="solid"/>
                      <a:round/>
                      <a:headEnd type="none" w="med" len="med"/>
                      <a:tailEnd type="none" w="med" len="med"/>
                    </a:lnT>
                    <a:lnB w="6350" cap="flat" cmpd="sng" algn="ctr">
                      <a:solidFill>
                        <a:srgbClr val="EAE6DC"/>
                      </a:solidFill>
                      <a:prstDash val="solid"/>
                      <a:round/>
                      <a:headEnd type="none" w="med" len="med"/>
                      <a:tailEnd type="none" w="med" len="med"/>
                    </a:lnB>
                  </a:tcPr>
                </a:tc>
                <a:tc>
                  <a:txBody>
                    <a:bodyPr/>
                    <a:lstStyle/>
                    <a:p>
                      <a:pPr indent="0" marL="0">
                        <a:buNone/>
                      </a:pPr>
                      <a:r>
                        <a:rPr lang="en-US" sz="1100" dirty="0">
                          <a:solidFill>
                            <a:srgbClr val="1A1F2B"/>
                          </a:solidFill>
                          <a:latin typeface="Calibri" pitchFamily="34" charset="0"/>
                          <a:ea typeface="Calibri" pitchFamily="34" charset="-122"/>
                          <a:cs typeface="Calibri" pitchFamily="34" charset="-120"/>
                        </a:rPr>
                        <a:t>Authorization succeeded and funds remain capturable</a:t>
                      </a:r>
                      <a:endParaRPr lang="en-US" sz="1100" dirty="0">
                        <a:latin typeface="Calibri" charset="0"/>
                        <a:ea typeface="Calibri" charset="0"/>
                        <a:cs typeface="Calibri" charset="0"/>
                      </a:endParaRPr>
                    </a:p>
                  </a:txBody>
                  <a:tcPr marL="91440" marR="91440" marT="45720" marB="45720" anchor="t">
                    <a:lnL w="6350" cap="flat" cmpd="sng" algn="ctr">
                      <a:solidFill>
                        <a:srgbClr val="EAE6DC"/>
                      </a:solidFill>
                      <a:prstDash val="solid"/>
                      <a:round/>
                      <a:headEnd type="none" w="med" len="med"/>
                      <a:tailEnd type="none" w="med" len="med"/>
                    </a:lnL>
                    <a:lnR w="6350" cap="flat" cmpd="sng" algn="ctr">
                      <a:solidFill>
                        <a:srgbClr val="EAE6DC"/>
                      </a:solidFill>
                      <a:prstDash val="solid"/>
                      <a:round/>
                      <a:headEnd type="none" w="med" len="med"/>
                      <a:tailEnd type="none" w="med" len="med"/>
                    </a:lnR>
                    <a:lnT w="6350" cap="flat" cmpd="sng" algn="ctr">
                      <a:solidFill>
                        <a:srgbClr val="EAE6DC"/>
                      </a:solidFill>
                      <a:prstDash val="solid"/>
                      <a:round/>
                      <a:headEnd type="none" w="med" len="med"/>
                      <a:tailEnd type="none" w="med" len="med"/>
                    </a:lnT>
                    <a:lnB w="6350" cap="flat" cmpd="sng" algn="ctr">
                      <a:solidFill>
                        <a:srgbClr val="EAE6DC"/>
                      </a:solidFill>
                      <a:prstDash val="solid"/>
                      <a:round/>
                      <a:headEnd type="none" w="med" len="med"/>
                      <a:tailEnd type="none" w="med" len="med"/>
                    </a:lnB>
                  </a:tcPr>
                </a:tc>
                <a:tc>
                  <a:txBody>
                    <a:bodyPr/>
                    <a:lstStyle/>
                    <a:p>
                      <a:pPr indent="0" marL="0">
                        <a:buNone/>
                      </a:pPr>
                      <a:r>
                        <a:rPr lang="en-US" sz="1100" dirty="0">
                          <a:solidFill>
                            <a:srgbClr val="1A1F2B"/>
                          </a:solidFill>
                          <a:latin typeface="Calibri" pitchFamily="34" charset="0"/>
                          <a:ea typeface="Calibri" pitchFamily="34" charset="-122"/>
                          <a:cs typeface="Calibri" pitchFamily="34" charset="-120"/>
                        </a:rPr>
                        <a:t>Submit one or more captures</a:t>
                      </a:r>
                      <a:endParaRPr lang="en-US" sz="1100" dirty="0">
                        <a:latin typeface="Calibri" charset="0"/>
                        <a:ea typeface="Calibri" charset="0"/>
                        <a:cs typeface="Calibri" charset="0"/>
                      </a:endParaRPr>
                    </a:p>
                  </a:txBody>
                  <a:tcPr marL="91440" marR="91440" marT="45720" marB="45720" anchor="t">
                    <a:lnL w="6350" cap="flat" cmpd="sng" algn="ctr">
                      <a:solidFill>
                        <a:srgbClr val="EAE6DC"/>
                      </a:solidFill>
                      <a:prstDash val="solid"/>
                      <a:round/>
                      <a:headEnd type="none" w="med" len="med"/>
                      <a:tailEnd type="none" w="med" len="med"/>
                    </a:lnL>
                    <a:lnR w="6350" cap="flat" cmpd="sng" algn="ctr">
                      <a:solidFill>
                        <a:srgbClr val="EAE6DC"/>
                      </a:solidFill>
                      <a:prstDash val="solid"/>
                      <a:round/>
                      <a:headEnd type="none" w="med" len="med"/>
                      <a:tailEnd type="none" w="med" len="med"/>
                    </a:lnR>
                    <a:lnT w="6350" cap="flat" cmpd="sng" algn="ctr">
                      <a:solidFill>
                        <a:srgbClr val="EAE6DC"/>
                      </a:solidFill>
                      <a:prstDash val="solid"/>
                      <a:round/>
                      <a:headEnd type="none" w="med" len="med"/>
                      <a:tailEnd type="none" w="med" len="med"/>
                    </a:lnT>
                    <a:lnB w="6350" cap="flat" cmpd="sng" algn="ctr">
                      <a:solidFill>
                        <a:srgbClr val="EAE6DC"/>
                      </a:solidFill>
                      <a:prstDash val="solid"/>
                      <a:round/>
                      <a:headEnd type="none" w="med" len="med"/>
                      <a:tailEnd type="none" w="med" len="med"/>
                    </a:lnB>
                  </a:tcPr>
                </a:tc>
              </a:tr>
              <a:tr h="274320">
                <a:tc>
                  <a:txBody>
                    <a:bodyPr/>
                    <a:lstStyle/>
                    <a:p>
                      <a:pPr indent="0" marL="0">
                        <a:buNone/>
                      </a:pPr>
                      <a:r>
                        <a:rPr lang="en-US" sz="1000" dirty="0">
                          <a:solidFill>
                            <a:srgbClr val="1A1F2B"/>
                          </a:solidFill>
                          <a:latin typeface="Consolas" pitchFamily="34" charset="0"/>
                          <a:ea typeface="Consolas" pitchFamily="34" charset="-122"/>
                          <a:cs typeface="Consolas" pitchFamily="34" charset="-120"/>
                        </a:rPr>
                        <a:t>succeeded</a:t>
                      </a:r>
                      <a:endParaRPr lang="en-US" sz="1000" dirty="0">
                        <a:latin typeface="Consolas" charset="0"/>
                        <a:ea typeface="Consolas" charset="0"/>
                        <a:cs typeface="Consolas" charset="0"/>
                      </a:endParaRPr>
                    </a:p>
                  </a:txBody>
                  <a:tcPr marL="91440" marR="91440" marT="45720" marB="45720" anchor="t">
                    <a:lnL w="6350" cap="flat" cmpd="sng" algn="ctr">
                      <a:solidFill>
                        <a:srgbClr val="EAE6DC"/>
                      </a:solidFill>
                      <a:prstDash val="solid"/>
                      <a:round/>
                      <a:headEnd type="none" w="med" len="med"/>
                      <a:tailEnd type="none" w="med" len="med"/>
                    </a:lnL>
                    <a:lnR w="6350" cap="flat" cmpd="sng" algn="ctr">
                      <a:solidFill>
                        <a:srgbClr val="EAE6DC"/>
                      </a:solidFill>
                      <a:prstDash val="solid"/>
                      <a:round/>
                      <a:headEnd type="none" w="med" len="med"/>
                      <a:tailEnd type="none" w="med" len="med"/>
                    </a:lnR>
                    <a:lnT w="6350" cap="flat" cmpd="sng" algn="ctr">
                      <a:solidFill>
                        <a:srgbClr val="EAE6DC"/>
                      </a:solidFill>
                      <a:prstDash val="solid"/>
                      <a:round/>
                      <a:headEnd type="none" w="med" len="med"/>
                      <a:tailEnd type="none" w="med" len="med"/>
                    </a:lnT>
                    <a:lnB w="6350" cap="flat" cmpd="sng" algn="ctr">
                      <a:solidFill>
                        <a:srgbClr val="EAE6DC"/>
                      </a:solidFill>
                      <a:prstDash val="solid"/>
                      <a:round/>
                      <a:headEnd type="none" w="med" len="med"/>
                      <a:tailEnd type="none" w="med" len="med"/>
                    </a:lnB>
                  </a:tcPr>
                </a:tc>
                <a:tc>
                  <a:txBody>
                    <a:bodyPr/>
                    <a:lstStyle/>
                    <a:p>
                      <a:pPr indent="0" marL="0">
                        <a:buNone/>
                      </a:pPr>
                      <a:r>
                        <a:rPr lang="en-US" sz="1100" dirty="0">
                          <a:solidFill>
                            <a:srgbClr val="1A1F2B"/>
                          </a:solidFill>
                          <a:latin typeface="Calibri" pitchFamily="34" charset="0"/>
                          <a:ea typeface="Calibri" pitchFamily="34" charset="-122"/>
                          <a:cs typeface="Calibri" pitchFamily="34" charset="-120"/>
                        </a:rPr>
                        <a:t>The defined collection objective has been completed</a:t>
                      </a:r>
                      <a:endParaRPr lang="en-US" sz="1100" dirty="0">
                        <a:latin typeface="Calibri" charset="0"/>
                        <a:ea typeface="Calibri" charset="0"/>
                        <a:cs typeface="Calibri" charset="0"/>
                      </a:endParaRPr>
                    </a:p>
                  </a:txBody>
                  <a:tcPr marL="91440" marR="91440" marT="45720" marB="45720" anchor="t">
                    <a:lnL w="6350" cap="flat" cmpd="sng" algn="ctr">
                      <a:solidFill>
                        <a:srgbClr val="EAE6DC"/>
                      </a:solidFill>
                      <a:prstDash val="solid"/>
                      <a:round/>
                      <a:headEnd type="none" w="med" len="med"/>
                      <a:tailEnd type="none" w="med" len="med"/>
                    </a:lnL>
                    <a:lnR w="6350" cap="flat" cmpd="sng" algn="ctr">
                      <a:solidFill>
                        <a:srgbClr val="EAE6DC"/>
                      </a:solidFill>
                      <a:prstDash val="solid"/>
                      <a:round/>
                      <a:headEnd type="none" w="med" len="med"/>
                      <a:tailEnd type="none" w="med" len="med"/>
                    </a:lnR>
                    <a:lnT w="6350" cap="flat" cmpd="sng" algn="ctr">
                      <a:solidFill>
                        <a:srgbClr val="EAE6DC"/>
                      </a:solidFill>
                      <a:prstDash val="solid"/>
                      <a:round/>
                      <a:headEnd type="none" w="med" len="med"/>
                      <a:tailEnd type="none" w="med" len="med"/>
                    </a:lnT>
                    <a:lnB w="6350" cap="flat" cmpd="sng" algn="ctr">
                      <a:solidFill>
                        <a:srgbClr val="EAE6DC"/>
                      </a:solidFill>
                      <a:prstDash val="solid"/>
                      <a:round/>
                      <a:headEnd type="none" w="med" len="med"/>
                      <a:tailEnd type="none" w="med" len="med"/>
                    </a:lnB>
                  </a:tcPr>
                </a:tc>
                <a:tc>
                  <a:txBody>
                    <a:bodyPr/>
                    <a:lstStyle/>
                    <a:p>
                      <a:pPr indent="0" marL="0">
                        <a:buNone/>
                      </a:pPr>
                      <a:r>
                        <a:rPr lang="en-US" sz="1100" dirty="0">
                          <a:solidFill>
                            <a:srgbClr val="1A1F2B"/>
                          </a:solidFill>
                          <a:latin typeface="Calibri" pitchFamily="34" charset="0"/>
                          <a:ea typeface="Calibri" pitchFamily="34" charset="-122"/>
                          <a:cs typeface="Calibri" pitchFamily="34" charset="-120"/>
                        </a:rPr>
                        <a:t>No further collection action</a:t>
                      </a:r>
                      <a:endParaRPr lang="en-US" sz="1100" dirty="0">
                        <a:latin typeface="Calibri" charset="0"/>
                        <a:ea typeface="Calibri" charset="0"/>
                        <a:cs typeface="Calibri" charset="0"/>
                      </a:endParaRPr>
                    </a:p>
                  </a:txBody>
                  <a:tcPr marL="91440" marR="91440" marT="45720" marB="45720" anchor="t">
                    <a:lnL w="6350" cap="flat" cmpd="sng" algn="ctr">
                      <a:solidFill>
                        <a:srgbClr val="EAE6DC"/>
                      </a:solidFill>
                      <a:prstDash val="solid"/>
                      <a:round/>
                      <a:headEnd type="none" w="med" len="med"/>
                      <a:tailEnd type="none" w="med" len="med"/>
                    </a:lnL>
                    <a:lnR w="6350" cap="flat" cmpd="sng" algn="ctr">
                      <a:solidFill>
                        <a:srgbClr val="EAE6DC"/>
                      </a:solidFill>
                      <a:prstDash val="solid"/>
                      <a:round/>
                      <a:headEnd type="none" w="med" len="med"/>
                      <a:tailEnd type="none" w="med" len="med"/>
                    </a:lnR>
                    <a:lnT w="6350" cap="flat" cmpd="sng" algn="ctr">
                      <a:solidFill>
                        <a:srgbClr val="EAE6DC"/>
                      </a:solidFill>
                      <a:prstDash val="solid"/>
                      <a:round/>
                      <a:headEnd type="none" w="med" len="med"/>
                      <a:tailEnd type="none" w="med" len="med"/>
                    </a:lnT>
                    <a:lnB w="6350" cap="flat" cmpd="sng" algn="ctr">
                      <a:solidFill>
                        <a:srgbClr val="EAE6DC"/>
                      </a:solidFill>
                      <a:prstDash val="solid"/>
                      <a:round/>
                      <a:headEnd type="none" w="med" len="med"/>
                      <a:tailEnd type="none" w="med" len="med"/>
                    </a:lnB>
                  </a:tcPr>
                </a:tc>
              </a:tr>
              <a:tr h="274320">
                <a:tc>
                  <a:txBody>
                    <a:bodyPr/>
                    <a:lstStyle/>
                    <a:p>
                      <a:pPr indent="0" marL="0">
                        <a:buNone/>
                      </a:pPr>
                      <a:r>
                        <a:rPr lang="en-US" sz="1000" dirty="0">
                          <a:solidFill>
                            <a:srgbClr val="1A1F2B"/>
                          </a:solidFill>
                          <a:latin typeface="Consolas" pitchFamily="34" charset="0"/>
                          <a:ea typeface="Consolas" pitchFamily="34" charset="-122"/>
                          <a:cs typeface="Consolas" pitchFamily="34" charset="-120"/>
                        </a:rPr>
                        <a:t>canceled</a:t>
                      </a:r>
                      <a:endParaRPr lang="en-US" sz="1000" dirty="0">
                        <a:latin typeface="Consolas" charset="0"/>
                        <a:ea typeface="Consolas" charset="0"/>
                        <a:cs typeface="Consolas" charset="0"/>
                      </a:endParaRPr>
                    </a:p>
                  </a:txBody>
                  <a:tcPr marL="91440" marR="91440" marT="45720" marB="45720" anchor="t">
                    <a:lnL w="6350" cap="flat" cmpd="sng" algn="ctr">
                      <a:solidFill>
                        <a:srgbClr val="EAE6DC"/>
                      </a:solidFill>
                      <a:prstDash val="solid"/>
                      <a:round/>
                      <a:headEnd type="none" w="med" len="med"/>
                      <a:tailEnd type="none" w="med" len="med"/>
                    </a:lnL>
                    <a:lnR w="6350" cap="flat" cmpd="sng" algn="ctr">
                      <a:solidFill>
                        <a:srgbClr val="EAE6DC"/>
                      </a:solidFill>
                      <a:prstDash val="solid"/>
                      <a:round/>
                      <a:headEnd type="none" w="med" len="med"/>
                      <a:tailEnd type="none" w="med" len="med"/>
                    </a:lnR>
                    <a:lnT w="6350" cap="flat" cmpd="sng" algn="ctr">
                      <a:solidFill>
                        <a:srgbClr val="EAE6DC"/>
                      </a:solidFill>
                      <a:prstDash val="solid"/>
                      <a:round/>
                      <a:headEnd type="none" w="med" len="med"/>
                      <a:tailEnd type="none" w="med" len="med"/>
                    </a:lnT>
                    <a:lnB w="6350" cap="flat" cmpd="sng" algn="ctr">
                      <a:solidFill>
                        <a:srgbClr val="EAE6DC"/>
                      </a:solidFill>
                      <a:prstDash val="solid"/>
                      <a:round/>
                      <a:headEnd type="none" w="med" len="med"/>
                      <a:tailEnd type="none" w="med" len="med"/>
                    </a:lnB>
                  </a:tcPr>
                </a:tc>
                <a:tc>
                  <a:txBody>
                    <a:bodyPr/>
                    <a:lstStyle/>
                    <a:p>
                      <a:pPr indent="0" marL="0">
                        <a:buNone/>
                      </a:pPr>
                      <a:r>
                        <a:rPr lang="en-US" sz="1100" dirty="0">
                          <a:solidFill>
                            <a:srgbClr val="1A1F2B"/>
                          </a:solidFill>
                          <a:latin typeface="Calibri" pitchFamily="34" charset="0"/>
                          <a:ea typeface="Calibri" pitchFamily="34" charset="-122"/>
                          <a:cs typeface="Calibri" pitchFamily="34" charset="-120"/>
                        </a:rPr>
                        <a:t>Canceled; no further execution is permitted</a:t>
                      </a:r>
                      <a:endParaRPr lang="en-US" sz="1100" dirty="0">
                        <a:latin typeface="Calibri" charset="0"/>
                        <a:ea typeface="Calibri" charset="0"/>
                        <a:cs typeface="Calibri" charset="0"/>
                      </a:endParaRPr>
                    </a:p>
                  </a:txBody>
                  <a:tcPr marL="91440" marR="91440" marT="45720" marB="45720" anchor="t">
                    <a:lnL w="6350" cap="flat" cmpd="sng" algn="ctr">
                      <a:solidFill>
                        <a:srgbClr val="EAE6DC"/>
                      </a:solidFill>
                      <a:prstDash val="solid"/>
                      <a:round/>
                      <a:headEnd type="none" w="med" len="med"/>
                      <a:tailEnd type="none" w="med" len="med"/>
                    </a:lnL>
                    <a:lnR w="6350" cap="flat" cmpd="sng" algn="ctr">
                      <a:solidFill>
                        <a:srgbClr val="EAE6DC"/>
                      </a:solidFill>
                      <a:prstDash val="solid"/>
                      <a:round/>
                      <a:headEnd type="none" w="med" len="med"/>
                      <a:tailEnd type="none" w="med" len="med"/>
                    </a:lnR>
                    <a:lnT w="6350" cap="flat" cmpd="sng" algn="ctr">
                      <a:solidFill>
                        <a:srgbClr val="EAE6DC"/>
                      </a:solidFill>
                      <a:prstDash val="solid"/>
                      <a:round/>
                      <a:headEnd type="none" w="med" len="med"/>
                      <a:tailEnd type="none" w="med" len="med"/>
                    </a:lnT>
                    <a:lnB w="6350" cap="flat" cmpd="sng" algn="ctr">
                      <a:solidFill>
                        <a:srgbClr val="EAE6DC"/>
                      </a:solidFill>
                      <a:prstDash val="solid"/>
                      <a:round/>
                      <a:headEnd type="none" w="med" len="med"/>
                      <a:tailEnd type="none" w="med" len="med"/>
                    </a:lnB>
                  </a:tcPr>
                </a:tc>
                <a:tc>
                  <a:txBody>
                    <a:bodyPr/>
                    <a:lstStyle/>
                    <a:p>
                      <a:pPr indent="0" marL="0">
                        <a:buNone/>
                      </a:pPr>
                      <a:r>
                        <a:rPr lang="en-US" sz="1100" dirty="0">
                          <a:solidFill>
                            <a:srgbClr val="1A1F2B"/>
                          </a:solidFill>
                          <a:latin typeface="Calibri" pitchFamily="34" charset="0"/>
                          <a:ea typeface="Calibri" pitchFamily="34" charset="-122"/>
                          <a:cs typeface="Calibri" pitchFamily="34" charset="-120"/>
                        </a:rPr>
                        <a:t>Create a new Intent for a new objective</a:t>
                      </a:r>
                      <a:endParaRPr lang="en-US" sz="1100" dirty="0">
                        <a:latin typeface="Calibri" charset="0"/>
                        <a:ea typeface="Calibri" charset="0"/>
                        <a:cs typeface="Calibri" charset="0"/>
                      </a:endParaRPr>
                    </a:p>
                  </a:txBody>
                  <a:tcPr marL="91440" marR="91440" marT="45720" marB="45720" anchor="t">
                    <a:lnL w="6350" cap="flat" cmpd="sng" algn="ctr">
                      <a:solidFill>
                        <a:srgbClr val="EAE6DC"/>
                      </a:solidFill>
                      <a:prstDash val="solid"/>
                      <a:round/>
                      <a:headEnd type="none" w="med" len="med"/>
                      <a:tailEnd type="none" w="med" len="med"/>
                    </a:lnL>
                    <a:lnR w="6350" cap="flat" cmpd="sng" algn="ctr">
                      <a:solidFill>
                        <a:srgbClr val="EAE6DC"/>
                      </a:solidFill>
                      <a:prstDash val="solid"/>
                      <a:round/>
                      <a:headEnd type="none" w="med" len="med"/>
                      <a:tailEnd type="none" w="med" len="med"/>
                    </a:lnR>
                    <a:lnT w="6350" cap="flat" cmpd="sng" algn="ctr">
                      <a:solidFill>
                        <a:srgbClr val="EAE6DC"/>
                      </a:solidFill>
                      <a:prstDash val="solid"/>
                      <a:round/>
                      <a:headEnd type="none" w="med" len="med"/>
                      <a:tailEnd type="none" w="med" len="med"/>
                    </a:lnT>
                    <a:lnB w="6350" cap="flat" cmpd="sng" algn="ctr">
                      <a:solidFill>
                        <a:srgbClr val="EAE6DC"/>
                      </a:solidFill>
                      <a:prstDash val="solid"/>
                      <a:round/>
                      <a:headEnd type="none" w="med" len="med"/>
                      <a:tailEnd type="none" w="med" len="med"/>
                    </a:lnB>
                  </a:tcPr>
                </a:tc>
              </a:tr>
            </a:tbl>
          </a:graphicData>
        </a:graphic>
      </p:graphicFrame>
      <p:sp>
        <p:nvSpPr>
          <p:cNvPr id="7" name="card-Partial capture"/>
          <p:cNvSpPr/>
          <p:nvPr/>
        </p:nvSpPr>
        <p:spPr>
          <a:xfrm>
            <a:off x="475488" y="4206240"/>
            <a:ext cx="5492344" cy="1188720"/>
          </a:xfrm>
          <a:prstGeom prst="rect">
            <a:avLst/>
          </a:prstGeom>
          <a:solidFill>
            <a:srgbClr val="FBEEEE"/>
          </a:solidFill>
          <a:ln w="6350">
            <a:solidFill>
              <a:srgbClr val="DCD7CB"/>
            </a:solidFill>
            <a:prstDash val="solid"/>
          </a:ln>
        </p:spPr>
      </p:sp>
      <p:sp>
        <p:nvSpPr>
          <p:cNvPr id="8" name="Text 5"/>
          <p:cNvSpPr txBox="1"/>
          <p:nvPr/>
        </p:nvSpPr>
        <p:spPr>
          <a:xfrm>
            <a:off x="603504" y="4306824"/>
            <a:ext cx="5236312" cy="182880"/>
          </a:xfrm>
          <a:prstGeom prst="rect">
            <a:avLst/>
          </a:prstGeom>
          <a:noFill/>
          <a:ln/>
        </p:spPr>
        <p:txBody>
          <a:bodyPr wrap="square" lIns="0" tIns="0" rIns="0" bIns="0" rtlCol="0" anchor="ctr"/>
          <a:lstStyle/>
          <a:p>
            <a:pPr indent="0" marL="0">
              <a:buNone/>
            </a:pPr>
            <a:r>
              <a:rPr lang="en-US" sz="900" spc="140" kern="0" dirty="0">
                <a:solidFill>
                  <a:srgbClr val="9B2C2C"/>
                </a:solidFill>
                <a:latin typeface="Consolas" pitchFamily="34" charset="0"/>
                <a:ea typeface="Consolas" pitchFamily="34" charset="-122"/>
                <a:cs typeface="Consolas" pitchFamily="34" charset="-120"/>
              </a:rPr>
              <a:t>NEEDS EXPLICIT SEMANTICS — SLIDE 8</a:t>
            </a:r>
            <a:endParaRPr lang="en-US" sz="900" dirty="0"/>
          </a:p>
        </p:txBody>
      </p:sp>
      <p:sp>
        <p:nvSpPr>
          <p:cNvPr id="9" name="Text 6"/>
          <p:cNvSpPr txBox="1"/>
          <p:nvPr/>
        </p:nvSpPr>
        <p:spPr>
          <a:xfrm>
            <a:off x="603504" y="4498848"/>
            <a:ext cx="5236312" cy="256032"/>
          </a:xfrm>
          <a:prstGeom prst="rect">
            <a:avLst/>
          </a:prstGeom>
          <a:noFill/>
          <a:ln/>
        </p:spPr>
        <p:txBody>
          <a:bodyPr wrap="square" lIns="0" tIns="0" rIns="0" bIns="0" rtlCol="0" anchor="ctr"/>
          <a:lstStyle/>
          <a:p>
            <a:pPr indent="0" marL="0">
              <a:buNone/>
            </a:pPr>
            <a:r>
              <a:rPr lang="en-US" sz="1450" b="1" dirty="0">
                <a:solidFill>
                  <a:srgbClr val="0F1A2B"/>
                </a:solidFill>
                <a:latin typeface="Cambria" pitchFamily="34" charset="0"/>
                <a:ea typeface="Cambria" pitchFamily="34" charset="-122"/>
                <a:cs typeface="Cambria" pitchFamily="34" charset="-120"/>
              </a:rPr>
              <a:t>Partial capture</a:t>
            </a:r>
            <a:endParaRPr lang="en-US" sz="1450" dirty="0"/>
          </a:p>
        </p:txBody>
      </p:sp>
      <p:sp>
        <p:nvSpPr>
          <p:cNvPr id="10" name="Text 7"/>
          <p:cNvSpPr txBox="1"/>
          <p:nvPr/>
        </p:nvSpPr>
        <p:spPr>
          <a:xfrm>
            <a:off x="603504" y="4782312"/>
            <a:ext cx="5236312" cy="521208"/>
          </a:xfrm>
          <a:prstGeom prst="rect">
            <a:avLst/>
          </a:prstGeom>
          <a:noFill/>
          <a:ln/>
        </p:spPr>
        <p:txBody>
          <a:bodyPr wrap="square" lIns="0" tIns="0" rIns="0" bIns="0" rtlCol="0" anchor="t"/>
          <a:lstStyle/>
          <a:p>
            <a:pPr indent="0" marL="0">
              <a:buNone/>
            </a:pPr>
            <a:r>
              <a:rPr lang="en-US" sz="1100" dirty="0">
                <a:solidFill>
                  <a:srgbClr val="1A1F2B"/>
                </a:solidFill>
              </a:rPr>
              <a:t>An Intent can have captured funds </a:t>
            </a:r>
            <a:pPr indent="0" marL="0">
              <a:buNone/>
            </a:pPr>
            <a:r>
              <a:rPr lang="en-US" sz="1100" i="1" dirty="0">
                <a:solidFill>
                  <a:srgbClr val="1A1F2B"/>
                </a:solidFill>
              </a:rPr>
              <a:t>and</a:t>
            </a:r>
            <a:pPr indent="0" marL="0">
              <a:buNone/>
            </a:pPr>
            <a:r>
              <a:rPr lang="en-US" sz="1100" dirty="0">
                <a:solidFill>
                  <a:srgbClr val="1A1F2B"/>
                </a:solidFill>
              </a:rPr>
              <a:t> an outstanding authorized balance. Whether it stays requires_capture or moves to a more expressive state is an API design choice — but </a:t>
            </a:r>
            <a:pPr indent="0" marL="0">
              <a:buNone/>
            </a:pPr>
            <a:r>
              <a:rPr lang="en-US" sz="1100" b="1" dirty="0">
                <a:solidFill>
                  <a:srgbClr val="1A1F2B"/>
                </a:solidFill>
              </a:rPr>
              <a:t>the capture ledger is authoritative regardless of the status label</a:t>
            </a:r>
            <a:pPr indent="0" marL="0">
              <a:buNone/>
            </a:pPr>
            <a:r>
              <a:rPr lang="en-US" sz="1100" dirty="0">
                <a:solidFill>
                  <a:srgbClr val="1A1F2B"/>
                </a:solidFill>
              </a:rPr>
              <a:t>.</a:t>
            </a:r>
            <a:endParaRPr lang="en-US" sz="1100" dirty="0"/>
          </a:p>
        </p:txBody>
      </p:sp>
      <p:sp>
        <p:nvSpPr>
          <p:cNvPr id="11" name="card-Failure and success both mislead"/>
          <p:cNvSpPr/>
          <p:nvPr/>
        </p:nvSpPr>
        <p:spPr>
          <a:xfrm>
            <a:off x="6223864" y="4206240"/>
            <a:ext cx="5492344" cy="1188720"/>
          </a:xfrm>
          <a:prstGeom prst="rect">
            <a:avLst/>
          </a:prstGeom>
          <a:solidFill>
            <a:srgbClr val="FBEEEE"/>
          </a:solidFill>
          <a:ln w="6350">
            <a:solidFill>
              <a:srgbClr val="DCD7CB"/>
            </a:solidFill>
            <a:prstDash val="solid"/>
          </a:ln>
        </p:spPr>
      </p:sp>
      <p:sp>
        <p:nvSpPr>
          <p:cNvPr id="12" name="Text 9"/>
          <p:cNvSpPr txBox="1"/>
          <p:nvPr/>
        </p:nvSpPr>
        <p:spPr>
          <a:xfrm>
            <a:off x="6351880" y="4306824"/>
            <a:ext cx="5236312" cy="182880"/>
          </a:xfrm>
          <a:prstGeom prst="rect">
            <a:avLst/>
          </a:prstGeom>
          <a:noFill/>
          <a:ln/>
        </p:spPr>
        <p:txBody>
          <a:bodyPr wrap="square" lIns="0" tIns="0" rIns="0" bIns="0" rtlCol="0" anchor="ctr"/>
          <a:lstStyle/>
          <a:p>
            <a:pPr indent="0" marL="0">
              <a:buNone/>
            </a:pPr>
            <a:r>
              <a:rPr lang="en-US" sz="900" spc="140" kern="0" dirty="0">
                <a:solidFill>
                  <a:srgbClr val="9B2C2C"/>
                </a:solidFill>
                <a:latin typeface="Consolas" pitchFamily="34" charset="0"/>
                <a:ea typeface="Consolas" pitchFamily="34" charset="-122"/>
                <a:cs typeface="Consolas" pitchFamily="34" charset="-120"/>
              </a:rPr>
              <a:t>TWO ASYMMETRIES</a:t>
            </a:r>
            <a:endParaRPr lang="en-US" sz="900" dirty="0"/>
          </a:p>
        </p:txBody>
      </p:sp>
      <p:sp>
        <p:nvSpPr>
          <p:cNvPr id="13" name="Text 10"/>
          <p:cNvSpPr txBox="1"/>
          <p:nvPr/>
        </p:nvSpPr>
        <p:spPr>
          <a:xfrm>
            <a:off x="6351880" y="4498848"/>
            <a:ext cx="5236312" cy="256032"/>
          </a:xfrm>
          <a:prstGeom prst="rect">
            <a:avLst/>
          </a:prstGeom>
          <a:noFill/>
          <a:ln/>
        </p:spPr>
        <p:txBody>
          <a:bodyPr wrap="square" lIns="0" tIns="0" rIns="0" bIns="0" rtlCol="0" anchor="ctr"/>
          <a:lstStyle/>
          <a:p>
            <a:pPr indent="0" marL="0">
              <a:buNone/>
            </a:pPr>
            <a:r>
              <a:rPr lang="en-US" sz="1450" b="1" dirty="0">
                <a:solidFill>
                  <a:srgbClr val="0F1A2B"/>
                </a:solidFill>
                <a:latin typeface="Cambria" pitchFamily="34" charset="0"/>
                <a:ea typeface="Cambria" pitchFamily="34" charset="-122"/>
                <a:cs typeface="Cambria" pitchFamily="34" charset="-120"/>
              </a:rPr>
              <a:t>Failure and success both mislead</a:t>
            </a:r>
            <a:endParaRPr lang="en-US" sz="1450" dirty="0"/>
          </a:p>
        </p:txBody>
      </p:sp>
      <p:sp>
        <p:nvSpPr>
          <p:cNvPr id="14" name="Text 11"/>
          <p:cNvSpPr txBox="1"/>
          <p:nvPr/>
        </p:nvSpPr>
        <p:spPr>
          <a:xfrm>
            <a:off x="6351880" y="4782312"/>
            <a:ext cx="5236312" cy="521208"/>
          </a:xfrm>
          <a:prstGeom prst="rect">
            <a:avLst/>
          </a:prstGeom>
          <a:noFill/>
          <a:ln/>
        </p:spPr>
        <p:txBody>
          <a:bodyPr wrap="square" lIns="0" tIns="0" rIns="0" bIns="0" rtlCol="0" anchor="t"/>
          <a:lstStyle/>
          <a:p>
            <a:pPr indent="0" marL="0">
              <a:buNone/>
            </a:pPr>
            <a:r>
              <a:rPr lang="en-US" sz="1100" dirty="0">
                <a:solidFill>
                  <a:srgbClr val="1A1F2B"/>
                </a:solidFill>
              </a:rPr>
              <a:t>A failed attempt does not mean the Intent failed permanently — if another attempt is permitted, the Intent remains actionable. And </a:t>
            </a:r>
            <a:pPr indent="0" marL="0">
              <a:buNone/>
            </a:pPr>
            <a:r>
              <a:rPr lang="en-US" sz="1100" b="1" dirty="0">
                <a:solidFill>
                  <a:srgbClr val="1A1F2B"/>
                </a:solidFill>
              </a:rPr>
              <a:t>a successful authorization does not mean the collection is complete</a:t>
            </a:r>
            <a:pPr indent="0" marL="0">
              <a:buNone/>
            </a:pPr>
            <a:r>
              <a:rPr lang="en-US" sz="1100" dirty="0">
                <a:solidFill>
                  <a:srgbClr val="1A1F2B"/>
                </a:solidFill>
              </a:rPr>
              <a:t>.</a:t>
            </a:r>
            <a:endParaRPr lang="en-US" sz="1100" dirty="0"/>
          </a:p>
        </p:txBody>
      </p:sp>
      <p:sp>
        <p:nvSpPr>
          <p:cNvPr id="25" name="Slide Number Placeholder 0"/>
          <p:cNvSpPr>
            <a:spLocks noGrp="1"/>
          </p:cNvSpPr>
          <p:nvPr>
            <p:ph type="sldNum" sz="quarter" idx="4294967295"/>
          </p:nvPr>
        </p:nvSpPr>
        <p:spPr>
          <a:xfrm>
            <a:off x="11430000" y="6419088"/>
            <a:ext cx="36576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9AA2AE"/>
                </a:solidFill>
                <a:latin typeface="Consolas"/>
                <a:ea typeface="Consolas"/>
                <a:cs typeface="Consolas"/>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475488" y="310896"/>
            <a:ext cx="11240719" cy="219456"/>
          </a:xfrm>
          <a:prstGeom prst="rect">
            <a:avLst/>
          </a:prstGeom>
          <a:noFill/>
          <a:ln/>
        </p:spPr>
        <p:txBody>
          <a:bodyPr wrap="square" lIns="0" tIns="0" rIns="0" bIns="0" rtlCol="0" anchor="ctr"/>
          <a:lstStyle/>
          <a:p>
            <a:pPr indent="0" marL="0">
              <a:buNone/>
            </a:pPr>
            <a:r>
              <a:rPr lang="en-US" sz="1050" spc="240" kern="0" dirty="0">
                <a:solidFill>
                  <a:srgbClr val="B8892F"/>
                </a:solidFill>
                <a:latin typeface="Consolas" pitchFamily="34" charset="0"/>
                <a:ea typeface="Consolas" pitchFamily="34" charset="-122"/>
                <a:cs typeface="Consolas" pitchFamily="34" charset="-120"/>
              </a:rPr>
              <a:t>DATA MODEL</a:t>
            </a:r>
            <a:endParaRPr lang="en-US" sz="1050" dirty="0"/>
          </a:p>
        </p:txBody>
      </p:sp>
      <p:sp>
        <p:nvSpPr>
          <p:cNvPr id="3" name="Text 1"/>
          <p:cNvSpPr txBox="1"/>
          <p:nvPr/>
        </p:nvSpPr>
        <p:spPr>
          <a:xfrm>
            <a:off x="475488" y="548640"/>
            <a:ext cx="11240719" cy="566928"/>
          </a:xfrm>
          <a:prstGeom prst="rect">
            <a:avLst/>
          </a:prstGeom>
          <a:noFill/>
          <a:ln/>
        </p:spPr>
        <p:txBody>
          <a:bodyPr wrap="square" lIns="0" tIns="0" rIns="0" bIns="0" rtlCol="0" anchor="t"/>
          <a:lstStyle/>
          <a:p>
            <a:pPr indent="0" marL="0">
              <a:buNone/>
            </a:pPr>
            <a:r>
              <a:rPr lang="en-US" sz="3000" b="1" dirty="0">
                <a:solidFill>
                  <a:srgbClr val="0F1A2B"/>
                </a:solidFill>
                <a:latin typeface="Cambria" pitchFamily="34" charset="0"/>
                <a:ea typeface="Cambria" pitchFamily="34" charset="-122"/>
                <a:cs typeface="Cambria" pitchFamily="34" charset="-120"/>
              </a:rPr>
              <a:t>Seven records, linked by stable identifiers</a:t>
            </a:r>
            <a:endParaRPr lang="en-US" sz="3000" dirty="0"/>
          </a:p>
        </p:txBody>
      </p:sp>
      <p:sp>
        <p:nvSpPr>
          <p:cNvPr id="4" name="Text 2"/>
          <p:cNvSpPr txBox="1"/>
          <p:nvPr/>
        </p:nvSpPr>
        <p:spPr>
          <a:xfrm>
            <a:off x="475488" y="1188720"/>
            <a:ext cx="11240719" cy="475488"/>
          </a:xfrm>
          <a:prstGeom prst="rect">
            <a:avLst/>
          </a:prstGeom>
          <a:noFill/>
          <a:ln/>
        </p:spPr>
        <p:txBody>
          <a:bodyPr wrap="square" lIns="0" tIns="0" rIns="0" bIns="0" rtlCol="0" anchor="t"/>
          <a:lstStyle/>
          <a:p>
            <a:pPr indent="0" marL="0">
              <a:buNone/>
            </a:pPr>
            <a:r>
              <a:rPr lang="en-US" sz="1250" dirty="0">
                <a:solidFill>
                  <a:srgbClr val="414A5C"/>
                </a:solidFill>
              </a:rPr>
              <a:t>Public resources should be backed by distinct, auditable records. Never depend on the latest Attempt alone to reconstruct financial history.</a:t>
            </a:r>
            <a:endParaRPr lang="en-US" sz="1250" dirty="0"/>
          </a:p>
        </p:txBody>
      </p:sp>
      <p:sp>
        <p:nvSpPr>
          <p:cNvPr id="5" name="Shape 3"/>
          <p:cNvSpPr/>
          <p:nvPr/>
        </p:nvSpPr>
        <p:spPr>
          <a:xfrm>
            <a:off x="475488" y="1737360"/>
            <a:ext cx="11240719" cy="22860"/>
          </a:xfrm>
          <a:prstGeom prst="rect">
            <a:avLst/>
          </a:prstGeom>
          <a:solidFill>
            <a:srgbClr val="B8892F"/>
          </a:solidFill>
          <a:ln w="12700">
            <a:solidFill>
              <a:srgbClr val="B8892F"/>
            </a:solidFill>
            <a:prstDash val="solid"/>
          </a:ln>
        </p:spPr>
      </p:sp>
      <p:sp>
        <p:nvSpPr>
          <p:cNvPr id="6" name="card-Payment Intent"/>
          <p:cNvSpPr/>
          <p:nvPr/>
        </p:nvSpPr>
        <p:spPr>
          <a:xfrm>
            <a:off x="475488" y="1901952"/>
            <a:ext cx="3637178" cy="1152144"/>
          </a:xfrm>
          <a:prstGeom prst="rect">
            <a:avLst/>
          </a:prstGeom>
          <a:solidFill>
            <a:srgbClr val="FBFAF7"/>
          </a:solidFill>
          <a:ln w="6350">
            <a:solidFill>
              <a:srgbClr val="DCD7CB"/>
            </a:solidFill>
            <a:prstDash val="solid"/>
          </a:ln>
        </p:spPr>
      </p:sp>
      <p:sp>
        <p:nvSpPr>
          <p:cNvPr id="7" name="Text 5"/>
          <p:cNvSpPr txBox="1"/>
          <p:nvPr/>
        </p:nvSpPr>
        <p:spPr>
          <a:xfrm>
            <a:off x="603504" y="2002536"/>
            <a:ext cx="3381146" cy="182880"/>
          </a:xfrm>
          <a:prstGeom prst="rect">
            <a:avLst/>
          </a:prstGeom>
          <a:noFill/>
          <a:ln/>
        </p:spPr>
        <p:txBody>
          <a:bodyPr wrap="square" lIns="0" tIns="0" rIns="0" bIns="0" rtlCol="0" anchor="ctr"/>
          <a:lstStyle/>
          <a:p>
            <a:pPr indent="0" marL="0">
              <a:buNone/>
            </a:pPr>
            <a:r>
              <a:rPr lang="en-US" sz="900" spc="140" kern="0" dirty="0">
                <a:solidFill>
                  <a:srgbClr val="26706A"/>
                </a:solidFill>
                <a:latin typeface="Consolas" pitchFamily="34" charset="0"/>
                <a:ea typeface="Consolas" pitchFamily="34" charset="-122"/>
                <a:cs typeface="Consolas" pitchFamily="34" charset="-120"/>
              </a:rPr>
              <a:t>DURABLE</a:t>
            </a:r>
            <a:endParaRPr lang="en-US" sz="900" dirty="0"/>
          </a:p>
        </p:txBody>
      </p:sp>
      <p:sp>
        <p:nvSpPr>
          <p:cNvPr id="8" name="Text 6"/>
          <p:cNvSpPr txBox="1"/>
          <p:nvPr/>
        </p:nvSpPr>
        <p:spPr>
          <a:xfrm>
            <a:off x="603504" y="2194560"/>
            <a:ext cx="3381146" cy="256032"/>
          </a:xfrm>
          <a:prstGeom prst="rect">
            <a:avLst/>
          </a:prstGeom>
          <a:noFill/>
          <a:ln/>
        </p:spPr>
        <p:txBody>
          <a:bodyPr wrap="square" lIns="0" tIns="0" rIns="0" bIns="0" rtlCol="0" anchor="ctr"/>
          <a:lstStyle/>
          <a:p>
            <a:pPr indent="0" marL="0">
              <a:buNone/>
            </a:pPr>
            <a:r>
              <a:rPr lang="en-US" sz="1450" b="1" dirty="0">
                <a:solidFill>
                  <a:srgbClr val="0F1A2B"/>
                </a:solidFill>
                <a:latin typeface="Cambria" pitchFamily="34" charset="0"/>
                <a:ea typeface="Cambria" pitchFamily="34" charset="-122"/>
                <a:cs typeface="Cambria" pitchFamily="34" charset="-120"/>
              </a:rPr>
              <a:t>Payment Intent</a:t>
            </a:r>
            <a:endParaRPr lang="en-US" sz="1450" dirty="0"/>
          </a:p>
        </p:txBody>
      </p:sp>
      <p:sp>
        <p:nvSpPr>
          <p:cNvPr id="9" name="Text 7"/>
          <p:cNvSpPr txBox="1"/>
          <p:nvPr/>
        </p:nvSpPr>
        <p:spPr>
          <a:xfrm>
            <a:off x="603504" y="2478024"/>
            <a:ext cx="3381146" cy="484632"/>
          </a:xfrm>
          <a:prstGeom prst="rect">
            <a:avLst/>
          </a:prstGeom>
          <a:noFill/>
          <a:ln/>
        </p:spPr>
        <p:txBody>
          <a:bodyPr wrap="square" lIns="0" tIns="0" rIns="0" bIns="0" rtlCol="0" anchor="t"/>
          <a:lstStyle/>
          <a:p>
            <a:pPr indent="0" marL="0">
              <a:buNone/>
            </a:pPr>
            <a:r>
              <a:rPr lang="en-US" sz="1100" dirty="0">
                <a:solidFill>
                  <a:srgbClr val="1A1F2B"/>
                </a:solidFill>
              </a:rPr>
              <a:t>intent_id · merchant · amount · currency · collection policy · instrument constraints · lifecycle status · aggregate amounts · version</a:t>
            </a:r>
            <a:endParaRPr lang="en-US" sz="1100" dirty="0"/>
          </a:p>
        </p:txBody>
      </p:sp>
      <p:sp>
        <p:nvSpPr>
          <p:cNvPr id="10" name="card-Payment Attempt"/>
          <p:cNvSpPr/>
          <p:nvPr/>
        </p:nvSpPr>
        <p:spPr>
          <a:xfrm>
            <a:off x="475488" y="3163824"/>
            <a:ext cx="3637178" cy="1152144"/>
          </a:xfrm>
          <a:prstGeom prst="rect">
            <a:avLst/>
          </a:prstGeom>
          <a:solidFill>
            <a:srgbClr val="FBFAF7"/>
          </a:solidFill>
          <a:ln w="6350">
            <a:solidFill>
              <a:srgbClr val="DCD7CB"/>
            </a:solidFill>
            <a:prstDash val="solid"/>
          </a:ln>
        </p:spPr>
      </p:sp>
      <p:sp>
        <p:nvSpPr>
          <p:cNvPr id="11" name="Text 9"/>
          <p:cNvSpPr txBox="1"/>
          <p:nvPr/>
        </p:nvSpPr>
        <p:spPr>
          <a:xfrm>
            <a:off x="603504" y="3264408"/>
            <a:ext cx="3381146" cy="182880"/>
          </a:xfrm>
          <a:prstGeom prst="rect">
            <a:avLst/>
          </a:prstGeom>
          <a:noFill/>
          <a:ln/>
        </p:spPr>
        <p:txBody>
          <a:bodyPr wrap="square" lIns="0" tIns="0" rIns="0" bIns="0" rtlCol="0" anchor="ctr"/>
          <a:lstStyle/>
          <a:p>
            <a:pPr indent="0" marL="0">
              <a:buNone/>
            </a:pPr>
            <a:r>
              <a:rPr lang="en-US" sz="900" spc="140" kern="0" dirty="0">
                <a:solidFill>
                  <a:srgbClr val="26706A"/>
                </a:solidFill>
                <a:latin typeface="Consolas" pitchFamily="34" charset="0"/>
                <a:ea typeface="Consolas" pitchFamily="34" charset="-122"/>
                <a:cs typeface="Consolas" pitchFamily="34" charset="-120"/>
              </a:rPr>
              <a:t>IMMUTABLE</a:t>
            </a:r>
            <a:endParaRPr lang="en-US" sz="900" dirty="0"/>
          </a:p>
        </p:txBody>
      </p:sp>
      <p:sp>
        <p:nvSpPr>
          <p:cNvPr id="12" name="Text 10"/>
          <p:cNvSpPr txBox="1"/>
          <p:nvPr/>
        </p:nvSpPr>
        <p:spPr>
          <a:xfrm>
            <a:off x="603504" y="3456432"/>
            <a:ext cx="3381146" cy="256032"/>
          </a:xfrm>
          <a:prstGeom prst="rect">
            <a:avLst/>
          </a:prstGeom>
          <a:noFill/>
          <a:ln/>
        </p:spPr>
        <p:txBody>
          <a:bodyPr wrap="square" lIns="0" tIns="0" rIns="0" bIns="0" rtlCol="0" anchor="ctr"/>
          <a:lstStyle/>
          <a:p>
            <a:pPr indent="0" marL="0">
              <a:buNone/>
            </a:pPr>
            <a:r>
              <a:rPr lang="en-US" sz="1450" b="1" dirty="0">
                <a:solidFill>
                  <a:srgbClr val="0F1A2B"/>
                </a:solidFill>
                <a:latin typeface="Cambria" pitchFamily="34" charset="0"/>
                <a:ea typeface="Cambria" pitchFamily="34" charset="-122"/>
                <a:cs typeface="Cambria" pitchFamily="34" charset="-120"/>
              </a:rPr>
              <a:t>Payment Attempt</a:t>
            </a:r>
            <a:endParaRPr lang="en-US" sz="1450" dirty="0"/>
          </a:p>
        </p:txBody>
      </p:sp>
      <p:sp>
        <p:nvSpPr>
          <p:cNvPr id="13" name="Text 11"/>
          <p:cNvSpPr txBox="1"/>
          <p:nvPr/>
        </p:nvSpPr>
        <p:spPr>
          <a:xfrm>
            <a:off x="603504" y="3739896"/>
            <a:ext cx="3381146" cy="484632"/>
          </a:xfrm>
          <a:prstGeom prst="rect">
            <a:avLst/>
          </a:prstGeom>
          <a:noFill/>
          <a:ln/>
        </p:spPr>
        <p:txBody>
          <a:bodyPr wrap="square" lIns="0" tIns="0" rIns="0" bIns="0" rtlCol="0" anchor="t"/>
          <a:lstStyle/>
          <a:p>
            <a:pPr indent="0" marL="0">
              <a:buNone/>
            </a:pPr>
            <a:r>
              <a:rPr lang="en-US" sz="1100" dirty="0">
                <a:solidFill>
                  <a:srgbClr val="1A1F2B"/>
                </a:solidFill>
              </a:rPr>
              <a:t>attempt_id · intent_id · attempt number · credential ref · </a:t>
            </a:r>
            <a:pPr indent="0" marL="0">
              <a:buNone/>
            </a:pPr>
            <a:r>
              <a:rPr lang="en-US" sz="1100" b="1" dirty="0">
                <a:solidFill>
                  <a:srgbClr val="1A1F2B"/>
                </a:solidFill>
              </a:rPr>
              <a:t>rail</a:t>
            </a:r>
            <a:pPr indent="0" marL="0">
              <a:buNone/>
            </a:pPr>
            <a:r>
              <a:rPr lang="en-US" sz="1100" dirty="0">
                <a:solidFill>
                  <a:srgbClr val="1A1F2B"/>
                </a:solidFill>
              </a:rPr>
              <a:t> · route decision · authentication refs · raw and normalized outcome · timestamps</a:t>
            </a:r>
            <a:endParaRPr lang="en-US" sz="1100" dirty="0"/>
          </a:p>
        </p:txBody>
      </p:sp>
      <p:sp>
        <p:nvSpPr>
          <p:cNvPr id="14" name="card-Orchestration Decision"/>
          <p:cNvSpPr/>
          <p:nvPr/>
        </p:nvSpPr>
        <p:spPr>
          <a:xfrm>
            <a:off x="475488" y="4425696"/>
            <a:ext cx="3637178" cy="987552"/>
          </a:xfrm>
          <a:prstGeom prst="rect">
            <a:avLst/>
          </a:prstGeom>
          <a:solidFill>
            <a:srgbClr val="FAF4E6"/>
          </a:solidFill>
          <a:ln w="6350">
            <a:solidFill>
              <a:srgbClr val="DCD7CB"/>
            </a:solidFill>
            <a:prstDash val="solid"/>
          </a:ln>
        </p:spPr>
      </p:sp>
      <p:sp>
        <p:nvSpPr>
          <p:cNvPr id="15" name="Text 13"/>
          <p:cNvSpPr txBox="1"/>
          <p:nvPr/>
        </p:nvSpPr>
        <p:spPr>
          <a:xfrm>
            <a:off x="603504" y="4526280"/>
            <a:ext cx="3381146" cy="182880"/>
          </a:xfrm>
          <a:prstGeom prst="rect">
            <a:avLst/>
          </a:prstGeom>
          <a:noFill/>
          <a:ln/>
        </p:spPr>
        <p:txBody>
          <a:bodyPr wrap="square" lIns="0" tIns="0" rIns="0" bIns="0" rtlCol="0" anchor="ctr"/>
          <a:lstStyle/>
          <a:p>
            <a:pPr indent="0" marL="0">
              <a:buNone/>
            </a:pPr>
            <a:r>
              <a:rPr lang="en-US" sz="900" spc="140" kern="0" dirty="0">
                <a:solidFill>
                  <a:srgbClr val="B8892F"/>
                </a:solidFill>
                <a:latin typeface="Consolas" pitchFamily="34" charset="0"/>
                <a:ea typeface="Consolas" pitchFamily="34" charset="-122"/>
                <a:cs typeface="Consolas" pitchFamily="34" charset="-120"/>
              </a:rPr>
              <a:t>NEW IN THIS DESIGN</a:t>
            </a:r>
            <a:endParaRPr lang="en-US" sz="900" dirty="0"/>
          </a:p>
        </p:txBody>
      </p:sp>
      <p:sp>
        <p:nvSpPr>
          <p:cNvPr id="16" name="Text 14"/>
          <p:cNvSpPr txBox="1"/>
          <p:nvPr/>
        </p:nvSpPr>
        <p:spPr>
          <a:xfrm>
            <a:off x="603504" y="4718304"/>
            <a:ext cx="3381146" cy="256032"/>
          </a:xfrm>
          <a:prstGeom prst="rect">
            <a:avLst/>
          </a:prstGeom>
          <a:noFill/>
          <a:ln/>
        </p:spPr>
        <p:txBody>
          <a:bodyPr wrap="square" lIns="0" tIns="0" rIns="0" bIns="0" rtlCol="0" anchor="ctr"/>
          <a:lstStyle/>
          <a:p>
            <a:pPr indent="0" marL="0">
              <a:buNone/>
            </a:pPr>
            <a:r>
              <a:rPr lang="en-US" sz="1450" b="1" dirty="0">
                <a:solidFill>
                  <a:srgbClr val="0F1A2B"/>
                </a:solidFill>
                <a:latin typeface="Cambria" pitchFamily="34" charset="0"/>
                <a:ea typeface="Cambria" pitchFamily="34" charset="-122"/>
                <a:cs typeface="Cambria" pitchFamily="34" charset="-120"/>
              </a:rPr>
              <a:t>Orchestration Decision</a:t>
            </a:r>
            <a:endParaRPr lang="en-US" sz="1450" dirty="0"/>
          </a:p>
        </p:txBody>
      </p:sp>
      <p:sp>
        <p:nvSpPr>
          <p:cNvPr id="17" name="Text 15"/>
          <p:cNvSpPr txBox="1"/>
          <p:nvPr/>
        </p:nvSpPr>
        <p:spPr>
          <a:xfrm>
            <a:off x="603504" y="5001768"/>
            <a:ext cx="3381146" cy="320040"/>
          </a:xfrm>
          <a:prstGeom prst="rect">
            <a:avLst/>
          </a:prstGeom>
          <a:noFill/>
          <a:ln/>
        </p:spPr>
        <p:txBody>
          <a:bodyPr wrap="square" lIns="0" tIns="0" rIns="0" bIns="0" rtlCol="0" anchor="t"/>
          <a:lstStyle/>
          <a:p>
            <a:pPr indent="0" marL="0">
              <a:buNone/>
            </a:pPr>
            <a:r>
              <a:rPr lang="en-US" sz="1100" dirty="0">
                <a:solidFill>
                  <a:srgbClr val="1A1F2B"/>
                </a:solidFill>
              </a:rPr>
              <a:t>decision_id · input outcome · policy version · </a:t>
            </a:r>
            <a:pPr indent="0" marL="0">
              <a:buNone/>
            </a:pPr>
            <a:r>
              <a:rPr lang="en-US" sz="1100" b="1" dirty="0">
                <a:solidFill>
                  <a:srgbClr val="1A1F2B"/>
                </a:solidFill>
              </a:rPr>
              <a:t>eligible rails</a:t>
            </a:r>
            <a:pPr indent="0" marL="0">
              <a:buNone/>
            </a:pPr>
            <a:r>
              <a:rPr lang="en-US" sz="1100" dirty="0">
                <a:solidFill>
                  <a:srgbClr val="1A1F2B"/>
                </a:solidFill>
              </a:rPr>
              <a:t> · selected action · reason · constraints evaluated</a:t>
            </a:r>
            <a:endParaRPr lang="en-US" sz="1100" dirty="0"/>
          </a:p>
        </p:txBody>
      </p:sp>
      <p:sp>
        <p:nvSpPr>
          <p:cNvPr id="18" name="card-Authentication Session"/>
          <p:cNvSpPr/>
          <p:nvPr/>
        </p:nvSpPr>
        <p:spPr>
          <a:xfrm>
            <a:off x="4277258" y="1901952"/>
            <a:ext cx="3637178" cy="1152144"/>
          </a:xfrm>
          <a:prstGeom prst="rect">
            <a:avLst/>
          </a:prstGeom>
          <a:solidFill>
            <a:srgbClr val="FBFAF7"/>
          </a:solidFill>
          <a:ln w="6350">
            <a:solidFill>
              <a:srgbClr val="DCD7CB"/>
            </a:solidFill>
            <a:prstDash val="solid"/>
          </a:ln>
        </p:spPr>
      </p:sp>
      <p:sp>
        <p:nvSpPr>
          <p:cNvPr id="19" name="Text 17"/>
          <p:cNvSpPr txBox="1"/>
          <p:nvPr/>
        </p:nvSpPr>
        <p:spPr>
          <a:xfrm>
            <a:off x="4405274" y="2002536"/>
            <a:ext cx="3381146" cy="182880"/>
          </a:xfrm>
          <a:prstGeom prst="rect">
            <a:avLst/>
          </a:prstGeom>
          <a:noFill/>
          <a:ln/>
        </p:spPr>
        <p:txBody>
          <a:bodyPr wrap="square" lIns="0" tIns="0" rIns="0" bIns="0" rtlCol="0" anchor="ctr"/>
          <a:lstStyle/>
          <a:p>
            <a:pPr indent="0" marL="0">
              <a:buNone/>
            </a:pPr>
            <a:r>
              <a:rPr lang="en-US" sz="900" spc="140" kern="0" dirty="0">
                <a:solidFill>
                  <a:srgbClr val="26706A"/>
                </a:solidFill>
                <a:latin typeface="Consolas" pitchFamily="34" charset="0"/>
                <a:ea typeface="Consolas" pitchFamily="34" charset="-122"/>
                <a:cs typeface="Consolas" pitchFamily="34" charset="-120"/>
              </a:rPr>
              <a:t>WORKFLOW</a:t>
            </a:r>
            <a:endParaRPr lang="en-US" sz="900" dirty="0"/>
          </a:p>
        </p:txBody>
      </p:sp>
      <p:sp>
        <p:nvSpPr>
          <p:cNvPr id="20" name="Text 18"/>
          <p:cNvSpPr txBox="1"/>
          <p:nvPr/>
        </p:nvSpPr>
        <p:spPr>
          <a:xfrm>
            <a:off x="4405274" y="2194560"/>
            <a:ext cx="3381146" cy="256032"/>
          </a:xfrm>
          <a:prstGeom prst="rect">
            <a:avLst/>
          </a:prstGeom>
          <a:noFill/>
          <a:ln/>
        </p:spPr>
        <p:txBody>
          <a:bodyPr wrap="square" lIns="0" tIns="0" rIns="0" bIns="0" rtlCol="0" anchor="ctr"/>
          <a:lstStyle/>
          <a:p>
            <a:pPr indent="0" marL="0">
              <a:buNone/>
            </a:pPr>
            <a:r>
              <a:rPr lang="en-US" sz="1450" b="1" dirty="0">
                <a:solidFill>
                  <a:srgbClr val="0F1A2B"/>
                </a:solidFill>
                <a:latin typeface="Cambria" pitchFamily="34" charset="0"/>
                <a:ea typeface="Cambria" pitchFamily="34" charset="-122"/>
                <a:cs typeface="Cambria" pitchFamily="34" charset="-120"/>
              </a:rPr>
              <a:t>Authentication Session</a:t>
            </a:r>
            <a:endParaRPr lang="en-US" sz="1450" dirty="0"/>
          </a:p>
        </p:txBody>
      </p:sp>
      <p:sp>
        <p:nvSpPr>
          <p:cNvPr id="21" name="Text 19"/>
          <p:cNvSpPr txBox="1"/>
          <p:nvPr/>
        </p:nvSpPr>
        <p:spPr>
          <a:xfrm>
            <a:off x="4405274" y="2478024"/>
            <a:ext cx="3381146" cy="484632"/>
          </a:xfrm>
          <a:prstGeom prst="rect">
            <a:avLst/>
          </a:prstGeom>
          <a:noFill/>
          <a:ln/>
        </p:spPr>
        <p:txBody>
          <a:bodyPr wrap="square" lIns="0" tIns="0" rIns="0" bIns="0" rtlCol="0" anchor="t"/>
          <a:lstStyle/>
          <a:p>
            <a:pPr indent="0" marL="0">
              <a:buNone/>
            </a:pPr>
            <a:r>
              <a:rPr lang="en-US" sz="1100" dirty="0">
                <a:solidFill>
                  <a:srgbClr val="1A1F2B"/>
                </a:solidFill>
              </a:rPr>
              <a:t>authentication_id · intent_id · challenge state · 3DS server and ACS refs · evidence · expiry and continuation</a:t>
            </a:r>
            <a:endParaRPr lang="en-US" sz="1100" dirty="0"/>
          </a:p>
        </p:txBody>
      </p:sp>
      <p:sp>
        <p:nvSpPr>
          <p:cNvPr id="22" name="card-Authorization"/>
          <p:cNvSpPr/>
          <p:nvPr/>
        </p:nvSpPr>
        <p:spPr>
          <a:xfrm>
            <a:off x="4277258" y="3163824"/>
            <a:ext cx="3637178" cy="1152144"/>
          </a:xfrm>
          <a:prstGeom prst="rect">
            <a:avLst/>
          </a:prstGeom>
          <a:solidFill>
            <a:srgbClr val="FBFAF7"/>
          </a:solidFill>
          <a:ln w="6350">
            <a:solidFill>
              <a:srgbClr val="DCD7CB"/>
            </a:solidFill>
            <a:prstDash val="solid"/>
          </a:ln>
        </p:spPr>
      </p:sp>
      <p:sp>
        <p:nvSpPr>
          <p:cNvPr id="23" name="Text 21"/>
          <p:cNvSpPr txBox="1"/>
          <p:nvPr/>
        </p:nvSpPr>
        <p:spPr>
          <a:xfrm>
            <a:off x="4405274" y="3264408"/>
            <a:ext cx="3381146" cy="182880"/>
          </a:xfrm>
          <a:prstGeom prst="rect">
            <a:avLst/>
          </a:prstGeom>
          <a:noFill/>
          <a:ln/>
        </p:spPr>
        <p:txBody>
          <a:bodyPr wrap="square" lIns="0" tIns="0" rIns="0" bIns="0" rtlCol="0" anchor="ctr"/>
          <a:lstStyle/>
          <a:p>
            <a:pPr indent="0" marL="0">
              <a:buNone/>
            </a:pPr>
            <a:r>
              <a:rPr lang="en-US" sz="900" spc="140" kern="0" dirty="0">
                <a:solidFill>
                  <a:srgbClr val="26706A"/>
                </a:solidFill>
                <a:latin typeface="Consolas" pitchFamily="34" charset="0"/>
                <a:ea typeface="Consolas" pitchFamily="34" charset="-122"/>
                <a:cs typeface="Consolas" pitchFamily="34" charset="-120"/>
              </a:rPr>
              <a:t>FINANCIAL</a:t>
            </a:r>
            <a:endParaRPr lang="en-US" sz="900" dirty="0"/>
          </a:p>
        </p:txBody>
      </p:sp>
      <p:sp>
        <p:nvSpPr>
          <p:cNvPr id="24" name="Text 22"/>
          <p:cNvSpPr txBox="1"/>
          <p:nvPr/>
        </p:nvSpPr>
        <p:spPr>
          <a:xfrm>
            <a:off x="4405274" y="3456432"/>
            <a:ext cx="3381146" cy="256032"/>
          </a:xfrm>
          <a:prstGeom prst="rect">
            <a:avLst/>
          </a:prstGeom>
          <a:noFill/>
          <a:ln/>
        </p:spPr>
        <p:txBody>
          <a:bodyPr wrap="square" lIns="0" tIns="0" rIns="0" bIns="0" rtlCol="0" anchor="ctr"/>
          <a:lstStyle/>
          <a:p>
            <a:pPr indent="0" marL="0">
              <a:buNone/>
            </a:pPr>
            <a:r>
              <a:rPr lang="en-US" sz="1450" b="1" dirty="0">
                <a:solidFill>
                  <a:srgbClr val="0F1A2B"/>
                </a:solidFill>
                <a:latin typeface="Cambria" pitchFamily="34" charset="0"/>
                <a:ea typeface="Cambria" pitchFamily="34" charset="-122"/>
                <a:cs typeface="Cambria" pitchFamily="34" charset="-120"/>
              </a:rPr>
              <a:t>Authorization</a:t>
            </a:r>
            <a:endParaRPr lang="en-US" sz="1450" dirty="0"/>
          </a:p>
        </p:txBody>
      </p:sp>
      <p:sp>
        <p:nvSpPr>
          <p:cNvPr id="25" name="Text 23"/>
          <p:cNvSpPr txBox="1"/>
          <p:nvPr/>
        </p:nvSpPr>
        <p:spPr>
          <a:xfrm>
            <a:off x="4405274" y="3739896"/>
            <a:ext cx="3381146" cy="484632"/>
          </a:xfrm>
          <a:prstGeom prst="rect">
            <a:avLst/>
          </a:prstGeom>
          <a:noFill/>
          <a:ln/>
        </p:spPr>
        <p:txBody>
          <a:bodyPr wrap="square" lIns="0" tIns="0" rIns="0" bIns="0" rtlCol="0" anchor="t"/>
          <a:lstStyle/>
          <a:p>
            <a:pPr indent="0" marL="0">
              <a:buNone/>
            </a:pPr>
            <a:r>
              <a:rPr lang="en-US" sz="1100" dirty="0">
                <a:solidFill>
                  <a:srgbClr val="1A1F2B"/>
                </a:solidFill>
              </a:rPr>
              <a:t>authorization ref · authorized amount · currency · status · expiry · reversal status · rail · associated attempt</a:t>
            </a:r>
            <a:endParaRPr lang="en-US" sz="1100" dirty="0"/>
          </a:p>
        </p:txBody>
      </p:sp>
      <p:sp>
        <p:nvSpPr>
          <p:cNvPr id="26" name="card-Refund"/>
          <p:cNvSpPr/>
          <p:nvPr/>
        </p:nvSpPr>
        <p:spPr>
          <a:xfrm>
            <a:off x="4277258" y="4425696"/>
            <a:ext cx="3637178" cy="987552"/>
          </a:xfrm>
          <a:prstGeom prst="rect">
            <a:avLst/>
          </a:prstGeom>
          <a:solidFill>
            <a:srgbClr val="FBFAF7"/>
          </a:solidFill>
          <a:ln w="6350">
            <a:solidFill>
              <a:srgbClr val="DCD7CB"/>
            </a:solidFill>
            <a:prstDash val="solid"/>
          </a:ln>
        </p:spPr>
      </p:sp>
      <p:sp>
        <p:nvSpPr>
          <p:cNvPr id="27" name="Text 25"/>
          <p:cNvSpPr txBox="1"/>
          <p:nvPr/>
        </p:nvSpPr>
        <p:spPr>
          <a:xfrm>
            <a:off x="4405274" y="4526280"/>
            <a:ext cx="3381146" cy="182880"/>
          </a:xfrm>
          <a:prstGeom prst="rect">
            <a:avLst/>
          </a:prstGeom>
          <a:noFill/>
          <a:ln/>
        </p:spPr>
        <p:txBody>
          <a:bodyPr wrap="square" lIns="0" tIns="0" rIns="0" bIns="0" rtlCol="0" anchor="ctr"/>
          <a:lstStyle/>
          <a:p>
            <a:pPr indent="0" marL="0">
              <a:buNone/>
            </a:pPr>
            <a:r>
              <a:rPr lang="en-US" sz="900" spc="140" kern="0" dirty="0">
                <a:solidFill>
                  <a:srgbClr val="26706A"/>
                </a:solidFill>
                <a:latin typeface="Consolas" pitchFamily="34" charset="0"/>
                <a:ea typeface="Consolas" pitchFamily="34" charset="-122"/>
                <a:cs typeface="Consolas" pitchFamily="34" charset="-120"/>
              </a:rPr>
              <a:t>FINANCIAL</a:t>
            </a:r>
            <a:endParaRPr lang="en-US" sz="900" dirty="0"/>
          </a:p>
        </p:txBody>
      </p:sp>
      <p:sp>
        <p:nvSpPr>
          <p:cNvPr id="28" name="Text 26"/>
          <p:cNvSpPr txBox="1"/>
          <p:nvPr/>
        </p:nvSpPr>
        <p:spPr>
          <a:xfrm>
            <a:off x="4405274" y="4718304"/>
            <a:ext cx="3381146" cy="256032"/>
          </a:xfrm>
          <a:prstGeom prst="rect">
            <a:avLst/>
          </a:prstGeom>
          <a:noFill/>
          <a:ln/>
        </p:spPr>
        <p:txBody>
          <a:bodyPr wrap="square" lIns="0" tIns="0" rIns="0" bIns="0" rtlCol="0" anchor="ctr"/>
          <a:lstStyle/>
          <a:p>
            <a:pPr indent="0" marL="0">
              <a:buNone/>
            </a:pPr>
            <a:r>
              <a:rPr lang="en-US" sz="1450" b="1" dirty="0">
                <a:solidFill>
                  <a:srgbClr val="0F1A2B"/>
                </a:solidFill>
                <a:latin typeface="Cambria" pitchFamily="34" charset="0"/>
                <a:ea typeface="Cambria" pitchFamily="34" charset="-122"/>
                <a:cs typeface="Cambria" pitchFamily="34" charset="-120"/>
              </a:rPr>
              <a:t>Refund</a:t>
            </a:r>
            <a:endParaRPr lang="en-US" sz="1450" dirty="0"/>
          </a:p>
        </p:txBody>
      </p:sp>
      <p:sp>
        <p:nvSpPr>
          <p:cNvPr id="29" name="Text 27"/>
          <p:cNvSpPr txBox="1"/>
          <p:nvPr/>
        </p:nvSpPr>
        <p:spPr>
          <a:xfrm>
            <a:off x="4405274" y="5001768"/>
            <a:ext cx="3381146" cy="320040"/>
          </a:xfrm>
          <a:prstGeom prst="rect">
            <a:avLst/>
          </a:prstGeom>
          <a:noFill/>
          <a:ln/>
        </p:spPr>
        <p:txBody>
          <a:bodyPr wrap="square" lIns="0" tIns="0" rIns="0" bIns="0" rtlCol="0" anchor="t"/>
          <a:lstStyle/>
          <a:p>
            <a:pPr indent="0" marL="0">
              <a:buNone/>
            </a:pPr>
            <a:r>
              <a:rPr lang="en-US" sz="1100" dirty="0">
                <a:solidFill>
                  <a:srgbClr val="1A1F2B"/>
                </a:solidFill>
              </a:rPr>
              <a:t>refund_id · captured transaction ref · amount · status · outcome</a:t>
            </a:r>
            <a:endParaRPr lang="en-US" sz="1100" dirty="0"/>
          </a:p>
        </p:txBody>
      </p:sp>
      <p:sp>
        <p:nvSpPr>
          <p:cNvPr id="30" name="card-Capture"/>
          <p:cNvSpPr/>
          <p:nvPr/>
        </p:nvSpPr>
        <p:spPr>
          <a:xfrm>
            <a:off x="8079029" y="1901952"/>
            <a:ext cx="3637178" cy="1152144"/>
          </a:xfrm>
          <a:prstGeom prst="rect">
            <a:avLst/>
          </a:prstGeom>
          <a:solidFill>
            <a:srgbClr val="FBFAF7"/>
          </a:solidFill>
          <a:ln w="6350">
            <a:solidFill>
              <a:srgbClr val="DCD7CB"/>
            </a:solidFill>
            <a:prstDash val="solid"/>
          </a:ln>
        </p:spPr>
      </p:sp>
      <p:sp>
        <p:nvSpPr>
          <p:cNvPr id="31" name="Text 29"/>
          <p:cNvSpPr txBox="1"/>
          <p:nvPr/>
        </p:nvSpPr>
        <p:spPr>
          <a:xfrm>
            <a:off x="8207045" y="2002536"/>
            <a:ext cx="3381146" cy="182880"/>
          </a:xfrm>
          <a:prstGeom prst="rect">
            <a:avLst/>
          </a:prstGeom>
          <a:noFill/>
          <a:ln/>
        </p:spPr>
        <p:txBody>
          <a:bodyPr wrap="square" lIns="0" tIns="0" rIns="0" bIns="0" rtlCol="0" anchor="ctr"/>
          <a:lstStyle/>
          <a:p>
            <a:pPr indent="0" marL="0">
              <a:buNone/>
            </a:pPr>
            <a:r>
              <a:rPr lang="en-US" sz="900" spc="140" kern="0" dirty="0">
                <a:solidFill>
                  <a:srgbClr val="26706A"/>
                </a:solidFill>
                <a:latin typeface="Consolas" pitchFamily="34" charset="0"/>
                <a:ea typeface="Consolas" pitchFamily="34" charset="-122"/>
                <a:cs typeface="Consolas" pitchFamily="34" charset="-120"/>
              </a:rPr>
              <a:t>FINANCIAL</a:t>
            </a:r>
            <a:endParaRPr lang="en-US" sz="900" dirty="0"/>
          </a:p>
        </p:txBody>
      </p:sp>
      <p:sp>
        <p:nvSpPr>
          <p:cNvPr id="32" name="Text 30"/>
          <p:cNvSpPr txBox="1"/>
          <p:nvPr/>
        </p:nvSpPr>
        <p:spPr>
          <a:xfrm>
            <a:off x="8207045" y="2194560"/>
            <a:ext cx="3381146" cy="256032"/>
          </a:xfrm>
          <a:prstGeom prst="rect">
            <a:avLst/>
          </a:prstGeom>
          <a:noFill/>
          <a:ln/>
        </p:spPr>
        <p:txBody>
          <a:bodyPr wrap="square" lIns="0" tIns="0" rIns="0" bIns="0" rtlCol="0" anchor="ctr"/>
          <a:lstStyle/>
          <a:p>
            <a:pPr indent="0" marL="0">
              <a:buNone/>
            </a:pPr>
            <a:r>
              <a:rPr lang="en-US" sz="1450" b="1" dirty="0">
                <a:solidFill>
                  <a:srgbClr val="0F1A2B"/>
                </a:solidFill>
                <a:latin typeface="Cambria" pitchFamily="34" charset="0"/>
                <a:ea typeface="Cambria" pitchFamily="34" charset="-122"/>
                <a:cs typeface="Cambria" pitchFamily="34" charset="-120"/>
              </a:rPr>
              <a:t>Capture</a:t>
            </a:r>
            <a:endParaRPr lang="en-US" sz="1450" dirty="0"/>
          </a:p>
        </p:txBody>
      </p:sp>
      <p:sp>
        <p:nvSpPr>
          <p:cNvPr id="33" name="Text 31"/>
          <p:cNvSpPr txBox="1"/>
          <p:nvPr/>
        </p:nvSpPr>
        <p:spPr>
          <a:xfrm>
            <a:off x="8207045" y="2478024"/>
            <a:ext cx="3381146" cy="484632"/>
          </a:xfrm>
          <a:prstGeom prst="rect">
            <a:avLst/>
          </a:prstGeom>
          <a:noFill/>
          <a:ln/>
        </p:spPr>
        <p:txBody>
          <a:bodyPr wrap="square" lIns="0" tIns="0" rIns="0" bIns="0" rtlCol="0" anchor="t"/>
          <a:lstStyle/>
          <a:p>
            <a:pPr indent="0" marL="0">
              <a:buNone/>
            </a:pPr>
            <a:r>
              <a:rPr lang="en-US" sz="1100" dirty="0">
                <a:solidFill>
                  <a:srgbClr val="1A1F2B"/>
                </a:solidFill>
              </a:rPr>
              <a:t>capture_id · authorization ref · amount · merchant reference · idempotency key · submission status · final outcome</a:t>
            </a:r>
            <a:endParaRPr lang="en-US" sz="1100" dirty="0"/>
          </a:p>
        </p:txBody>
      </p:sp>
      <p:sp>
        <p:nvSpPr>
          <p:cNvPr id="34" name="card-Order"/>
          <p:cNvSpPr/>
          <p:nvPr/>
        </p:nvSpPr>
        <p:spPr>
          <a:xfrm>
            <a:off x="8079029" y="3163824"/>
            <a:ext cx="3637178" cy="2249424"/>
          </a:xfrm>
          <a:prstGeom prst="rect">
            <a:avLst/>
          </a:prstGeom>
          <a:solidFill>
            <a:srgbClr val="FAF4E6"/>
          </a:solidFill>
          <a:ln w="6350">
            <a:solidFill>
              <a:srgbClr val="DCD7CB"/>
            </a:solidFill>
            <a:prstDash val="solid"/>
          </a:ln>
        </p:spPr>
      </p:sp>
      <p:sp>
        <p:nvSpPr>
          <p:cNvPr id="35" name="Text 33"/>
          <p:cNvSpPr txBox="1"/>
          <p:nvPr/>
        </p:nvSpPr>
        <p:spPr>
          <a:xfrm>
            <a:off x="8207045" y="3264408"/>
            <a:ext cx="3381146" cy="182880"/>
          </a:xfrm>
          <a:prstGeom prst="rect">
            <a:avLst/>
          </a:prstGeom>
          <a:noFill/>
          <a:ln/>
        </p:spPr>
        <p:txBody>
          <a:bodyPr wrap="square" lIns="0" tIns="0" rIns="0" bIns="0" rtlCol="0" anchor="ctr"/>
          <a:lstStyle/>
          <a:p>
            <a:pPr indent="0" marL="0">
              <a:buNone/>
            </a:pPr>
            <a:r>
              <a:rPr lang="en-US" sz="900" spc="140" kern="0" dirty="0">
                <a:solidFill>
                  <a:srgbClr val="B8892F"/>
                </a:solidFill>
                <a:latin typeface="Consolas" pitchFamily="34" charset="0"/>
                <a:ea typeface="Consolas" pitchFamily="34" charset="-122"/>
                <a:cs typeface="Consolas" pitchFamily="34" charset="-120"/>
              </a:rPr>
              <a:t>ORDER LAYER — SLIDE 11</a:t>
            </a:r>
            <a:endParaRPr lang="en-US" sz="900" dirty="0"/>
          </a:p>
        </p:txBody>
      </p:sp>
      <p:sp>
        <p:nvSpPr>
          <p:cNvPr id="36" name="Text 34"/>
          <p:cNvSpPr txBox="1"/>
          <p:nvPr/>
        </p:nvSpPr>
        <p:spPr>
          <a:xfrm>
            <a:off x="8207045" y="3456432"/>
            <a:ext cx="3381146" cy="256032"/>
          </a:xfrm>
          <a:prstGeom prst="rect">
            <a:avLst/>
          </a:prstGeom>
          <a:noFill/>
          <a:ln/>
        </p:spPr>
        <p:txBody>
          <a:bodyPr wrap="square" lIns="0" tIns="0" rIns="0" bIns="0" rtlCol="0" anchor="ctr"/>
          <a:lstStyle/>
          <a:p>
            <a:pPr indent="0" marL="0">
              <a:buNone/>
            </a:pPr>
            <a:r>
              <a:rPr lang="en-US" sz="1450" b="1" dirty="0">
                <a:solidFill>
                  <a:srgbClr val="0F1A2B"/>
                </a:solidFill>
                <a:latin typeface="Cambria" pitchFamily="34" charset="0"/>
                <a:ea typeface="Cambria" pitchFamily="34" charset="-122"/>
                <a:cs typeface="Cambria" pitchFamily="34" charset="-120"/>
              </a:rPr>
              <a:t>Order</a:t>
            </a:r>
            <a:endParaRPr lang="en-US" sz="1450" dirty="0"/>
          </a:p>
        </p:txBody>
      </p:sp>
      <p:sp>
        <p:nvSpPr>
          <p:cNvPr id="37" name="Text 35"/>
          <p:cNvSpPr txBox="1"/>
          <p:nvPr/>
        </p:nvSpPr>
        <p:spPr>
          <a:xfrm>
            <a:off x="8207045" y="3739896"/>
            <a:ext cx="3381146" cy="1581912"/>
          </a:xfrm>
          <a:prstGeom prst="rect">
            <a:avLst/>
          </a:prstGeom>
          <a:noFill/>
          <a:ln/>
        </p:spPr>
        <p:txBody>
          <a:bodyPr wrap="square" lIns="0" tIns="0" rIns="0" bIns="0" rtlCol="0" anchor="t"/>
          <a:lstStyle/>
          <a:p>
            <a:pPr indent="0" marL="0">
              <a:buNone/>
            </a:pPr>
            <a:r>
              <a:rPr lang="en-US" sz="1100" dirty="0">
                <a:solidFill>
                  <a:srgbClr val="1A1F2B"/>
                </a:solidFill>
              </a:rPr>
              <a:t>order_id · line items · total obligation · terms · the Intents raised against it</a:t>
            </a:r>
            <a:endParaRPr lang="en-US" sz="1100" dirty="0"/>
          </a:p>
          <a:p>
            <a:pPr indent="0" marL="0">
              <a:buNone/>
            </a:pPr>
            <a:endParaRPr lang="en-US" sz="1100" dirty="0"/>
          </a:p>
          <a:p>
            <a:pPr indent="0" marL="0">
              <a:buNone/>
            </a:pPr>
            <a:r>
              <a:rPr lang="en-US" sz="1100" dirty="0">
                <a:solidFill>
                  <a:srgbClr val="1A1F2B"/>
                </a:solidFill>
              </a:rPr>
              <a:t>The Order is authoritative for PSP-managed collection state only — never for the merchant's inventory, tax, fulfilment or commercial order status.</a:t>
            </a:r>
            <a:endParaRPr lang="en-US" sz="1100" dirty="0"/>
          </a:p>
        </p:txBody>
      </p:sp>
      <p:sp>
        <p:nvSpPr>
          <p:cNvPr id="25" name="Slide Number Placeholder 0"/>
          <p:cNvSpPr>
            <a:spLocks noGrp="1"/>
          </p:cNvSpPr>
          <p:nvPr>
            <p:ph type="sldNum" sz="quarter" idx="4294967295"/>
          </p:nvPr>
        </p:nvSpPr>
        <p:spPr>
          <a:xfrm>
            <a:off x="11430000" y="6419088"/>
            <a:ext cx="36576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9AA2AE"/>
                </a:solidFill>
                <a:latin typeface="Consolas"/>
                <a:ea typeface="Consolas"/>
                <a:cs typeface="Consolas"/>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475488" y="310896"/>
            <a:ext cx="11240719" cy="219456"/>
          </a:xfrm>
          <a:prstGeom prst="rect">
            <a:avLst/>
          </a:prstGeom>
          <a:noFill/>
          <a:ln/>
        </p:spPr>
        <p:txBody>
          <a:bodyPr wrap="square" lIns="0" tIns="0" rIns="0" bIns="0" rtlCol="0" anchor="ctr"/>
          <a:lstStyle/>
          <a:p>
            <a:pPr indent="0" marL="0">
              <a:buNone/>
            </a:pPr>
            <a:r>
              <a:rPr lang="en-US" sz="1050" spc="240" kern="0" dirty="0">
                <a:solidFill>
                  <a:srgbClr val="B8892F"/>
                </a:solidFill>
                <a:latin typeface="Consolas" pitchFamily="34" charset="0"/>
                <a:ea typeface="Consolas" pitchFamily="34" charset="-122"/>
                <a:cs typeface="Consolas" pitchFamily="34" charset="-120"/>
              </a:rPr>
              <a:t>CLIENT API</a:t>
            </a:r>
            <a:endParaRPr lang="en-US" sz="1050" dirty="0"/>
          </a:p>
        </p:txBody>
      </p:sp>
      <p:sp>
        <p:nvSpPr>
          <p:cNvPr id="3" name="Text 1"/>
          <p:cNvSpPr txBox="1"/>
          <p:nvPr/>
        </p:nvSpPr>
        <p:spPr>
          <a:xfrm>
            <a:off x="475488" y="548640"/>
            <a:ext cx="11240719" cy="566928"/>
          </a:xfrm>
          <a:prstGeom prst="rect">
            <a:avLst/>
          </a:prstGeom>
          <a:noFill/>
          <a:ln/>
        </p:spPr>
        <p:txBody>
          <a:bodyPr wrap="square" lIns="0" tIns="0" rIns="0" bIns="0" rtlCol="0" anchor="t"/>
          <a:lstStyle/>
          <a:p>
            <a:pPr indent="0" marL="0">
              <a:buNone/>
            </a:pPr>
            <a:r>
              <a:rPr lang="en-US" sz="3000" b="1" dirty="0">
                <a:solidFill>
                  <a:srgbClr val="0F1A2B"/>
                </a:solidFill>
                <a:latin typeface="Cambria" pitchFamily="34" charset="0"/>
                <a:ea typeface="Cambria" pitchFamily="34" charset="-122"/>
                <a:cs typeface="Cambria" pitchFamily="34" charset="-120"/>
              </a:rPr>
              <a:t>Policy on the Intent, operations as their own endpoints</a:t>
            </a:r>
            <a:endParaRPr lang="en-US" sz="3000" dirty="0"/>
          </a:p>
        </p:txBody>
      </p:sp>
      <p:sp>
        <p:nvSpPr>
          <p:cNvPr id="4" name="Text 2"/>
          <p:cNvSpPr txBox="1"/>
          <p:nvPr/>
        </p:nvSpPr>
        <p:spPr>
          <a:xfrm>
            <a:off x="475488" y="1188720"/>
            <a:ext cx="11240719" cy="475488"/>
          </a:xfrm>
          <a:prstGeom prst="rect">
            <a:avLst/>
          </a:prstGeom>
          <a:noFill/>
          <a:ln/>
        </p:spPr>
        <p:txBody>
          <a:bodyPr wrap="square" lIns="0" tIns="0" rIns="0" bIns="0" rtlCol="0" anchor="t"/>
          <a:lstStyle/>
          <a:p>
            <a:pPr indent="0" marL="0">
              <a:buNone/>
            </a:pPr>
            <a:r>
              <a:rPr lang="en-US" sz="1250" dirty="0">
                <a:solidFill>
                  <a:srgbClr val="414A5C"/>
                </a:solidFill>
              </a:rPr>
              <a:t>Keep detailed routing and retry rules in a versioned merchant policy configuration. Do not let arbitrary per-request instructions bypass platform controls.</a:t>
            </a:r>
            <a:endParaRPr lang="en-US" sz="1250" dirty="0"/>
          </a:p>
        </p:txBody>
      </p:sp>
      <p:sp>
        <p:nvSpPr>
          <p:cNvPr id="5" name="Shape 3"/>
          <p:cNvSpPr/>
          <p:nvPr/>
        </p:nvSpPr>
        <p:spPr>
          <a:xfrm>
            <a:off x="475488" y="1737360"/>
            <a:ext cx="11240719" cy="22860"/>
          </a:xfrm>
          <a:prstGeom prst="rect">
            <a:avLst/>
          </a:prstGeom>
          <a:solidFill>
            <a:srgbClr val="B8892F"/>
          </a:solidFill>
          <a:ln w="12700">
            <a:solidFill>
              <a:srgbClr val="B8892F"/>
            </a:solidFill>
            <a:prstDash val="solid"/>
          </a:ln>
        </p:spPr>
      </p:sp>
      <p:sp>
        <p:nvSpPr>
          <p:cNvPr id="6" name="code"/>
          <p:cNvSpPr/>
          <p:nvPr/>
        </p:nvSpPr>
        <p:spPr>
          <a:xfrm>
            <a:off x="475488" y="1901952"/>
            <a:ext cx="5492344" cy="2596896"/>
          </a:xfrm>
          <a:prstGeom prst="rect">
            <a:avLst/>
          </a:prstGeom>
          <a:solidFill>
            <a:srgbClr val="0F1A2B"/>
          </a:solidFill>
          <a:ln w="12700">
            <a:solidFill>
              <a:srgbClr val="333333"/>
            </a:solidFill>
            <a:prstDash val="solid"/>
          </a:ln>
        </p:spPr>
      </p:sp>
      <p:sp>
        <p:nvSpPr>
          <p:cNvPr id="7" name="Text 5"/>
          <p:cNvSpPr txBox="1"/>
          <p:nvPr/>
        </p:nvSpPr>
        <p:spPr>
          <a:xfrm>
            <a:off x="640080" y="2029968"/>
            <a:ext cx="5163160" cy="2340864"/>
          </a:xfrm>
          <a:prstGeom prst="rect">
            <a:avLst/>
          </a:prstGeom>
          <a:noFill/>
          <a:ln/>
        </p:spPr>
        <p:txBody>
          <a:bodyPr wrap="square" lIns="0" tIns="0" rIns="0" bIns="0" rtlCol="0" anchor="t"/>
          <a:lstStyle/>
          <a:p>
            <a:pPr indent="0" marL="0">
              <a:lnSpc>
                <a:spcPct val="105000"/>
              </a:lnSpc>
              <a:buNone/>
            </a:pPr>
            <a:r>
              <a:rPr lang="en-US" sz="1000" dirty="0">
                <a:solidFill>
                  <a:srgbClr val="DCE3EC"/>
                </a:solidFill>
                <a:latin typeface="Consolas" pitchFamily="34" charset="0"/>
                <a:ea typeface="Consolas" pitchFamily="34" charset="-122"/>
                <a:cs typeface="Consolas" pitchFamily="34" charset="-120"/>
              </a:rPr>
              <a:t>POST /payment_intents</a:t>
            </a:r>
            <a:endParaRPr lang="en-US" sz="1000" dirty="0"/>
          </a:p>
          <a:p>
            <a:pPr indent="0" marL="0">
              <a:lnSpc>
                <a:spcPct val="105000"/>
              </a:lnSpc>
              <a:buNone/>
            </a:pPr>
            <a:r>
              <a:rPr lang="en-US" sz="1000" dirty="0">
                <a:solidFill>
                  <a:srgbClr val="DCE3EC"/>
                </a:solidFill>
                <a:latin typeface="Consolas" pitchFamily="34" charset="0"/>
                <a:ea typeface="Consolas" pitchFamily="34" charset="-122"/>
                <a:cs typeface="Consolas" pitchFamily="34" charset="-120"/>
              </a:rPr>
              <a:t>Idempotency-Key: order-123-payment-1</a:t>
            </a:r>
            <a:endParaRPr lang="en-US" sz="1000" dirty="0"/>
          </a:p>
          <a:p>
            <a:pPr indent="0" marL="0">
              <a:lnSpc>
                <a:spcPct val="105000"/>
              </a:lnSpc>
              <a:buNone/>
            </a:pPr>
            <a:r>
              <a:rPr lang="en-US" sz="1000" dirty="0">
                <a:solidFill>
                  <a:srgbClr val="DCE3EC"/>
                </a:solidFill>
                <a:latin typeface="Consolas" pitchFamily="34" charset="0"/>
                <a:ea typeface="Consolas" pitchFamily="34" charset="-122"/>
                <a:cs typeface="Consolas" pitchFamily="34" charset="-120"/>
              </a:rPr>
              <a:t>{</a:t>
            </a:r>
            <a:endParaRPr lang="en-US" sz="1000" dirty="0"/>
          </a:p>
          <a:p>
            <a:pPr indent="0" marL="0">
              <a:lnSpc>
                <a:spcPct val="105000"/>
              </a:lnSpc>
              <a:buNone/>
            </a:pPr>
            <a:r>
              <a:rPr lang="en-US" sz="1000" dirty="0">
                <a:solidFill>
                  <a:srgbClr val="DCE3EC"/>
                </a:solidFill>
                <a:latin typeface="Consolas" pitchFamily="34" charset="0"/>
                <a:ea typeface="Consolas" pitchFamily="34" charset="-122"/>
                <a:cs typeface="Consolas" pitchFamily="34" charset="-120"/>
              </a:rPr>
              <a:t>  "amount": 30000,</a:t>
            </a:r>
            <a:endParaRPr lang="en-US" sz="1000" dirty="0"/>
          </a:p>
          <a:p>
            <a:pPr indent="0" marL="0">
              <a:lnSpc>
                <a:spcPct val="105000"/>
              </a:lnSpc>
              <a:buNone/>
            </a:pPr>
            <a:r>
              <a:rPr lang="en-US" sz="1000" dirty="0">
                <a:solidFill>
                  <a:srgbClr val="DCE3EC"/>
                </a:solidFill>
                <a:latin typeface="Consolas" pitchFamily="34" charset="0"/>
                <a:ea typeface="Consolas" pitchFamily="34" charset="-122"/>
                <a:cs typeface="Consolas" pitchFamily="34" charset="-120"/>
              </a:rPr>
              <a:t>  "currency": "USD",</a:t>
            </a:r>
            <a:endParaRPr lang="en-US" sz="1000" dirty="0"/>
          </a:p>
          <a:p>
            <a:pPr indent="0" marL="0">
              <a:lnSpc>
                <a:spcPct val="105000"/>
              </a:lnSpc>
              <a:buNone/>
            </a:pPr>
            <a:r>
              <a:rPr lang="en-US" sz="1000" dirty="0">
                <a:solidFill>
                  <a:srgbClr val="DCE3EC"/>
                </a:solidFill>
                <a:latin typeface="Consolas" pitchFamily="34" charset="0"/>
                <a:ea typeface="Consolas" pitchFamily="34" charset="-122"/>
                <a:cs typeface="Consolas" pitchFamily="34" charset="-120"/>
              </a:rPr>
              <a:t>  "payment_method": "pm_123",</a:t>
            </a:r>
            <a:endParaRPr lang="en-US" sz="1000" dirty="0"/>
          </a:p>
          <a:p>
            <a:pPr indent="0" marL="0">
              <a:lnSpc>
                <a:spcPct val="105000"/>
              </a:lnSpc>
              <a:buNone/>
            </a:pPr>
            <a:r>
              <a:rPr lang="en-US" sz="1000" dirty="0">
                <a:solidFill>
                  <a:srgbClr val="DCE3EC"/>
                </a:solidFill>
                <a:latin typeface="Consolas" pitchFamily="34" charset="0"/>
                <a:ea typeface="Consolas" pitchFamily="34" charset="-122"/>
                <a:cs typeface="Consolas" pitchFamily="34" charset="-120"/>
              </a:rPr>
              <a:t>  "capture_method": "manual",</a:t>
            </a:r>
            <a:endParaRPr lang="en-US" sz="1000" dirty="0"/>
          </a:p>
          <a:p>
            <a:pPr indent="0" marL="0">
              <a:lnSpc>
                <a:spcPct val="105000"/>
              </a:lnSpc>
              <a:buNone/>
            </a:pPr>
            <a:r>
              <a:rPr lang="en-US" sz="1000" dirty="0">
                <a:solidFill>
                  <a:srgbClr val="DCE3EC"/>
                </a:solidFill>
                <a:latin typeface="Consolas" pitchFamily="34" charset="0"/>
                <a:ea typeface="Consolas" pitchFamily="34" charset="-122"/>
                <a:cs typeface="Consolas" pitchFamily="34" charset="-120"/>
              </a:rPr>
              <a:t>  "orchestration": { "policy": "checkout_v3" }</a:t>
            </a:r>
            <a:endParaRPr lang="en-US" sz="1000" dirty="0"/>
          </a:p>
          <a:p>
            <a:pPr indent="0" marL="0">
              <a:lnSpc>
                <a:spcPct val="105000"/>
              </a:lnSpc>
              <a:buNone/>
            </a:pPr>
            <a:r>
              <a:rPr lang="en-US" sz="1000" dirty="0">
                <a:solidFill>
                  <a:srgbClr val="DCE3EC"/>
                </a:solidFill>
                <a:latin typeface="Consolas" pitchFamily="34" charset="0"/>
                <a:ea typeface="Consolas" pitchFamily="34" charset="-122"/>
                <a:cs typeface="Consolas" pitchFamily="34" charset="-120"/>
              </a:rPr>
              <a:t>}</a:t>
            </a:r>
            <a:endParaRPr lang="en-US" sz="1000" dirty="0"/>
          </a:p>
          <a:p>
            <a:pPr indent="0" marL="0">
              <a:lnSpc>
                <a:spcPct val="105000"/>
              </a:lnSpc>
              <a:buNone/>
            </a:pPr>
            <a:endParaRPr lang="en-US" sz="1000" dirty="0"/>
          </a:p>
          <a:p>
            <a:pPr indent="0" marL="0">
              <a:lnSpc>
                <a:spcPct val="105000"/>
              </a:lnSpc>
              <a:buNone/>
            </a:pPr>
            <a:r>
              <a:rPr lang="en-US" sz="1000" dirty="0">
                <a:solidFill>
                  <a:srgbClr val="DCE3EC"/>
                </a:solidFill>
                <a:latin typeface="Consolas" pitchFamily="34" charset="0"/>
                <a:ea typeface="Consolas" pitchFamily="34" charset="-122"/>
                <a:cs typeface="Consolas" pitchFamily="34" charset="-120"/>
              </a:rPr>
              <a:t>POST /payment_intents/pi_4001/captures</a:t>
            </a:r>
            <a:endParaRPr lang="en-US" sz="1000" dirty="0"/>
          </a:p>
          <a:p>
            <a:pPr indent="0" marL="0">
              <a:lnSpc>
                <a:spcPct val="105000"/>
              </a:lnSpc>
              <a:buNone/>
            </a:pPr>
            <a:r>
              <a:rPr lang="en-US" sz="1000" dirty="0">
                <a:solidFill>
                  <a:srgbClr val="DCE3EC"/>
                </a:solidFill>
                <a:latin typeface="Consolas" pitchFamily="34" charset="0"/>
                <a:ea typeface="Consolas" pitchFamily="34" charset="-122"/>
                <a:cs typeface="Consolas" pitchFamily="34" charset="-120"/>
              </a:rPr>
              <a:t>Idempotency-Key: shipment-1-capture</a:t>
            </a:r>
            <a:endParaRPr lang="en-US" sz="1000" dirty="0"/>
          </a:p>
          <a:p>
            <a:pPr indent="0" marL="0">
              <a:lnSpc>
                <a:spcPct val="105000"/>
              </a:lnSpc>
              <a:buNone/>
            </a:pPr>
            <a:r>
              <a:rPr lang="en-US" sz="1000" dirty="0">
                <a:solidFill>
                  <a:srgbClr val="DCE3EC"/>
                </a:solidFill>
                <a:latin typeface="Consolas" pitchFamily="34" charset="0"/>
                <a:ea typeface="Consolas" pitchFamily="34" charset="-122"/>
                <a:cs typeface="Consolas" pitchFamily="34" charset="-120"/>
              </a:rPr>
              <a:t>{ "amount": 10000, "reference": "shipment-1",</a:t>
            </a:r>
            <a:endParaRPr lang="en-US" sz="1000" dirty="0"/>
          </a:p>
          <a:p>
            <a:pPr indent="0" marL="0">
              <a:lnSpc>
                <a:spcPct val="105000"/>
              </a:lnSpc>
              <a:buNone/>
            </a:pPr>
            <a:r>
              <a:rPr lang="en-US" sz="1000" dirty="0">
                <a:solidFill>
                  <a:srgbClr val="DCE3EC"/>
                </a:solidFill>
                <a:latin typeface="Consolas" pitchFamily="34" charset="0"/>
                <a:ea typeface="Consolas" pitchFamily="34" charset="-122"/>
                <a:cs typeface="Consolas" pitchFamily="34" charset="-120"/>
              </a:rPr>
              <a:t>  "final_capture": false }</a:t>
            </a:r>
            <a:endParaRPr lang="en-US" sz="1000" dirty="0"/>
          </a:p>
        </p:txBody>
      </p:sp>
      <p:sp>
        <p:nvSpPr>
          <p:cNvPr id="8" name="code"/>
          <p:cNvSpPr/>
          <p:nvPr/>
        </p:nvSpPr>
        <p:spPr>
          <a:xfrm>
            <a:off x="6223864" y="1901952"/>
            <a:ext cx="5492344" cy="1792224"/>
          </a:xfrm>
          <a:prstGeom prst="rect">
            <a:avLst/>
          </a:prstGeom>
          <a:solidFill>
            <a:srgbClr val="0F1A2B"/>
          </a:solidFill>
          <a:ln w="12700">
            <a:solidFill>
              <a:srgbClr val="333333"/>
            </a:solidFill>
            <a:prstDash val="solid"/>
          </a:ln>
        </p:spPr>
      </p:sp>
      <p:sp>
        <p:nvSpPr>
          <p:cNvPr id="9" name="Text 7"/>
          <p:cNvSpPr txBox="1"/>
          <p:nvPr/>
        </p:nvSpPr>
        <p:spPr>
          <a:xfrm>
            <a:off x="6388456" y="2029968"/>
            <a:ext cx="5163160" cy="1536192"/>
          </a:xfrm>
          <a:prstGeom prst="rect">
            <a:avLst/>
          </a:prstGeom>
          <a:noFill/>
          <a:ln/>
        </p:spPr>
        <p:txBody>
          <a:bodyPr wrap="square" lIns="0" tIns="0" rIns="0" bIns="0" rtlCol="0" anchor="t"/>
          <a:lstStyle/>
          <a:p>
            <a:pPr indent="0" marL="0">
              <a:lnSpc>
                <a:spcPct val="105000"/>
              </a:lnSpc>
              <a:buNone/>
            </a:pPr>
            <a:r>
              <a:rPr lang="en-US" sz="1000" dirty="0">
                <a:solidFill>
                  <a:srgbClr val="DCE3EC"/>
                </a:solidFill>
                <a:latin typeface="Consolas" pitchFamily="34" charset="0"/>
                <a:ea typeface="Consolas" pitchFamily="34" charset="-122"/>
                <a:cs typeface="Consolas" pitchFamily="34" charset="-120"/>
              </a:rPr>
              <a:t>{</a:t>
            </a:r>
            <a:endParaRPr lang="en-US" sz="1000" dirty="0"/>
          </a:p>
          <a:p>
            <a:pPr indent="0" marL="0">
              <a:lnSpc>
                <a:spcPct val="105000"/>
              </a:lnSpc>
              <a:buNone/>
            </a:pPr>
            <a:r>
              <a:rPr lang="en-US" sz="1000" dirty="0">
                <a:solidFill>
                  <a:srgbClr val="DCE3EC"/>
                </a:solidFill>
                <a:latin typeface="Consolas" pitchFamily="34" charset="0"/>
                <a:ea typeface="Consolas" pitchFamily="34" charset="-122"/>
                <a:cs typeface="Consolas" pitchFamily="34" charset="-120"/>
              </a:rPr>
              <a:t>  "id": "pi_4001",</a:t>
            </a:r>
            <a:endParaRPr lang="en-US" sz="1000" dirty="0"/>
          </a:p>
          <a:p>
            <a:pPr indent="0" marL="0">
              <a:lnSpc>
                <a:spcPct val="105000"/>
              </a:lnSpc>
              <a:buNone/>
            </a:pPr>
            <a:r>
              <a:rPr lang="en-US" sz="1000" dirty="0">
                <a:solidFill>
                  <a:srgbClr val="DCE3EC"/>
                </a:solidFill>
                <a:latin typeface="Consolas" pitchFamily="34" charset="0"/>
                <a:ea typeface="Consolas" pitchFamily="34" charset="-122"/>
                <a:cs typeface="Consolas" pitchFamily="34" charset="-120"/>
              </a:rPr>
              <a:t>  "status": "requires_capture",</a:t>
            </a:r>
            <a:endParaRPr lang="en-US" sz="1000" dirty="0"/>
          </a:p>
          <a:p>
            <a:pPr indent="0" marL="0">
              <a:lnSpc>
                <a:spcPct val="105000"/>
              </a:lnSpc>
              <a:buNone/>
            </a:pPr>
            <a:r>
              <a:rPr lang="en-US" sz="1000" dirty="0">
                <a:solidFill>
                  <a:srgbClr val="DCE3EC"/>
                </a:solidFill>
                <a:latin typeface="Consolas" pitchFamily="34" charset="0"/>
                <a:ea typeface="Consolas" pitchFamily="34" charset="-122"/>
                <a:cs typeface="Consolas" pitchFamily="34" charset="-120"/>
              </a:rPr>
              <a:t>  "amount": 30000,</a:t>
            </a:r>
            <a:endParaRPr lang="en-US" sz="1000" dirty="0"/>
          </a:p>
          <a:p>
            <a:pPr indent="0" marL="0">
              <a:lnSpc>
                <a:spcPct val="105000"/>
              </a:lnSpc>
              <a:buNone/>
            </a:pPr>
            <a:r>
              <a:rPr lang="en-US" sz="1000" dirty="0">
                <a:solidFill>
                  <a:srgbClr val="DCE3EC"/>
                </a:solidFill>
                <a:latin typeface="Consolas" pitchFamily="34" charset="0"/>
                <a:ea typeface="Consolas" pitchFamily="34" charset="-122"/>
                <a:cs typeface="Consolas" pitchFamily="34" charset="-120"/>
              </a:rPr>
              <a:t>  "amount_authorized": 30000,</a:t>
            </a:r>
            <a:endParaRPr lang="en-US" sz="1000" dirty="0"/>
          </a:p>
          <a:p>
            <a:pPr indent="0" marL="0">
              <a:lnSpc>
                <a:spcPct val="105000"/>
              </a:lnSpc>
              <a:buNone/>
            </a:pPr>
            <a:r>
              <a:rPr lang="en-US" sz="1000" dirty="0">
                <a:solidFill>
                  <a:srgbClr val="DCE3EC"/>
                </a:solidFill>
                <a:latin typeface="Consolas" pitchFamily="34" charset="0"/>
                <a:ea typeface="Consolas" pitchFamily="34" charset="-122"/>
                <a:cs typeface="Consolas" pitchFamily="34" charset="-120"/>
              </a:rPr>
              <a:t>  "amount_captured": 10000,</a:t>
            </a:r>
            <a:endParaRPr lang="en-US" sz="1000" dirty="0"/>
          </a:p>
          <a:p>
            <a:pPr indent="0" marL="0">
              <a:lnSpc>
                <a:spcPct val="105000"/>
              </a:lnSpc>
              <a:buNone/>
            </a:pPr>
            <a:r>
              <a:rPr lang="en-US" sz="1000" dirty="0">
                <a:solidFill>
                  <a:srgbClr val="DCE3EC"/>
                </a:solidFill>
                <a:latin typeface="Consolas" pitchFamily="34" charset="0"/>
                <a:ea typeface="Consolas" pitchFamily="34" charset="-122"/>
                <a:cs typeface="Consolas" pitchFamily="34" charset="-120"/>
              </a:rPr>
              <a:t>  "amount_capturable": 20000,</a:t>
            </a:r>
            <a:endParaRPr lang="en-US" sz="1000" dirty="0"/>
          </a:p>
          <a:p>
            <a:pPr indent="0" marL="0">
              <a:lnSpc>
                <a:spcPct val="105000"/>
              </a:lnSpc>
              <a:buNone/>
            </a:pPr>
            <a:r>
              <a:rPr lang="en-US" sz="1000" dirty="0">
                <a:solidFill>
                  <a:srgbClr val="DCE3EC"/>
                </a:solidFill>
                <a:latin typeface="Consolas" pitchFamily="34" charset="0"/>
                <a:ea typeface="Consolas" pitchFamily="34" charset="-122"/>
                <a:cs typeface="Consolas" pitchFamily="34" charset="-120"/>
              </a:rPr>
              <a:t>  "latest_attempt": "pa_1"</a:t>
            </a:r>
            <a:endParaRPr lang="en-US" sz="1000" dirty="0"/>
          </a:p>
          <a:p>
            <a:pPr indent="0" marL="0">
              <a:lnSpc>
                <a:spcPct val="105000"/>
              </a:lnSpc>
              <a:buNone/>
            </a:pPr>
            <a:r>
              <a:rPr lang="en-US" sz="1000" dirty="0">
                <a:solidFill>
                  <a:srgbClr val="DCE3EC"/>
                </a:solidFill>
                <a:latin typeface="Consolas" pitchFamily="34" charset="0"/>
                <a:ea typeface="Consolas" pitchFamily="34" charset="-122"/>
                <a:cs typeface="Consolas" pitchFamily="34" charset="-120"/>
              </a:rPr>
              <a:t>}</a:t>
            </a:r>
            <a:endParaRPr lang="en-US" sz="1000" dirty="0"/>
          </a:p>
        </p:txBody>
      </p:sp>
      <p:sp>
        <p:nvSpPr>
          <p:cNvPr id="10" name="card-Three things this leaves open"/>
          <p:cNvSpPr/>
          <p:nvPr/>
        </p:nvSpPr>
        <p:spPr>
          <a:xfrm>
            <a:off x="6223864" y="3785616"/>
            <a:ext cx="5492344" cy="1298448"/>
          </a:xfrm>
          <a:prstGeom prst="rect">
            <a:avLst/>
          </a:prstGeom>
          <a:solidFill>
            <a:srgbClr val="FBEEEE"/>
          </a:solidFill>
          <a:ln w="6350">
            <a:solidFill>
              <a:srgbClr val="DCD7CB"/>
            </a:solidFill>
            <a:prstDash val="solid"/>
          </a:ln>
        </p:spPr>
      </p:sp>
      <p:sp>
        <p:nvSpPr>
          <p:cNvPr id="11" name="Text 9"/>
          <p:cNvSpPr txBox="1"/>
          <p:nvPr/>
        </p:nvSpPr>
        <p:spPr>
          <a:xfrm>
            <a:off x="6351880" y="3886200"/>
            <a:ext cx="5236312" cy="182880"/>
          </a:xfrm>
          <a:prstGeom prst="rect">
            <a:avLst/>
          </a:prstGeom>
          <a:noFill/>
          <a:ln/>
        </p:spPr>
        <p:txBody>
          <a:bodyPr wrap="square" lIns="0" tIns="0" rIns="0" bIns="0" rtlCol="0" anchor="ctr"/>
          <a:lstStyle/>
          <a:p>
            <a:pPr indent="0" marL="0">
              <a:buNone/>
            </a:pPr>
            <a:r>
              <a:rPr lang="en-US" sz="900" spc="140" kern="0" dirty="0">
                <a:solidFill>
                  <a:srgbClr val="9B2C2C"/>
                </a:solidFill>
                <a:latin typeface="Consolas" pitchFamily="34" charset="0"/>
                <a:ea typeface="Consolas" pitchFamily="34" charset="-122"/>
                <a:cs typeface="Consolas" pitchFamily="34" charset="-120"/>
              </a:rPr>
              <a:t>DEFINE PRECISELY</a:t>
            </a:r>
            <a:endParaRPr lang="en-US" sz="900" dirty="0"/>
          </a:p>
        </p:txBody>
      </p:sp>
      <p:sp>
        <p:nvSpPr>
          <p:cNvPr id="12" name="Text 10"/>
          <p:cNvSpPr txBox="1"/>
          <p:nvPr/>
        </p:nvSpPr>
        <p:spPr>
          <a:xfrm>
            <a:off x="6351880" y="4078224"/>
            <a:ext cx="5236312" cy="256032"/>
          </a:xfrm>
          <a:prstGeom prst="rect">
            <a:avLst/>
          </a:prstGeom>
          <a:noFill/>
          <a:ln/>
        </p:spPr>
        <p:txBody>
          <a:bodyPr wrap="square" lIns="0" tIns="0" rIns="0" bIns="0" rtlCol="0" anchor="ctr"/>
          <a:lstStyle/>
          <a:p>
            <a:pPr indent="0" marL="0">
              <a:buNone/>
            </a:pPr>
            <a:r>
              <a:rPr lang="en-US" sz="1450" b="1" dirty="0">
                <a:solidFill>
                  <a:srgbClr val="0F1A2B"/>
                </a:solidFill>
                <a:latin typeface="Cambria" pitchFamily="34" charset="0"/>
                <a:ea typeface="Cambria" pitchFamily="34" charset="-122"/>
                <a:cs typeface="Cambria" pitchFamily="34" charset="-120"/>
              </a:rPr>
              <a:t>Three things this leaves open</a:t>
            </a:r>
            <a:endParaRPr lang="en-US" sz="1450" dirty="0"/>
          </a:p>
        </p:txBody>
      </p:sp>
      <p:sp>
        <p:nvSpPr>
          <p:cNvPr id="13" name="Text 11"/>
          <p:cNvSpPr txBox="1"/>
          <p:nvPr/>
        </p:nvSpPr>
        <p:spPr>
          <a:xfrm>
            <a:off x="6351880" y="4361688"/>
            <a:ext cx="5236312" cy="630936"/>
          </a:xfrm>
          <a:prstGeom prst="rect">
            <a:avLst/>
          </a:prstGeom>
          <a:noFill/>
          <a:ln/>
        </p:spPr>
        <p:txBody>
          <a:bodyPr wrap="square" lIns="0" tIns="0" rIns="0" bIns="0" rtlCol="0" anchor="t"/>
          <a:lstStyle/>
          <a:p>
            <a:pPr indent="0" marL="0">
              <a:buNone/>
            </a:pPr>
            <a:r>
              <a:rPr lang="en-US" sz="1100" dirty="0">
                <a:solidFill>
                  <a:srgbClr val="1A1F2B"/>
                </a:solidFill>
              </a:rPr>
              <a:t>final_capture must have defined effects on remaining authorized funds, and the selected rail must support it. Amounts should use </a:t>
            </a:r>
            <a:pPr indent="0" marL="0">
              <a:buNone/>
            </a:pPr>
            <a:r>
              <a:rPr lang="en-US" sz="1100" b="1" dirty="0">
                <a:solidFill>
                  <a:srgbClr val="1A1F2B"/>
                </a:solidFill>
              </a:rPr>
              <a:t>integer minor units</a:t>
            </a:r>
            <a:pPr indent="0" marL="0">
              <a:buNone/>
            </a:pPr>
            <a:r>
              <a:rPr lang="en-US" sz="1100" dirty="0">
                <a:solidFill>
                  <a:srgbClr val="1A1F2B"/>
                </a:solidFill>
              </a:rPr>
              <a:t>. And the API must define pending captures, reversals, adjustments and partial failures.</a:t>
            </a:r>
            <a:endParaRPr lang="en-US" sz="1100" dirty="0"/>
          </a:p>
        </p:txBody>
      </p:sp>
      <p:sp>
        <p:nvSpPr>
          <p:cNvPr id="14" name="takeaway"/>
          <p:cNvSpPr/>
          <p:nvPr/>
        </p:nvSpPr>
        <p:spPr>
          <a:xfrm>
            <a:off x="475488" y="5230368"/>
            <a:ext cx="11240719" cy="768096"/>
          </a:xfrm>
          <a:prstGeom prst="rect">
            <a:avLst/>
          </a:prstGeom>
          <a:solidFill>
            <a:srgbClr val="0F1A2B"/>
          </a:solidFill>
          <a:ln w="12700">
            <a:solidFill>
              <a:srgbClr val="333333"/>
            </a:solidFill>
            <a:prstDash val="solid"/>
          </a:ln>
        </p:spPr>
      </p:sp>
      <p:sp>
        <p:nvSpPr>
          <p:cNvPr id="15" name="Text 13"/>
          <p:cNvSpPr txBox="1"/>
          <p:nvPr/>
        </p:nvSpPr>
        <p:spPr>
          <a:xfrm>
            <a:off x="640080" y="5312664"/>
            <a:ext cx="10911535" cy="182880"/>
          </a:xfrm>
          <a:prstGeom prst="rect">
            <a:avLst/>
          </a:prstGeom>
          <a:noFill/>
          <a:ln/>
        </p:spPr>
        <p:txBody>
          <a:bodyPr wrap="square" lIns="0" tIns="0" rIns="0" bIns="0" rtlCol="0" anchor="ctr"/>
          <a:lstStyle/>
          <a:p>
            <a:pPr indent="0" marL="0">
              <a:buNone/>
            </a:pPr>
            <a:r>
              <a:rPr lang="en-US" sz="900" spc="160" kern="0" dirty="0">
                <a:solidFill>
                  <a:srgbClr val="D9A03C"/>
                </a:solidFill>
                <a:latin typeface="Consolas" pitchFamily="34" charset="0"/>
                <a:ea typeface="Consolas" pitchFamily="34" charset="-122"/>
                <a:cs typeface="Consolas" pitchFamily="34" charset="-120"/>
              </a:rPr>
              <a:t>ONE CANONICAL EXECUTION MODEL</a:t>
            </a:r>
            <a:endParaRPr lang="en-US" sz="900" dirty="0"/>
          </a:p>
        </p:txBody>
      </p:sp>
      <p:sp>
        <p:nvSpPr>
          <p:cNvPr id="16" name="Text 14"/>
          <p:cNvSpPr txBox="1"/>
          <p:nvPr/>
        </p:nvSpPr>
        <p:spPr>
          <a:xfrm>
            <a:off x="640080" y="5504688"/>
            <a:ext cx="10911535" cy="438912"/>
          </a:xfrm>
          <a:prstGeom prst="rect">
            <a:avLst/>
          </a:prstGeom>
          <a:noFill/>
          <a:ln/>
        </p:spPr>
        <p:txBody>
          <a:bodyPr wrap="square" lIns="0" tIns="0" rIns="0" bIns="0" rtlCol="0" anchor="t"/>
          <a:lstStyle/>
          <a:p>
            <a:pPr indent="0" marL="0">
              <a:buNone/>
            </a:pPr>
            <a:r>
              <a:rPr lang="en-US" sz="1150" dirty="0">
                <a:solidFill>
                  <a:srgbClr val="F2EEE4"/>
                </a:solidFill>
              </a:rPr>
              <a:t>Order-led and payment-led flows must invoke the </a:t>
            </a:r>
            <a:pPr indent="0" marL="0">
              <a:buNone/>
            </a:pPr>
            <a:r>
              <a:rPr lang="en-US" sz="1150" b="1" dirty="0">
                <a:solidFill>
                  <a:srgbClr val="E8D9B4"/>
                </a:solidFill>
              </a:rPr>
              <a:t>same</a:t>
            </a:r>
            <a:pPr indent="0" marL="0">
              <a:buNone/>
            </a:pPr>
            <a:r>
              <a:rPr lang="en-US" sz="1150" dirty="0">
                <a:solidFill>
                  <a:srgbClr val="F2EEE4"/>
                </a:solidFill>
              </a:rPr>
              <a:t> intent, attempt, routing, authentication and acquiring services. Two paths into one engine — never two engines.</a:t>
            </a:r>
            <a:endParaRPr lang="en-US" sz="1150" dirty="0"/>
          </a:p>
        </p:txBody>
      </p:sp>
      <p:sp>
        <p:nvSpPr>
          <p:cNvPr id="25" name="Slide Number Placeholder 0"/>
          <p:cNvSpPr>
            <a:spLocks noGrp="1"/>
          </p:cNvSpPr>
          <p:nvPr>
            <p:ph type="sldNum" sz="quarter" idx="4294967295"/>
          </p:nvPr>
        </p:nvSpPr>
        <p:spPr>
          <a:xfrm>
            <a:off x="11430000" y="6419088"/>
            <a:ext cx="36576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9AA2AE"/>
                </a:solidFill>
                <a:latin typeface="Consolas"/>
                <a:ea typeface="Consolas"/>
                <a:cs typeface="Consolas"/>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475488" y="310896"/>
            <a:ext cx="11240719" cy="219456"/>
          </a:xfrm>
          <a:prstGeom prst="rect">
            <a:avLst/>
          </a:prstGeom>
          <a:noFill/>
          <a:ln/>
        </p:spPr>
        <p:txBody>
          <a:bodyPr wrap="square" lIns="0" tIns="0" rIns="0" bIns="0" rtlCol="0" anchor="ctr"/>
          <a:lstStyle/>
          <a:p>
            <a:pPr indent="0" marL="0">
              <a:buNone/>
            </a:pPr>
            <a:r>
              <a:rPr lang="en-US" sz="1050" spc="240" kern="0" dirty="0">
                <a:solidFill>
                  <a:srgbClr val="B8892F"/>
                </a:solidFill>
                <a:latin typeface="Consolas" pitchFamily="34" charset="0"/>
                <a:ea typeface="Consolas" pitchFamily="34" charset="-122"/>
                <a:cs typeface="Consolas" pitchFamily="34" charset="-120"/>
              </a:rPr>
              <a:t>EVENT MODEL</a:t>
            </a:r>
            <a:endParaRPr lang="en-US" sz="1050" dirty="0"/>
          </a:p>
        </p:txBody>
      </p:sp>
      <p:sp>
        <p:nvSpPr>
          <p:cNvPr id="3" name="Text 1"/>
          <p:cNvSpPr txBox="1"/>
          <p:nvPr/>
        </p:nvSpPr>
        <p:spPr>
          <a:xfrm>
            <a:off x="475488" y="548640"/>
            <a:ext cx="11240719" cy="566928"/>
          </a:xfrm>
          <a:prstGeom prst="rect">
            <a:avLst/>
          </a:prstGeom>
          <a:noFill/>
          <a:ln/>
        </p:spPr>
        <p:txBody>
          <a:bodyPr wrap="square" lIns="0" tIns="0" rIns="0" bIns="0" rtlCol="0" anchor="t"/>
          <a:lstStyle/>
          <a:p>
            <a:pPr indent="0" marL="0">
              <a:buNone/>
            </a:pPr>
            <a:r>
              <a:rPr lang="en-US" sz="3000" b="1" dirty="0">
                <a:solidFill>
                  <a:srgbClr val="0F1A2B"/>
                </a:solidFill>
                <a:latin typeface="Cambria" pitchFamily="34" charset="0"/>
                <a:ea typeface="Cambria" pitchFamily="34" charset="-122"/>
                <a:cs typeface="Cambria" pitchFamily="34" charset="-120"/>
              </a:rPr>
              <a:t>The events matter as much as the resources</a:t>
            </a:r>
            <a:endParaRPr lang="en-US" sz="3000" dirty="0"/>
          </a:p>
        </p:txBody>
      </p:sp>
      <p:sp>
        <p:nvSpPr>
          <p:cNvPr id="4" name="Text 2"/>
          <p:cNvSpPr txBox="1"/>
          <p:nvPr/>
        </p:nvSpPr>
        <p:spPr>
          <a:xfrm>
            <a:off x="475488" y="1188720"/>
            <a:ext cx="11240719" cy="475488"/>
          </a:xfrm>
          <a:prstGeom prst="rect">
            <a:avLst/>
          </a:prstGeom>
          <a:noFill/>
          <a:ln/>
        </p:spPr>
        <p:txBody>
          <a:bodyPr wrap="square" lIns="0" tIns="0" rIns="0" bIns="0" rtlCol="0" anchor="t"/>
          <a:lstStyle/>
          <a:p>
            <a:pPr indent="0" marL="0">
              <a:buNone/>
            </a:pPr>
            <a:r>
              <a:rPr lang="en-US" sz="1250" dirty="0">
                <a:solidFill>
                  <a:srgbClr val="414A5C"/>
                </a:solidFill>
              </a:rPr>
              <a:t>Emit distinct events for distinct lifecycle boundaries. For multi-capture, the capture events — not repeated updates to the Intent — are the durable history of each financial operation.</a:t>
            </a:r>
            <a:endParaRPr lang="en-US" sz="1250" dirty="0"/>
          </a:p>
        </p:txBody>
      </p:sp>
      <p:sp>
        <p:nvSpPr>
          <p:cNvPr id="5" name="Shape 3"/>
          <p:cNvSpPr/>
          <p:nvPr/>
        </p:nvSpPr>
        <p:spPr>
          <a:xfrm>
            <a:off x="475488" y="1737360"/>
            <a:ext cx="11240719" cy="22860"/>
          </a:xfrm>
          <a:prstGeom prst="rect">
            <a:avLst/>
          </a:prstGeom>
          <a:solidFill>
            <a:srgbClr val="B8892F"/>
          </a:solidFill>
          <a:ln w="12700">
            <a:solidFill>
              <a:srgbClr val="B8892F"/>
            </a:solidFill>
            <a:prstDash val="solid"/>
          </a:ln>
        </p:spPr>
      </p:sp>
      <p:sp>
        <p:nvSpPr>
          <p:cNvPr id="6" name="card-Intent lifecycle"/>
          <p:cNvSpPr/>
          <p:nvPr/>
        </p:nvSpPr>
        <p:spPr>
          <a:xfrm>
            <a:off x="475488" y="1901952"/>
            <a:ext cx="3637178" cy="1463040"/>
          </a:xfrm>
          <a:prstGeom prst="rect">
            <a:avLst/>
          </a:prstGeom>
          <a:solidFill>
            <a:srgbClr val="FBFAF7"/>
          </a:solidFill>
          <a:ln w="6350">
            <a:solidFill>
              <a:srgbClr val="DCD7CB"/>
            </a:solidFill>
            <a:prstDash val="solid"/>
          </a:ln>
        </p:spPr>
      </p:sp>
      <p:sp>
        <p:nvSpPr>
          <p:cNvPr id="7" name="Text 5"/>
          <p:cNvSpPr txBox="1"/>
          <p:nvPr/>
        </p:nvSpPr>
        <p:spPr>
          <a:xfrm>
            <a:off x="603504" y="2002536"/>
            <a:ext cx="3381146" cy="182880"/>
          </a:xfrm>
          <a:prstGeom prst="rect">
            <a:avLst/>
          </a:prstGeom>
          <a:noFill/>
          <a:ln/>
        </p:spPr>
        <p:txBody>
          <a:bodyPr wrap="square" lIns="0" tIns="0" rIns="0" bIns="0" rtlCol="0" anchor="ctr"/>
          <a:lstStyle/>
          <a:p>
            <a:pPr indent="0" marL="0">
              <a:buNone/>
            </a:pPr>
            <a:r>
              <a:rPr lang="en-US" sz="900" spc="140" kern="0" dirty="0">
                <a:solidFill>
                  <a:srgbClr val="26706A"/>
                </a:solidFill>
                <a:latin typeface="Consolas" pitchFamily="34" charset="0"/>
                <a:ea typeface="Consolas" pitchFamily="34" charset="-122"/>
                <a:cs typeface="Consolas" pitchFamily="34" charset="-120"/>
              </a:rPr>
              <a:t>INTENT LIFECYCLE</a:t>
            </a:r>
            <a:endParaRPr lang="en-US" sz="900" dirty="0"/>
          </a:p>
        </p:txBody>
      </p:sp>
      <p:sp>
        <p:nvSpPr>
          <p:cNvPr id="8" name="Text 6"/>
          <p:cNvSpPr txBox="1"/>
          <p:nvPr/>
        </p:nvSpPr>
        <p:spPr>
          <a:xfrm>
            <a:off x="603504" y="2194560"/>
            <a:ext cx="3381146" cy="1078992"/>
          </a:xfrm>
          <a:prstGeom prst="rect">
            <a:avLst/>
          </a:prstGeom>
          <a:noFill/>
          <a:ln/>
        </p:spPr>
        <p:txBody>
          <a:bodyPr wrap="square" lIns="0" tIns="0" rIns="0" bIns="0" rtlCol="0" anchor="t"/>
          <a:lstStyle/>
          <a:p>
            <a:pPr indent="0" marL="0">
              <a:buNone/>
            </a:pPr>
            <a:r>
              <a:rPr lang="en-US" sz="1100" dirty="0">
                <a:solidFill>
                  <a:srgbClr val="1A1F2B"/>
                </a:solidFill>
              </a:rPr>
              <a:t>payment_intent.created</a:t>
            </a:r>
            <a:endParaRPr lang="en-US" sz="1100" dirty="0"/>
          </a:p>
          <a:p>
            <a:pPr indent="0" marL="0">
              <a:buNone/>
            </a:pPr>
            <a:r>
              <a:rPr lang="en-US" sz="1100" dirty="0">
                <a:solidFill>
                  <a:srgbClr val="1A1F2B"/>
                </a:solidFill>
              </a:rPr>
              <a:t>payment_intent.requires_action</a:t>
            </a:r>
            <a:endParaRPr lang="en-US" sz="1100" dirty="0"/>
          </a:p>
          <a:p>
            <a:pPr indent="0" marL="0">
              <a:buNone/>
            </a:pPr>
            <a:r>
              <a:rPr lang="en-US" sz="1100" dirty="0">
                <a:solidFill>
                  <a:srgbClr val="1A1F2B"/>
                </a:solidFill>
              </a:rPr>
              <a:t>payment_intent.succeeded</a:t>
            </a:r>
            <a:endParaRPr lang="en-US" sz="1100" dirty="0"/>
          </a:p>
          <a:p>
            <a:pPr indent="0" marL="0">
              <a:buNone/>
            </a:pPr>
            <a:r>
              <a:rPr lang="en-US" sz="1100" dirty="0">
                <a:solidFill>
                  <a:srgbClr val="1A1F2B"/>
                </a:solidFill>
              </a:rPr>
              <a:t>payment_intent.canceled</a:t>
            </a:r>
            <a:endParaRPr lang="en-US" sz="1100" dirty="0"/>
          </a:p>
        </p:txBody>
      </p:sp>
      <p:sp>
        <p:nvSpPr>
          <p:cNvPr id="9" name="card-Attempt lifecycle"/>
          <p:cNvSpPr/>
          <p:nvPr/>
        </p:nvSpPr>
        <p:spPr>
          <a:xfrm>
            <a:off x="4277258" y="1901952"/>
            <a:ext cx="3637178" cy="1463040"/>
          </a:xfrm>
          <a:prstGeom prst="rect">
            <a:avLst/>
          </a:prstGeom>
          <a:solidFill>
            <a:srgbClr val="FBEEEE"/>
          </a:solidFill>
          <a:ln w="6350">
            <a:solidFill>
              <a:srgbClr val="DCD7CB"/>
            </a:solidFill>
            <a:prstDash val="solid"/>
          </a:ln>
        </p:spPr>
      </p:sp>
      <p:sp>
        <p:nvSpPr>
          <p:cNvPr id="10" name="Text 8"/>
          <p:cNvSpPr txBox="1"/>
          <p:nvPr/>
        </p:nvSpPr>
        <p:spPr>
          <a:xfrm>
            <a:off x="4405274" y="2002536"/>
            <a:ext cx="3381146" cy="182880"/>
          </a:xfrm>
          <a:prstGeom prst="rect">
            <a:avLst/>
          </a:prstGeom>
          <a:noFill/>
          <a:ln/>
        </p:spPr>
        <p:txBody>
          <a:bodyPr wrap="square" lIns="0" tIns="0" rIns="0" bIns="0" rtlCol="0" anchor="ctr"/>
          <a:lstStyle/>
          <a:p>
            <a:pPr indent="0" marL="0">
              <a:buNone/>
            </a:pPr>
            <a:r>
              <a:rPr lang="en-US" sz="900" spc="140" kern="0" dirty="0">
                <a:solidFill>
                  <a:srgbClr val="9B2C2C"/>
                </a:solidFill>
                <a:latin typeface="Consolas" pitchFamily="34" charset="0"/>
                <a:ea typeface="Consolas" pitchFamily="34" charset="-122"/>
                <a:cs typeface="Consolas" pitchFamily="34" charset="-120"/>
              </a:rPr>
              <a:t>ATTEMPT LIFECYCLE</a:t>
            </a:r>
            <a:endParaRPr lang="en-US" sz="900" dirty="0"/>
          </a:p>
        </p:txBody>
      </p:sp>
      <p:sp>
        <p:nvSpPr>
          <p:cNvPr id="11" name="Text 9"/>
          <p:cNvSpPr txBox="1"/>
          <p:nvPr/>
        </p:nvSpPr>
        <p:spPr>
          <a:xfrm>
            <a:off x="4405274" y="2194560"/>
            <a:ext cx="3381146" cy="1078992"/>
          </a:xfrm>
          <a:prstGeom prst="rect">
            <a:avLst/>
          </a:prstGeom>
          <a:noFill/>
          <a:ln/>
        </p:spPr>
        <p:txBody>
          <a:bodyPr wrap="square" lIns="0" tIns="0" rIns="0" bIns="0" rtlCol="0" anchor="t"/>
          <a:lstStyle/>
          <a:p>
            <a:pPr indent="0" marL="0">
              <a:buNone/>
            </a:pPr>
            <a:r>
              <a:rPr lang="en-US" sz="1100" dirty="0">
                <a:solidFill>
                  <a:srgbClr val="1A1F2B"/>
                </a:solidFill>
              </a:rPr>
              <a:t>payment_attempt.created
payment_attempt.failed
</a:t>
            </a:r>
            <a:pPr indent="0" marL="0">
              <a:buNone/>
            </a:pPr>
            <a:r>
              <a:rPr lang="en-US" sz="1100" b="1" dirty="0">
                <a:solidFill>
                  <a:srgbClr val="1A1F2B"/>
                </a:solidFill>
              </a:rPr>
              <a:t>payment_attempt.outcome_unknown</a:t>
            </a:r>
            <a:pPr indent="0" marL="0">
              <a:buNone/>
            </a:pPr>
            <a:endParaRPr lang="en-US" sz="1100" dirty="0"/>
          </a:p>
          <a:p>
            <a:pPr indent="0" marL="0">
              <a:buNone/>
            </a:pPr>
            <a:r>
              <a:rPr lang="en-US" sz="1100" dirty="0">
                <a:solidFill>
                  <a:srgbClr val="1A1F2B"/>
                </a:solidFill>
              </a:rPr>
              <a:t>payment_attempt.succeeded</a:t>
            </a:r>
            <a:endParaRPr lang="en-US" sz="1100" dirty="0"/>
          </a:p>
        </p:txBody>
      </p:sp>
      <p:sp>
        <p:nvSpPr>
          <p:cNvPr id="12" name="card-Financial operations"/>
          <p:cNvSpPr/>
          <p:nvPr/>
        </p:nvSpPr>
        <p:spPr>
          <a:xfrm>
            <a:off x="8079029" y="1901952"/>
            <a:ext cx="3637178" cy="1463040"/>
          </a:xfrm>
          <a:prstGeom prst="rect">
            <a:avLst/>
          </a:prstGeom>
          <a:solidFill>
            <a:srgbClr val="FAF4E6"/>
          </a:solidFill>
          <a:ln w="6350">
            <a:solidFill>
              <a:srgbClr val="DCD7CB"/>
            </a:solidFill>
            <a:prstDash val="solid"/>
          </a:ln>
        </p:spPr>
      </p:sp>
      <p:sp>
        <p:nvSpPr>
          <p:cNvPr id="13" name="Text 11"/>
          <p:cNvSpPr txBox="1"/>
          <p:nvPr/>
        </p:nvSpPr>
        <p:spPr>
          <a:xfrm>
            <a:off x="8207045" y="2002536"/>
            <a:ext cx="3381146" cy="182880"/>
          </a:xfrm>
          <a:prstGeom prst="rect">
            <a:avLst/>
          </a:prstGeom>
          <a:noFill/>
          <a:ln/>
        </p:spPr>
        <p:txBody>
          <a:bodyPr wrap="square" lIns="0" tIns="0" rIns="0" bIns="0" rtlCol="0" anchor="ctr"/>
          <a:lstStyle/>
          <a:p>
            <a:pPr indent="0" marL="0">
              <a:buNone/>
            </a:pPr>
            <a:r>
              <a:rPr lang="en-US" sz="900" spc="140" kern="0" dirty="0">
                <a:solidFill>
                  <a:srgbClr val="B8892F"/>
                </a:solidFill>
                <a:latin typeface="Consolas" pitchFamily="34" charset="0"/>
                <a:ea typeface="Consolas" pitchFamily="34" charset="-122"/>
                <a:cs typeface="Consolas" pitchFamily="34" charset="-120"/>
              </a:rPr>
              <a:t>FINANCIAL OPERATIONS</a:t>
            </a:r>
            <a:endParaRPr lang="en-US" sz="900" dirty="0"/>
          </a:p>
        </p:txBody>
      </p:sp>
      <p:sp>
        <p:nvSpPr>
          <p:cNvPr id="14" name="Text 12"/>
          <p:cNvSpPr txBox="1"/>
          <p:nvPr/>
        </p:nvSpPr>
        <p:spPr>
          <a:xfrm>
            <a:off x="8207045" y="2194560"/>
            <a:ext cx="3381146" cy="1078992"/>
          </a:xfrm>
          <a:prstGeom prst="rect">
            <a:avLst/>
          </a:prstGeom>
          <a:noFill/>
          <a:ln/>
        </p:spPr>
        <p:txBody>
          <a:bodyPr wrap="square" lIns="0" tIns="0" rIns="0" bIns="0" rtlCol="0" anchor="t"/>
          <a:lstStyle/>
          <a:p>
            <a:pPr indent="0" marL="0">
              <a:buNone/>
            </a:pPr>
            <a:r>
              <a:rPr lang="en-US" sz="1100" dirty="0">
                <a:solidFill>
                  <a:srgbClr val="1A1F2B"/>
                </a:solidFill>
              </a:rPr>
              <a:t>payment_authorization.approved</a:t>
            </a:r>
            <a:endParaRPr lang="en-US" sz="1100" dirty="0"/>
          </a:p>
          <a:p>
            <a:pPr indent="0" marL="0">
              <a:buNone/>
            </a:pPr>
            <a:r>
              <a:rPr lang="en-US" sz="1100" dirty="0">
                <a:solidFill>
                  <a:srgbClr val="1A1F2B"/>
                </a:solidFill>
              </a:rPr>
              <a:t>payment_capture.created</a:t>
            </a:r>
            <a:endParaRPr lang="en-US" sz="1100" dirty="0"/>
          </a:p>
          <a:p>
            <a:pPr indent="0" marL="0">
              <a:buNone/>
            </a:pPr>
            <a:r>
              <a:rPr lang="en-US" sz="1100" dirty="0">
                <a:solidFill>
                  <a:srgbClr val="1A1F2B"/>
                </a:solidFill>
              </a:rPr>
              <a:t>payment_capture.succeeded</a:t>
            </a:r>
            <a:endParaRPr lang="en-US" sz="1100" dirty="0"/>
          </a:p>
          <a:p>
            <a:pPr indent="0" marL="0">
              <a:buNone/>
            </a:pPr>
            <a:r>
              <a:rPr lang="en-US" sz="1100" dirty="0">
                <a:solidFill>
                  <a:srgbClr val="1A1F2B"/>
                </a:solidFill>
              </a:rPr>
              <a:t>payment_capture.failed</a:t>
            </a:r>
            <a:endParaRPr lang="en-US" sz="1100" dirty="0"/>
          </a:p>
        </p:txBody>
      </p:sp>
      <p:sp>
        <p:nvSpPr>
          <p:cNvPr id="15" name="card-Idempotent, versioned, correlated"/>
          <p:cNvSpPr/>
          <p:nvPr/>
        </p:nvSpPr>
        <p:spPr>
          <a:xfrm>
            <a:off x="475488" y="3511296"/>
            <a:ext cx="5492344" cy="1225296"/>
          </a:xfrm>
          <a:prstGeom prst="rect">
            <a:avLst/>
          </a:prstGeom>
          <a:solidFill>
            <a:srgbClr val="FBFAF7"/>
          </a:solidFill>
          <a:ln w="6350">
            <a:solidFill>
              <a:srgbClr val="DCD7CB"/>
            </a:solidFill>
            <a:prstDash val="solid"/>
          </a:ln>
        </p:spPr>
      </p:sp>
      <p:sp>
        <p:nvSpPr>
          <p:cNvPr id="16" name="Text 14"/>
          <p:cNvSpPr txBox="1"/>
          <p:nvPr/>
        </p:nvSpPr>
        <p:spPr>
          <a:xfrm>
            <a:off x="603504" y="3611880"/>
            <a:ext cx="5236312" cy="182880"/>
          </a:xfrm>
          <a:prstGeom prst="rect">
            <a:avLst/>
          </a:prstGeom>
          <a:noFill/>
          <a:ln/>
        </p:spPr>
        <p:txBody>
          <a:bodyPr wrap="square" lIns="0" tIns="0" rIns="0" bIns="0" rtlCol="0" anchor="ctr"/>
          <a:lstStyle/>
          <a:p>
            <a:pPr indent="0" marL="0">
              <a:buNone/>
            </a:pPr>
            <a:r>
              <a:rPr lang="en-US" sz="900" spc="140" kern="0" dirty="0">
                <a:solidFill>
                  <a:srgbClr val="26706A"/>
                </a:solidFill>
                <a:latin typeface="Consolas" pitchFamily="34" charset="0"/>
                <a:ea typeface="Consolas" pitchFamily="34" charset="-122"/>
                <a:cs typeface="Consolas" pitchFamily="34" charset="-120"/>
              </a:rPr>
              <a:t>REQUIREMENTS</a:t>
            </a:r>
            <a:endParaRPr lang="en-US" sz="900" dirty="0"/>
          </a:p>
        </p:txBody>
      </p:sp>
      <p:sp>
        <p:nvSpPr>
          <p:cNvPr id="17" name="Text 15"/>
          <p:cNvSpPr txBox="1"/>
          <p:nvPr/>
        </p:nvSpPr>
        <p:spPr>
          <a:xfrm>
            <a:off x="603504" y="3803904"/>
            <a:ext cx="5236312" cy="256032"/>
          </a:xfrm>
          <a:prstGeom prst="rect">
            <a:avLst/>
          </a:prstGeom>
          <a:noFill/>
          <a:ln/>
        </p:spPr>
        <p:txBody>
          <a:bodyPr wrap="square" lIns="0" tIns="0" rIns="0" bIns="0" rtlCol="0" anchor="ctr"/>
          <a:lstStyle/>
          <a:p>
            <a:pPr indent="0" marL="0">
              <a:buNone/>
            </a:pPr>
            <a:r>
              <a:rPr lang="en-US" sz="1450" b="1" dirty="0">
                <a:solidFill>
                  <a:srgbClr val="0F1A2B"/>
                </a:solidFill>
                <a:latin typeface="Cambria" pitchFamily="34" charset="0"/>
                <a:ea typeface="Cambria" pitchFamily="34" charset="-122"/>
                <a:cs typeface="Cambria" pitchFamily="34" charset="-120"/>
              </a:rPr>
              <a:t>Idempotent, versioned, correlated</a:t>
            </a:r>
            <a:endParaRPr lang="en-US" sz="1450" dirty="0"/>
          </a:p>
        </p:txBody>
      </p:sp>
      <p:sp>
        <p:nvSpPr>
          <p:cNvPr id="18" name="Text 16"/>
          <p:cNvSpPr txBox="1"/>
          <p:nvPr/>
        </p:nvSpPr>
        <p:spPr>
          <a:xfrm>
            <a:off x="603504" y="4087368"/>
            <a:ext cx="5236312" cy="557784"/>
          </a:xfrm>
          <a:prstGeom prst="rect">
            <a:avLst/>
          </a:prstGeom>
          <a:noFill/>
          <a:ln/>
        </p:spPr>
        <p:txBody>
          <a:bodyPr wrap="square" lIns="0" tIns="0" rIns="0" bIns="0" rtlCol="0" anchor="t"/>
          <a:lstStyle/>
          <a:p>
            <a:pPr indent="0" marL="0">
              <a:buNone/>
            </a:pPr>
            <a:r>
              <a:rPr lang="en-US" sz="1100" dirty="0">
                <a:solidFill>
                  <a:srgbClr val="1A1F2B"/>
                </a:solidFill>
              </a:rPr>
              <a:t>Every event must be idempotently consumable, versioned, and correlated to the Intent and to the relevant attempt or financial operation. Handling must be defined for delayed, duplicated and out-of-order delivery.</a:t>
            </a:r>
            <a:endParaRPr lang="en-US" sz="1100" dirty="0"/>
          </a:p>
        </p:txBody>
      </p:sp>
      <p:sp>
        <p:nvSpPr>
          <p:cNvPr id="19" name="card-Three different approvals"/>
          <p:cNvSpPr/>
          <p:nvPr/>
        </p:nvSpPr>
        <p:spPr>
          <a:xfrm>
            <a:off x="6223864" y="3511296"/>
            <a:ext cx="5492344" cy="1225296"/>
          </a:xfrm>
          <a:prstGeom prst="rect">
            <a:avLst/>
          </a:prstGeom>
          <a:solidFill>
            <a:srgbClr val="FBFAF7"/>
          </a:solidFill>
          <a:ln w="6350">
            <a:solidFill>
              <a:srgbClr val="DCD7CB"/>
            </a:solidFill>
            <a:prstDash val="solid"/>
          </a:ln>
        </p:spPr>
      </p:sp>
      <p:sp>
        <p:nvSpPr>
          <p:cNvPr id="20" name="Text 18"/>
          <p:cNvSpPr txBox="1"/>
          <p:nvPr/>
        </p:nvSpPr>
        <p:spPr>
          <a:xfrm>
            <a:off x="6351880" y="3611880"/>
            <a:ext cx="5236312" cy="182880"/>
          </a:xfrm>
          <a:prstGeom prst="rect">
            <a:avLst/>
          </a:prstGeom>
          <a:noFill/>
          <a:ln/>
        </p:spPr>
        <p:txBody>
          <a:bodyPr wrap="square" lIns="0" tIns="0" rIns="0" bIns="0" rtlCol="0" anchor="ctr"/>
          <a:lstStyle/>
          <a:p>
            <a:pPr indent="0" marL="0">
              <a:buNone/>
            </a:pPr>
            <a:r>
              <a:rPr lang="en-US" sz="900" spc="140" kern="0" dirty="0">
                <a:solidFill>
                  <a:srgbClr val="26706A"/>
                </a:solidFill>
                <a:latin typeface="Consolas" pitchFamily="34" charset="0"/>
                <a:ea typeface="Consolas" pitchFamily="34" charset="-122"/>
                <a:cs typeface="Consolas" pitchFamily="34" charset="-120"/>
              </a:rPr>
              <a:t>THE DISTINCTION USUALLY LOST</a:t>
            </a:r>
            <a:endParaRPr lang="en-US" sz="900" dirty="0"/>
          </a:p>
        </p:txBody>
      </p:sp>
      <p:sp>
        <p:nvSpPr>
          <p:cNvPr id="21" name="Text 19"/>
          <p:cNvSpPr txBox="1"/>
          <p:nvPr/>
        </p:nvSpPr>
        <p:spPr>
          <a:xfrm>
            <a:off x="6351880" y="3803904"/>
            <a:ext cx="5236312" cy="256032"/>
          </a:xfrm>
          <a:prstGeom prst="rect">
            <a:avLst/>
          </a:prstGeom>
          <a:noFill/>
          <a:ln/>
        </p:spPr>
        <p:txBody>
          <a:bodyPr wrap="square" lIns="0" tIns="0" rIns="0" bIns="0" rtlCol="0" anchor="ctr"/>
          <a:lstStyle/>
          <a:p>
            <a:pPr indent="0" marL="0">
              <a:buNone/>
            </a:pPr>
            <a:r>
              <a:rPr lang="en-US" sz="1450" b="1" dirty="0">
                <a:solidFill>
                  <a:srgbClr val="0F1A2B"/>
                </a:solidFill>
                <a:latin typeface="Cambria" pitchFamily="34" charset="0"/>
                <a:ea typeface="Cambria" pitchFamily="34" charset="-122"/>
                <a:cs typeface="Cambria" pitchFamily="34" charset="-120"/>
              </a:rPr>
              <a:t>Three different approvals</a:t>
            </a:r>
            <a:endParaRPr lang="en-US" sz="1450" dirty="0"/>
          </a:p>
        </p:txBody>
      </p:sp>
      <p:sp>
        <p:nvSpPr>
          <p:cNvPr id="22" name="Text 20"/>
          <p:cNvSpPr txBox="1"/>
          <p:nvPr/>
        </p:nvSpPr>
        <p:spPr>
          <a:xfrm>
            <a:off x="6351880" y="4087368"/>
            <a:ext cx="5236312" cy="557784"/>
          </a:xfrm>
          <a:prstGeom prst="rect">
            <a:avLst/>
          </a:prstGeom>
          <a:noFill/>
          <a:ln/>
        </p:spPr>
        <p:txBody>
          <a:bodyPr wrap="square" lIns="0" tIns="0" rIns="0" bIns="0" rtlCol="0" anchor="t"/>
          <a:lstStyle/>
          <a:p>
            <a:pPr indent="0" marL="0">
              <a:buNone/>
            </a:pPr>
            <a:r>
              <a:rPr lang="en-US" sz="1100" dirty="0">
                <a:solidFill>
                  <a:srgbClr val="1A1F2B"/>
                </a:solidFill>
              </a:rPr>
              <a:t>An </a:t>
            </a:r>
            <a:pPr indent="0" marL="0">
              <a:buNone/>
            </a:pPr>
            <a:r>
              <a:rPr lang="en-US" sz="1100" b="1" dirty="0">
                <a:solidFill>
                  <a:srgbClr val="1A1F2B"/>
                </a:solidFill>
              </a:rPr>
              <a:t>authorization approval</a:t>
            </a:r>
            <a:pPr indent="0" marL="0">
              <a:buNone/>
            </a:pPr>
            <a:r>
              <a:rPr lang="en-US" sz="1100" dirty="0">
                <a:solidFill>
                  <a:srgbClr val="1A1F2B"/>
                </a:solidFill>
              </a:rPr>
              <a:t>, a </a:t>
            </a:r>
            <a:pPr indent="0" marL="0">
              <a:buNone/>
            </a:pPr>
            <a:r>
              <a:rPr lang="en-US" sz="1100" b="1" dirty="0">
                <a:solidFill>
                  <a:srgbClr val="1A1F2B"/>
                </a:solidFill>
              </a:rPr>
              <a:t>capture submission</a:t>
            </a:r>
            <a:pPr indent="0" marL="0">
              <a:buNone/>
            </a:pPr>
            <a:r>
              <a:rPr lang="en-US" sz="1100" dirty="0">
                <a:solidFill>
                  <a:srgbClr val="1A1F2B"/>
                </a:solidFill>
              </a:rPr>
              <a:t> and a </a:t>
            </a:r>
            <a:pPr indent="0" marL="0">
              <a:buNone/>
            </a:pPr>
            <a:r>
              <a:rPr lang="en-US" sz="1100" b="1" dirty="0">
                <a:solidFill>
                  <a:srgbClr val="1A1F2B"/>
                </a:solidFill>
              </a:rPr>
              <a:t>final capture outcome</a:t>
            </a:r>
            <a:pPr indent="0" marL="0">
              <a:buNone/>
            </a:pPr>
            <a:r>
              <a:rPr lang="en-US" sz="1100" dirty="0">
                <a:solidFill>
                  <a:srgbClr val="1A1F2B"/>
                </a:solidFill>
              </a:rPr>
              <a:t> are three separate events. Collapsing them is why finance and fulfilment disagree about when an order was paid.</a:t>
            </a:r>
            <a:endParaRPr lang="en-US" sz="1100" dirty="0"/>
          </a:p>
        </p:txBody>
      </p:sp>
      <p:sp>
        <p:nvSpPr>
          <p:cNvPr id="23" name="takeaway"/>
          <p:cNvSpPr/>
          <p:nvPr/>
        </p:nvSpPr>
        <p:spPr>
          <a:xfrm>
            <a:off x="475488" y="4956048"/>
            <a:ext cx="11240719" cy="768096"/>
          </a:xfrm>
          <a:prstGeom prst="rect">
            <a:avLst/>
          </a:prstGeom>
          <a:solidFill>
            <a:srgbClr val="0F1A2B"/>
          </a:solidFill>
          <a:ln w="12700">
            <a:solidFill>
              <a:srgbClr val="333333"/>
            </a:solidFill>
            <a:prstDash val="solid"/>
          </a:ln>
        </p:spPr>
      </p:sp>
      <p:sp>
        <p:nvSpPr>
          <p:cNvPr id="24" name="Text 22"/>
          <p:cNvSpPr txBox="1"/>
          <p:nvPr/>
        </p:nvSpPr>
        <p:spPr>
          <a:xfrm>
            <a:off x="640080" y="5038344"/>
            <a:ext cx="10911535" cy="182880"/>
          </a:xfrm>
          <a:prstGeom prst="rect">
            <a:avLst/>
          </a:prstGeom>
          <a:noFill/>
          <a:ln/>
        </p:spPr>
        <p:txBody>
          <a:bodyPr wrap="square" lIns="0" tIns="0" rIns="0" bIns="0" rtlCol="0" anchor="ctr"/>
          <a:lstStyle/>
          <a:p>
            <a:pPr indent="0" marL="0">
              <a:buNone/>
            </a:pPr>
            <a:r>
              <a:rPr lang="en-US" sz="900" spc="160" kern="0" dirty="0">
                <a:solidFill>
                  <a:srgbClr val="D9A03C"/>
                </a:solidFill>
                <a:latin typeface="Consolas" pitchFamily="34" charset="0"/>
                <a:ea typeface="Consolas" pitchFamily="34" charset="-122"/>
                <a:cs typeface="Consolas" pitchFamily="34" charset="-120"/>
              </a:rPr>
              <a:t>CONSEQUENCE</a:t>
            </a:r>
            <a:endParaRPr lang="en-US" sz="900" dirty="0"/>
          </a:p>
        </p:txBody>
      </p:sp>
      <p:sp>
        <p:nvSpPr>
          <p:cNvPr id="25" name="Text 23"/>
          <p:cNvSpPr txBox="1"/>
          <p:nvPr/>
        </p:nvSpPr>
        <p:spPr>
          <a:xfrm>
            <a:off x="640080" y="5230368"/>
            <a:ext cx="10911535" cy="438912"/>
          </a:xfrm>
          <a:prstGeom prst="rect">
            <a:avLst/>
          </a:prstGeom>
          <a:noFill/>
          <a:ln/>
        </p:spPr>
        <p:txBody>
          <a:bodyPr wrap="square" lIns="0" tIns="0" rIns="0" bIns="0" rtlCol="0" anchor="t"/>
          <a:lstStyle/>
          <a:p>
            <a:pPr indent="0" marL="0">
              <a:buNone/>
            </a:pPr>
            <a:r>
              <a:rPr lang="en-US" sz="1150" dirty="0">
                <a:solidFill>
                  <a:srgbClr val="F2EEE4"/>
                </a:solidFill>
              </a:rPr>
              <a:t>Order-level state is a </a:t>
            </a:r>
            <a:pPr indent="0" marL="0">
              <a:buNone/>
            </a:pPr>
            <a:r>
              <a:rPr lang="en-US" sz="1150" b="1" dirty="0">
                <a:solidFill>
                  <a:srgbClr val="E8D9B4"/>
                </a:solidFill>
              </a:rPr>
              <a:t>projection driven by payment events</a:t>
            </a:r>
            <a:pPr indent="0" marL="0">
              <a:buNone/>
            </a:pPr>
            <a:r>
              <a:rPr lang="en-US" sz="1150" dirty="0">
                <a:solidFill>
                  <a:srgbClr val="F2EEE4"/>
                </a:solidFill>
              </a:rPr>
              <a:t>, not a field someone writes. If the projection can disagree with the ledger, the ledger wins and the projection is rebuilt.</a:t>
            </a:r>
            <a:endParaRPr lang="en-US" sz="1150" dirty="0"/>
          </a:p>
        </p:txBody>
      </p:sp>
      <p:sp>
        <p:nvSpPr>
          <p:cNvPr id="25" name="Slide Number Placeholder 0"/>
          <p:cNvSpPr>
            <a:spLocks noGrp="1"/>
          </p:cNvSpPr>
          <p:nvPr>
            <p:ph type="sldNum" sz="quarter" idx="4294967295"/>
          </p:nvPr>
        </p:nvSpPr>
        <p:spPr>
          <a:xfrm>
            <a:off x="11430000" y="6419088"/>
            <a:ext cx="36576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9AA2AE"/>
                </a:solidFill>
                <a:latin typeface="Consolas"/>
                <a:ea typeface="Consolas"/>
                <a:cs typeface="Consolas"/>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475488" y="310896"/>
            <a:ext cx="11240719" cy="219456"/>
          </a:xfrm>
          <a:prstGeom prst="rect">
            <a:avLst/>
          </a:prstGeom>
          <a:noFill/>
          <a:ln/>
        </p:spPr>
        <p:txBody>
          <a:bodyPr wrap="square" lIns="0" tIns="0" rIns="0" bIns="0" rtlCol="0" anchor="ctr"/>
          <a:lstStyle/>
          <a:p>
            <a:pPr indent="0" marL="0">
              <a:buNone/>
            </a:pPr>
            <a:r>
              <a:rPr lang="en-US" sz="1050" spc="240" kern="0" dirty="0">
                <a:solidFill>
                  <a:srgbClr val="B8892F"/>
                </a:solidFill>
                <a:latin typeface="Consolas" pitchFamily="34" charset="0"/>
                <a:ea typeface="Consolas" pitchFamily="34" charset="-122"/>
                <a:cs typeface="Consolas" pitchFamily="34" charset="-120"/>
              </a:rPr>
              <a:t>GOVERNANCE</a:t>
            </a:r>
            <a:endParaRPr lang="en-US" sz="1050" dirty="0"/>
          </a:p>
        </p:txBody>
      </p:sp>
      <p:sp>
        <p:nvSpPr>
          <p:cNvPr id="3" name="Text 1"/>
          <p:cNvSpPr txBox="1"/>
          <p:nvPr/>
        </p:nvSpPr>
        <p:spPr>
          <a:xfrm>
            <a:off x="475488" y="548640"/>
            <a:ext cx="11240719" cy="566928"/>
          </a:xfrm>
          <a:prstGeom prst="rect">
            <a:avLst/>
          </a:prstGeom>
          <a:noFill/>
          <a:ln/>
        </p:spPr>
        <p:txBody>
          <a:bodyPr wrap="square" lIns="0" tIns="0" rIns="0" bIns="0" rtlCol="0" anchor="t"/>
          <a:lstStyle/>
          <a:p>
            <a:pPr indent="0" marL="0">
              <a:buNone/>
            </a:pPr>
            <a:r>
              <a:rPr lang="en-US" sz="3000" b="1" dirty="0">
                <a:solidFill>
                  <a:srgbClr val="0F1A2B"/>
                </a:solidFill>
                <a:latin typeface="Cambria" pitchFamily="34" charset="0"/>
                <a:ea typeface="Cambria" pitchFamily="34" charset="-122"/>
                <a:cs typeface="Cambria" pitchFamily="34" charset="-120"/>
              </a:rPr>
              <a:t>Policy precedence, fixed and non-negotiable</a:t>
            </a:r>
            <a:endParaRPr lang="en-US" sz="3000" dirty="0"/>
          </a:p>
        </p:txBody>
      </p:sp>
      <p:sp>
        <p:nvSpPr>
          <p:cNvPr id="4" name="Text 2"/>
          <p:cNvSpPr txBox="1"/>
          <p:nvPr/>
        </p:nvSpPr>
        <p:spPr>
          <a:xfrm>
            <a:off x="475488" y="1188720"/>
            <a:ext cx="11240719" cy="475488"/>
          </a:xfrm>
          <a:prstGeom prst="rect">
            <a:avLst/>
          </a:prstGeom>
          <a:noFill/>
          <a:ln/>
        </p:spPr>
        <p:txBody>
          <a:bodyPr wrap="square" lIns="0" tIns="0" rIns="0" bIns="0" rtlCol="0" anchor="t"/>
          <a:lstStyle/>
          <a:p>
            <a:pPr indent="0" marL="0">
              <a:buNone/>
            </a:pPr>
            <a:r>
              <a:rPr lang="en-US" sz="1250" dirty="0">
                <a:solidFill>
                  <a:srgbClr val="414A5C"/>
                </a:solidFill>
              </a:rPr>
              <a:t>This is what lets merchants tune strategy aggressively without being able to override a hard safety constraint.</a:t>
            </a:r>
            <a:endParaRPr lang="en-US" sz="1250" dirty="0"/>
          </a:p>
        </p:txBody>
      </p:sp>
      <p:sp>
        <p:nvSpPr>
          <p:cNvPr id="5" name="Shape 3"/>
          <p:cNvSpPr/>
          <p:nvPr/>
        </p:nvSpPr>
        <p:spPr>
          <a:xfrm>
            <a:off x="475488" y="1737360"/>
            <a:ext cx="11240719" cy="22860"/>
          </a:xfrm>
          <a:prstGeom prst="rect">
            <a:avLst/>
          </a:prstGeom>
          <a:solidFill>
            <a:srgbClr val="B8892F"/>
          </a:solidFill>
          <a:ln w="12700">
            <a:solidFill>
              <a:srgbClr val="B8892F"/>
            </a:solidFill>
            <a:prstDash val="solid"/>
          </a:ln>
        </p:spPr>
      </p:sp>
      <p:graphicFrame>
        <p:nvGraphicFramePr>
          <p:cNvPr id="17" name="precedence-table"/>
          <p:cNvGraphicFramePr>
            <a:graphicFrameLocks noGrp="1"/>
          </p:cNvGraphicFramePr>
          <p:nvPr>
            <p:extLst>
              <p:ext uri="{D42A27DB-BD31-4B8C-83A1-F6EECF244321}">
                <p14:modId xmlns:p14="http://schemas.microsoft.com/office/powerpoint/2010/main" val="1579011935"/>
              </p:ext>
            </p:extLst>
          </p:nvPr>
        </p:nvGraphicFramePr>
        <p:xfrm>
          <a:off x="475488" y="1920240"/>
          <a:ext cx="11240719" cy="914400"/>
        </p:xfrm>
        <a:graphic>
          <a:graphicData uri="http://schemas.openxmlformats.org/drawingml/2006/table">
            <a:tbl>
              <a:tblPr/>
              <a:tblGrid>
                <a:gridCol w="685800"/>
                <a:gridCol w="3931920"/>
                <a:gridCol w="6622999"/>
              </a:tblGrid>
              <a:tr h="384048">
                <a:tc>
                  <a:txBody>
                    <a:bodyPr/>
                    <a:lstStyle/>
                    <a:p>
                      <a:pPr indent="0" marL="0">
                        <a:buNone/>
                      </a:pPr>
                      <a:endParaRPr lang="en-US" sz="950" dirty="0">
                        <a:latin typeface="Calibri" charset="0"/>
                        <a:ea typeface="Calibri" charset="0"/>
                        <a:cs typeface="Calibri" charset="0"/>
                      </a:endParaRPr>
                    </a:p>
                  </a:txBody>
                  <a:tcPr marL="91440" marR="91440" marT="45720" marB="45720" anchor="ctr">
                    <a:lnL w="6350" cap="flat" cmpd="sng" algn="ctr">
                      <a:solidFill>
                        <a:srgbClr val="EAE6DC"/>
                      </a:solidFill>
                      <a:prstDash val="solid"/>
                      <a:round/>
                      <a:headEnd type="none" w="med" len="med"/>
                      <a:tailEnd type="none" w="med" len="med"/>
                    </a:lnL>
                    <a:lnR w="6350" cap="flat" cmpd="sng" algn="ctr">
                      <a:solidFill>
                        <a:srgbClr val="EAE6DC"/>
                      </a:solidFill>
                      <a:prstDash val="solid"/>
                      <a:round/>
                      <a:headEnd type="none" w="med" len="med"/>
                      <a:tailEnd type="none" w="med" len="med"/>
                    </a:lnR>
                    <a:lnT w="6350" cap="flat" cmpd="sng" algn="ctr">
                      <a:solidFill>
                        <a:srgbClr val="EAE6DC"/>
                      </a:solidFill>
                      <a:prstDash val="solid"/>
                      <a:round/>
                      <a:headEnd type="none" w="med" len="med"/>
                      <a:tailEnd type="none" w="med" len="med"/>
                    </a:lnT>
                    <a:lnB w="6350" cap="flat" cmpd="sng" algn="ctr">
                      <a:solidFill>
                        <a:srgbClr val="EAE6DC"/>
                      </a:solidFill>
                      <a:prstDash val="solid"/>
                      <a:round/>
                      <a:headEnd type="none" w="med" len="med"/>
                      <a:tailEnd type="none" w="med" len="med"/>
                    </a:lnB>
                    <a:solidFill>
                      <a:srgbClr val="0F1A2B"/>
                    </a:solidFill>
                  </a:tcPr>
                </a:tc>
                <a:tc>
                  <a:txBody>
                    <a:bodyPr/>
                    <a:lstStyle/>
                    <a:p>
                      <a:pPr indent="0" marL="0">
                        <a:buNone/>
                      </a:pPr>
                      <a:r>
                        <a:rPr lang="en-US" sz="950" b="1" spc="60" kern="0" dirty="0">
                          <a:solidFill>
                            <a:srgbClr val="F2EEE4"/>
                          </a:solidFill>
                          <a:latin typeface="Calibri" pitchFamily="34" charset="0"/>
                          <a:ea typeface="Calibri" pitchFamily="34" charset="-122"/>
                          <a:cs typeface="Calibri" pitchFamily="34" charset="-120"/>
                        </a:rPr>
                        <a:t>LAYER</a:t>
                      </a:r>
                      <a:endParaRPr lang="en-US" sz="950" dirty="0">
                        <a:latin typeface="Calibri" charset="0"/>
                        <a:ea typeface="Calibri" charset="0"/>
                        <a:cs typeface="Calibri" charset="0"/>
                      </a:endParaRPr>
                    </a:p>
                  </a:txBody>
                  <a:tcPr marL="91440" marR="91440" marT="45720" marB="45720" anchor="ctr">
                    <a:lnL w="6350" cap="flat" cmpd="sng" algn="ctr">
                      <a:solidFill>
                        <a:srgbClr val="EAE6DC"/>
                      </a:solidFill>
                      <a:prstDash val="solid"/>
                      <a:round/>
                      <a:headEnd type="none" w="med" len="med"/>
                      <a:tailEnd type="none" w="med" len="med"/>
                    </a:lnL>
                    <a:lnR w="6350" cap="flat" cmpd="sng" algn="ctr">
                      <a:solidFill>
                        <a:srgbClr val="EAE6DC"/>
                      </a:solidFill>
                      <a:prstDash val="solid"/>
                      <a:round/>
                      <a:headEnd type="none" w="med" len="med"/>
                      <a:tailEnd type="none" w="med" len="med"/>
                    </a:lnR>
                    <a:lnT w="6350" cap="flat" cmpd="sng" algn="ctr">
                      <a:solidFill>
                        <a:srgbClr val="EAE6DC"/>
                      </a:solidFill>
                      <a:prstDash val="solid"/>
                      <a:round/>
                      <a:headEnd type="none" w="med" len="med"/>
                      <a:tailEnd type="none" w="med" len="med"/>
                    </a:lnT>
                    <a:lnB w="6350" cap="flat" cmpd="sng" algn="ctr">
                      <a:solidFill>
                        <a:srgbClr val="EAE6DC"/>
                      </a:solidFill>
                      <a:prstDash val="solid"/>
                      <a:round/>
                      <a:headEnd type="none" w="med" len="med"/>
                      <a:tailEnd type="none" w="med" len="med"/>
                    </a:lnB>
                    <a:solidFill>
                      <a:srgbClr val="0F1A2B"/>
                    </a:solidFill>
                  </a:tcPr>
                </a:tc>
                <a:tc>
                  <a:txBody>
                    <a:bodyPr/>
                    <a:lstStyle/>
                    <a:p>
                      <a:pPr indent="0" marL="0">
                        <a:buNone/>
                      </a:pPr>
                      <a:r>
                        <a:rPr lang="en-US" sz="950" b="1" spc="60" kern="0" dirty="0">
                          <a:solidFill>
                            <a:srgbClr val="F2EEE4"/>
                          </a:solidFill>
                          <a:latin typeface="Calibri" pitchFamily="34" charset="0"/>
                          <a:ea typeface="Calibri" pitchFamily="34" charset="-122"/>
                          <a:cs typeface="Calibri" pitchFamily="34" charset="-120"/>
                        </a:rPr>
                        <a:t>WHAT IT GOVERNS, AND WHO MAY CHANGE IT</a:t>
                      </a:r>
                      <a:endParaRPr lang="en-US" sz="950" dirty="0">
                        <a:latin typeface="Calibri" charset="0"/>
                        <a:ea typeface="Calibri" charset="0"/>
                        <a:cs typeface="Calibri" charset="0"/>
                      </a:endParaRPr>
                    </a:p>
                  </a:txBody>
                  <a:tcPr marL="91440" marR="91440" marT="45720" marB="45720" anchor="ctr">
                    <a:lnL w="6350" cap="flat" cmpd="sng" algn="ctr">
                      <a:solidFill>
                        <a:srgbClr val="EAE6DC"/>
                      </a:solidFill>
                      <a:prstDash val="solid"/>
                      <a:round/>
                      <a:headEnd type="none" w="med" len="med"/>
                      <a:tailEnd type="none" w="med" len="med"/>
                    </a:lnL>
                    <a:lnR w="6350" cap="flat" cmpd="sng" algn="ctr">
                      <a:solidFill>
                        <a:srgbClr val="EAE6DC"/>
                      </a:solidFill>
                      <a:prstDash val="solid"/>
                      <a:round/>
                      <a:headEnd type="none" w="med" len="med"/>
                      <a:tailEnd type="none" w="med" len="med"/>
                    </a:lnR>
                    <a:lnT w="6350" cap="flat" cmpd="sng" algn="ctr">
                      <a:solidFill>
                        <a:srgbClr val="EAE6DC"/>
                      </a:solidFill>
                      <a:prstDash val="solid"/>
                      <a:round/>
                      <a:headEnd type="none" w="med" len="med"/>
                      <a:tailEnd type="none" w="med" len="med"/>
                    </a:lnT>
                    <a:lnB w="6350" cap="flat" cmpd="sng" algn="ctr">
                      <a:solidFill>
                        <a:srgbClr val="EAE6DC"/>
                      </a:solidFill>
                      <a:prstDash val="solid"/>
                      <a:round/>
                      <a:headEnd type="none" w="med" len="med"/>
                      <a:tailEnd type="none" w="med" len="med"/>
                    </a:lnB>
                    <a:solidFill>
                      <a:srgbClr val="0F1A2B"/>
                    </a:solidFill>
                  </a:tcPr>
                </a:tc>
              </a:tr>
              <a:tr h="384048">
                <a:tc>
                  <a:txBody>
                    <a:bodyPr/>
                    <a:lstStyle/>
                    <a:p>
                      <a:pPr algn="ctr" indent="0" marL="0">
                        <a:buNone/>
                      </a:pPr>
                      <a:r>
                        <a:rPr lang="en-US" sz="1100" b="1" dirty="0">
                          <a:solidFill>
                            <a:srgbClr val="9B2C2C"/>
                          </a:solidFill>
                          <a:latin typeface="Consolas" pitchFamily="34" charset="0"/>
                          <a:ea typeface="Consolas" pitchFamily="34" charset="-122"/>
                          <a:cs typeface="Consolas" pitchFamily="34" charset="-120"/>
                        </a:rPr>
                        <a:t>1</a:t>
                      </a:r>
                      <a:endParaRPr lang="en-US" sz="1100" dirty="0">
                        <a:latin typeface="Consolas" charset="0"/>
                        <a:ea typeface="Consolas" charset="0"/>
                        <a:cs typeface="Consolas" charset="0"/>
                      </a:endParaRPr>
                    </a:p>
                  </a:txBody>
                  <a:tcPr marL="91440" marR="91440" marT="45720" marB="45720" anchor="t">
                    <a:lnL w="6350" cap="flat" cmpd="sng" algn="ctr">
                      <a:solidFill>
                        <a:srgbClr val="EAE6DC"/>
                      </a:solidFill>
                      <a:prstDash val="solid"/>
                      <a:round/>
                      <a:headEnd type="none" w="med" len="med"/>
                      <a:tailEnd type="none" w="med" len="med"/>
                    </a:lnL>
                    <a:lnR w="6350" cap="flat" cmpd="sng" algn="ctr">
                      <a:solidFill>
                        <a:srgbClr val="EAE6DC"/>
                      </a:solidFill>
                      <a:prstDash val="solid"/>
                      <a:round/>
                      <a:headEnd type="none" w="med" len="med"/>
                      <a:tailEnd type="none" w="med" len="med"/>
                    </a:lnR>
                    <a:lnT w="6350" cap="flat" cmpd="sng" algn="ctr">
                      <a:solidFill>
                        <a:srgbClr val="EAE6DC"/>
                      </a:solidFill>
                      <a:prstDash val="solid"/>
                      <a:round/>
                      <a:headEnd type="none" w="med" len="med"/>
                      <a:tailEnd type="none" w="med" len="med"/>
                    </a:lnT>
                    <a:lnB w="6350" cap="flat" cmpd="sng" algn="ctr">
                      <a:solidFill>
                        <a:srgbClr val="EAE6DC"/>
                      </a:solidFill>
                      <a:prstDash val="solid"/>
                      <a:round/>
                      <a:headEnd type="none" w="med" len="med"/>
                      <a:tailEnd type="none" w="med" len="med"/>
                    </a:lnB>
                  </a:tcPr>
                </a:tc>
                <a:tc>
                  <a:txBody>
                    <a:bodyPr/>
                    <a:lstStyle/>
                    <a:p>
                      <a:pPr indent="0" marL="0">
                        <a:buNone/>
                      </a:pPr>
                      <a:r>
                        <a:rPr lang="en-US" sz="1100" b="1" dirty="0">
                          <a:solidFill>
                            <a:srgbClr val="1A1F2B"/>
                          </a:solidFill>
                          <a:latin typeface="Calibri" pitchFamily="34" charset="0"/>
                          <a:ea typeface="Calibri" pitchFamily="34" charset="-122"/>
                          <a:cs typeface="Calibri" pitchFamily="34" charset="-120"/>
                        </a:rPr>
                        <a:t>Legal, scheme, network and regulatory constraints</a:t>
                      </a:r>
                      <a:endParaRPr lang="en-US" sz="1100" dirty="0">
                        <a:latin typeface="Calibri" charset="0"/>
                        <a:ea typeface="Calibri" charset="0"/>
                        <a:cs typeface="Calibri" charset="0"/>
                      </a:endParaRPr>
                    </a:p>
                  </a:txBody>
                  <a:tcPr marL="91440" marR="91440" marT="45720" marB="45720" anchor="t">
                    <a:lnL w="6350" cap="flat" cmpd="sng" algn="ctr">
                      <a:solidFill>
                        <a:srgbClr val="EAE6DC"/>
                      </a:solidFill>
                      <a:prstDash val="solid"/>
                      <a:round/>
                      <a:headEnd type="none" w="med" len="med"/>
                      <a:tailEnd type="none" w="med" len="med"/>
                    </a:lnL>
                    <a:lnR w="6350" cap="flat" cmpd="sng" algn="ctr">
                      <a:solidFill>
                        <a:srgbClr val="EAE6DC"/>
                      </a:solidFill>
                      <a:prstDash val="solid"/>
                      <a:round/>
                      <a:headEnd type="none" w="med" len="med"/>
                      <a:tailEnd type="none" w="med" len="med"/>
                    </a:lnR>
                    <a:lnT w="6350" cap="flat" cmpd="sng" algn="ctr">
                      <a:solidFill>
                        <a:srgbClr val="EAE6DC"/>
                      </a:solidFill>
                      <a:prstDash val="solid"/>
                      <a:round/>
                      <a:headEnd type="none" w="med" len="med"/>
                      <a:tailEnd type="none" w="med" len="med"/>
                    </a:lnT>
                    <a:lnB w="6350" cap="flat" cmpd="sng" algn="ctr">
                      <a:solidFill>
                        <a:srgbClr val="EAE6DC"/>
                      </a:solidFill>
                      <a:prstDash val="solid"/>
                      <a:round/>
                      <a:headEnd type="none" w="med" len="med"/>
                      <a:tailEnd type="none" w="med" len="med"/>
                    </a:lnB>
                  </a:tcPr>
                </a:tc>
                <a:tc>
                  <a:txBody>
                    <a:bodyPr/>
                    <a:lstStyle/>
                    <a:p>
                      <a:pPr indent="0" marL="0">
                        <a:buNone/>
                      </a:pPr>
                      <a:r>
                        <a:rPr lang="en-US" sz="1100" dirty="0">
                          <a:solidFill>
                            <a:srgbClr val="1A1F2B"/>
                          </a:solidFill>
                          <a:latin typeface="Calibri" pitchFamily="34" charset="0"/>
                          <a:ea typeface="Calibri" pitchFamily="34" charset="-122"/>
                          <a:cs typeface="Calibri" pitchFamily="34" charset="-120"/>
                        </a:rPr>
                        <a:t>Never overridable. SCA mandates, retry limits, stop advice, stored-credential rules, debit routing regulation.</a:t>
                      </a:r>
                      <a:endParaRPr lang="en-US" sz="1100" dirty="0">
                        <a:latin typeface="Calibri" charset="0"/>
                        <a:ea typeface="Calibri" charset="0"/>
                        <a:cs typeface="Calibri" charset="0"/>
                      </a:endParaRPr>
                    </a:p>
                  </a:txBody>
                  <a:tcPr marL="91440" marR="91440" marT="45720" marB="45720" anchor="t">
                    <a:lnL w="6350" cap="flat" cmpd="sng" algn="ctr">
                      <a:solidFill>
                        <a:srgbClr val="EAE6DC"/>
                      </a:solidFill>
                      <a:prstDash val="solid"/>
                      <a:round/>
                      <a:headEnd type="none" w="med" len="med"/>
                      <a:tailEnd type="none" w="med" len="med"/>
                    </a:lnL>
                    <a:lnR w="6350" cap="flat" cmpd="sng" algn="ctr">
                      <a:solidFill>
                        <a:srgbClr val="EAE6DC"/>
                      </a:solidFill>
                      <a:prstDash val="solid"/>
                      <a:round/>
                      <a:headEnd type="none" w="med" len="med"/>
                      <a:tailEnd type="none" w="med" len="med"/>
                    </a:lnR>
                    <a:lnT w="6350" cap="flat" cmpd="sng" algn="ctr">
                      <a:solidFill>
                        <a:srgbClr val="EAE6DC"/>
                      </a:solidFill>
                      <a:prstDash val="solid"/>
                      <a:round/>
                      <a:headEnd type="none" w="med" len="med"/>
                      <a:tailEnd type="none" w="med" len="med"/>
                    </a:lnT>
                    <a:lnB w="6350" cap="flat" cmpd="sng" algn="ctr">
                      <a:solidFill>
                        <a:srgbClr val="EAE6DC"/>
                      </a:solidFill>
                      <a:prstDash val="solid"/>
                      <a:round/>
                      <a:headEnd type="none" w="med" len="med"/>
                      <a:tailEnd type="none" w="med" len="med"/>
                    </a:lnB>
                  </a:tcPr>
                </a:tc>
              </a:tr>
              <a:tr h="384048">
                <a:tc>
                  <a:txBody>
                    <a:bodyPr/>
                    <a:lstStyle/>
                    <a:p>
                      <a:pPr algn="ctr" indent="0" marL="0">
                        <a:buNone/>
                      </a:pPr>
                      <a:r>
                        <a:rPr lang="en-US" sz="1100" b="1" dirty="0">
                          <a:solidFill>
                            <a:srgbClr val="9B2C2C"/>
                          </a:solidFill>
                          <a:latin typeface="Consolas" pitchFamily="34" charset="0"/>
                          <a:ea typeface="Consolas" pitchFamily="34" charset="-122"/>
                          <a:cs typeface="Consolas" pitchFamily="34" charset="-120"/>
                        </a:rPr>
                        <a:t>2</a:t>
                      </a:r>
                      <a:endParaRPr lang="en-US" sz="1100" dirty="0">
                        <a:latin typeface="Consolas" charset="0"/>
                        <a:ea typeface="Consolas" charset="0"/>
                        <a:cs typeface="Consolas" charset="0"/>
                      </a:endParaRPr>
                    </a:p>
                  </a:txBody>
                  <a:tcPr marL="91440" marR="91440" marT="45720" marB="45720" anchor="t">
                    <a:lnL w="6350" cap="flat" cmpd="sng" algn="ctr">
                      <a:solidFill>
                        <a:srgbClr val="EAE6DC"/>
                      </a:solidFill>
                      <a:prstDash val="solid"/>
                      <a:round/>
                      <a:headEnd type="none" w="med" len="med"/>
                      <a:tailEnd type="none" w="med" len="med"/>
                    </a:lnL>
                    <a:lnR w="6350" cap="flat" cmpd="sng" algn="ctr">
                      <a:solidFill>
                        <a:srgbClr val="EAE6DC"/>
                      </a:solidFill>
                      <a:prstDash val="solid"/>
                      <a:round/>
                      <a:headEnd type="none" w="med" len="med"/>
                      <a:tailEnd type="none" w="med" len="med"/>
                    </a:lnR>
                    <a:lnT w="6350" cap="flat" cmpd="sng" algn="ctr">
                      <a:solidFill>
                        <a:srgbClr val="EAE6DC"/>
                      </a:solidFill>
                      <a:prstDash val="solid"/>
                      <a:round/>
                      <a:headEnd type="none" w="med" len="med"/>
                      <a:tailEnd type="none" w="med" len="med"/>
                    </a:lnT>
                    <a:lnB w="6350" cap="flat" cmpd="sng" algn="ctr">
                      <a:solidFill>
                        <a:srgbClr val="EAE6DC"/>
                      </a:solidFill>
                      <a:prstDash val="solid"/>
                      <a:round/>
                      <a:headEnd type="none" w="med" len="med"/>
                      <a:tailEnd type="none" w="med" len="med"/>
                    </a:lnB>
                  </a:tcPr>
                </a:tc>
                <a:tc>
                  <a:txBody>
                    <a:bodyPr/>
                    <a:lstStyle/>
                    <a:p>
                      <a:pPr indent="0" marL="0">
                        <a:buNone/>
                      </a:pPr>
                      <a:r>
                        <a:rPr lang="en-US" sz="1100" b="1" dirty="0">
                          <a:solidFill>
                            <a:srgbClr val="1A1F2B"/>
                          </a:solidFill>
                          <a:latin typeface="Calibri" pitchFamily="34" charset="0"/>
                          <a:ea typeface="Calibri" pitchFamily="34" charset="-122"/>
                          <a:cs typeface="Calibri" pitchFamily="34" charset="-120"/>
                        </a:rPr>
                        <a:t>Rail and payment-method capability</a:t>
                      </a:r>
                      <a:endParaRPr lang="en-US" sz="1100" dirty="0">
                        <a:latin typeface="Calibri" charset="0"/>
                        <a:ea typeface="Calibri" charset="0"/>
                        <a:cs typeface="Calibri" charset="0"/>
                      </a:endParaRPr>
                    </a:p>
                  </a:txBody>
                  <a:tcPr marL="91440" marR="91440" marT="45720" marB="45720" anchor="t">
                    <a:lnL w="6350" cap="flat" cmpd="sng" algn="ctr">
                      <a:solidFill>
                        <a:srgbClr val="EAE6DC"/>
                      </a:solidFill>
                      <a:prstDash val="solid"/>
                      <a:round/>
                      <a:headEnd type="none" w="med" len="med"/>
                      <a:tailEnd type="none" w="med" len="med"/>
                    </a:lnL>
                    <a:lnR w="6350" cap="flat" cmpd="sng" algn="ctr">
                      <a:solidFill>
                        <a:srgbClr val="EAE6DC"/>
                      </a:solidFill>
                      <a:prstDash val="solid"/>
                      <a:round/>
                      <a:headEnd type="none" w="med" len="med"/>
                      <a:tailEnd type="none" w="med" len="med"/>
                    </a:lnR>
                    <a:lnT w="6350" cap="flat" cmpd="sng" algn="ctr">
                      <a:solidFill>
                        <a:srgbClr val="EAE6DC"/>
                      </a:solidFill>
                      <a:prstDash val="solid"/>
                      <a:round/>
                      <a:headEnd type="none" w="med" len="med"/>
                      <a:tailEnd type="none" w="med" len="med"/>
                    </a:lnT>
                    <a:lnB w="6350" cap="flat" cmpd="sng" algn="ctr">
                      <a:solidFill>
                        <a:srgbClr val="EAE6DC"/>
                      </a:solidFill>
                      <a:prstDash val="solid"/>
                      <a:round/>
                      <a:headEnd type="none" w="med" len="med"/>
                      <a:tailEnd type="none" w="med" len="med"/>
                    </a:lnB>
                  </a:tcPr>
                </a:tc>
                <a:tc>
                  <a:txBody>
                    <a:bodyPr/>
                    <a:lstStyle/>
                    <a:p>
                      <a:pPr indent="0" marL="0">
                        <a:buNone/>
                      </a:pPr>
                      <a:r>
                        <a:rPr lang="en-US" sz="1100" dirty="0">
                          <a:solidFill>
                            <a:srgbClr val="1A1F2B"/>
                          </a:solidFill>
                          <a:latin typeface="Calibri" pitchFamily="34" charset="0"/>
                          <a:ea typeface="Calibri" pitchFamily="34" charset="-122"/>
                          <a:cs typeface="Calibri" pitchFamily="34" charset="-120"/>
                        </a:rPr>
                        <a:t>Not a preference. Multi-capture, incremental authorization and partial approval are not supported on every rail.</a:t>
                      </a:r>
                      <a:endParaRPr lang="en-US" sz="1100" dirty="0">
                        <a:latin typeface="Calibri" charset="0"/>
                        <a:ea typeface="Calibri" charset="0"/>
                        <a:cs typeface="Calibri" charset="0"/>
                      </a:endParaRPr>
                    </a:p>
                  </a:txBody>
                  <a:tcPr marL="91440" marR="91440" marT="45720" marB="45720" anchor="t">
                    <a:lnL w="6350" cap="flat" cmpd="sng" algn="ctr">
                      <a:solidFill>
                        <a:srgbClr val="EAE6DC"/>
                      </a:solidFill>
                      <a:prstDash val="solid"/>
                      <a:round/>
                      <a:headEnd type="none" w="med" len="med"/>
                      <a:tailEnd type="none" w="med" len="med"/>
                    </a:lnL>
                    <a:lnR w="6350" cap="flat" cmpd="sng" algn="ctr">
                      <a:solidFill>
                        <a:srgbClr val="EAE6DC"/>
                      </a:solidFill>
                      <a:prstDash val="solid"/>
                      <a:round/>
                      <a:headEnd type="none" w="med" len="med"/>
                      <a:tailEnd type="none" w="med" len="med"/>
                    </a:lnR>
                    <a:lnT w="6350" cap="flat" cmpd="sng" algn="ctr">
                      <a:solidFill>
                        <a:srgbClr val="EAE6DC"/>
                      </a:solidFill>
                      <a:prstDash val="solid"/>
                      <a:round/>
                      <a:headEnd type="none" w="med" len="med"/>
                      <a:tailEnd type="none" w="med" len="med"/>
                    </a:lnT>
                    <a:lnB w="6350" cap="flat" cmpd="sng" algn="ctr">
                      <a:solidFill>
                        <a:srgbClr val="EAE6DC"/>
                      </a:solidFill>
                      <a:prstDash val="solid"/>
                      <a:round/>
                      <a:headEnd type="none" w="med" len="med"/>
                      <a:tailEnd type="none" w="med" len="med"/>
                    </a:lnB>
                  </a:tcPr>
                </a:tc>
              </a:tr>
              <a:tr h="384048">
                <a:tc>
                  <a:txBody>
                    <a:bodyPr/>
                    <a:lstStyle/>
                    <a:p>
                      <a:pPr algn="ctr" indent="0" marL="0">
                        <a:buNone/>
                      </a:pPr>
                      <a:r>
                        <a:rPr lang="en-US" sz="1100" b="1" dirty="0">
                          <a:solidFill>
                            <a:srgbClr val="9B2C2C"/>
                          </a:solidFill>
                          <a:latin typeface="Consolas" pitchFamily="34" charset="0"/>
                          <a:ea typeface="Consolas" pitchFamily="34" charset="-122"/>
                          <a:cs typeface="Consolas" pitchFamily="34" charset="-120"/>
                        </a:rPr>
                        <a:t>3</a:t>
                      </a:r>
                      <a:endParaRPr lang="en-US" sz="1100" dirty="0">
                        <a:latin typeface="Consolas" charset="0"/>
                        <a:ea typeface="Consolas" charset="0"/>
                        <a:cs typeface="Consolas" charset="0"/>
                      </a:endParaRPr>
                    </a:p>
                  </a:txBody>
                  <a:tcPr marL="91440" marR="91440" marT="45720" marB="45720" anchor="t">
                    <a:lnL w="6350" cap="flat" cmpd="sng" algn="ctr">
                      <a:solidFill>
                        <a:srgbClr val="EAE6DC"/>
                      </a:solidFill>
                      <a:prstDash val="solid"/>
                      <a:round/>
                      <a:headEnd type="none" w="med" len="med"/>
                      <a:tailEnd type="none" w="med" len="med"/>
                    </a:lnL>
                    <a:lnR w="6350" cap="flat" cmpd="sng" algn="ctr">
                      <a:solidFill>
                        <a:srgbClr val="EAE6DC"/>
                      </a:solidFill>
                      <a:prstDash val="solid"/>
                      <a:round/>
                      <a:headEnd type="none" w="med" len="med"/>
                      <a:tailEnd type="none" w="med" len="med"/>
                    </a:lnR>
                    <a:lnT w="6350" cap="flat" cmpd="sng" algn="ctr">
                      <a:solidFill>
                        <a:srgbClr val="EAE6DC"/>
                      </a:solidFill>
                      <a:prstDash val="solid"/>
                      <a:round/>
                      <a:headEnd type="none" w="med" len="med"/>
                      <a:tailEnd type="none" w="med" len="med"/>
                    </a:lnT>
                    <a:lnB w="6350" cap="flat" cmpd="sng" algn="ctr">
                      <a:solidFill>
                        <a:srgbClr val="EAE6DC"/>
                      </a:solidFill>
                      <a:prstDash val="solid"/>
                      <a:round/>
                      <a:headEnd type="none" w="med" len="med"/>
                      <a:tailEnd type="none" w="med" len="med"/>
                    </a:lnB>
                  </a:tcPr>
                </a:tc>
                <a:tc>
                  <a:txBody>
                    <a:bodyPr/>
                    <a:lstStyle/>
                    <a:p>
                      <a:pPr indent="0" marL="0">
                        <a:buNone/>
                      </a:pPr>
                      <a:r>
                        <a:rPr lang="en-US" sz="1100" b="1" dirty="0">
                          <a:solidFill>
                            <a:srgbClr val="1A1F2B"/>
                          </a:solidFill>
                          <a:latin typeface="Calibri" pitchFamily="34" charset="0"/>
                          <a:ea typeface="Calibri" pitchFamily="34" charset="-122"/>
                          <a:cs typeface="Calibri" pitchFamily="34" charset="-120"/>
                        </a:rPr>
                        <a:t>Platform safety, risk and duplicate prevention</a:t>
                      </a:r>
                      <a:endParaRPr lang="en-US" sz="1100" dirty="0">
                        <a:latin typeface="Calibri" charset="0"/>
                        <a:ea typeface="Calibri" charset="0"/>
                        <a:cs typeface="Calibri" charset="0"/>
                      </a:endParaRPr>
                    </a:p>
                  </a:txBody>
                  <a:tcPr marL="91440" marR="91440" marT="45720" marB="45720" anchor="t">
                    <a:lnL w="6350" cap="flat" cmpd="sng" algn="ctr">
                      <a:solidFill>
                        <a:srgbClr val="EAE6DC"/>
                      </a:solidFill>
                      <a:prstDash val="solid"/>
                      <a:round/>
                      <a:headEnd type="none" w="med" len="med"/>
                      <a:tailEnd type="none" w="med" len="med"/>
                    </a:lnL>
                    <a:lnR w="6350" cap="flat" cmpd="sng" algn="ctr">
                      <a:solidFill>
                        <a:srgbClr val="EAE6DC"/>
                      </a:solidFill>
                      <a:prstDash val="solid"/>
                      <a:round/>
                      <a:headEnd type="none" w="med" len="med"/>
                      <a:tailEnd type="none" w="med" len="med"/>
                    </a:lnR>
                    <a:lnT w="6350" cap="flat" cmpd="sng" algn="ctr">
                      <a:solidFill>
                        <a:srgbClr val="EAE6DC"/>
                      </a:solidFill>
                      <a:prstDash val="solid"/>
                      <a:round/>
                      <a:headEnd type="none" w="med" len="med"/>
                      <a:tailEnd type="none" w="med" len="med"/>
                    </a:lnT>
                    <a:lnB w="6350" cap="flat" cmpd="sng" algn="ctr">
                      <a:solidFill>
                        <a:srgbClr val="EAE6DC"/>
                      </a:solidFill>
                      <a:prstDash val="solid"/>
                      <a:round/>
                      <a:headEnd type="none" w="med" len="med"/>
                      <a:tailEnd type="none" w="med" len="med"/>
                    </a:lnB>
                  </a:tcPr>
                </a:tc>
                <a:tc>
                  <a:txBody>
                    <a:bodyPr/>
                    <a:lstStyle/>
                    <a:p>
                      <a:pPr indent="0" marL="0">
                        <a:buNone/>
                      </a:pPr>
                      <a:r>
                        <a:rPr lang="en-US" sz="1100" dirty="0">
                          <a:solidFill>
                            <a:srgbClr val="1A1F2B"/>
                          </a:solidFill>
                          <a:latin typeface="Calibri" pitchFamily="34" charset="0"/>
                          <a:ea typeface="Calibri" pitchFamily="34" charset="-122"/>
                          <a:cs typeface="Calibri" pitchFamily="34" charset="-120"/>
                        </a:rPr>
                        <a:t>Ours. Outcome resolution before resubmission; attempt budgets; velocity awareness.</a:t>
                      </a:r>
                      <a:endParaRPr lang="en-US" sz="1100" dirty="0">
                        <a:latin typeface="Calibri" charset="0"/>
                        <a:ea typeface="Calibri" charset="0"/>
                        <a:cs typeface="Calibri" charset="0"/>
                      </a:endParaRPr>
                    </a:p>
                  </a:txBody>
                  <a:tcPr marL="91440" marR="91440" marT="45720" marB="45720" anchor="t">
                    <a:lnL w="6350" cap="flat" cmpd="sng" algn="ctr">
                      <a:solidFill>
                        <a:srgbClr val="EAE6DC"/>
                      </a:solidFill>
                      <a:prstDash val="solid"/>
                      <a:round/>
                      <a:headEnd type="none" w="med" len="med"/>
                      <a:tailEnd type="none" w="med" len="med"/>
                    </a:lnL>
                    <a:lnR w="6350" cap="flat" cmpd="sng" algn="ctr">
                      <a:solidFill>
                        <a:srgbClr val="EAE6DC"/>
                      </a:solidFill>
                      <a:prstDash val="solid"/>
                      <a:round/>
                      <a:headEnd type="none" w="med" len="med"/>
                      <a:tailEnd type="none" w="med" len="med"/>
                    </a:lnR>
                    <a:lnT w="6350" cap="flat" cmpd="sng" algn="ctr">
                      <a:solidFill>
                        <a:srgbClr val="EAE6DC"/>
                      </a:solidFill>
                      <a:prstDash val="solid"/>
                      <a:round/>
                      <a:headEnd type="none" w="med" len="med"/>
                      <a:tailEnd type="none" w="med" len="med"/>
                    </a:lnT>
                    <a:lnB w="6350" cap="flat" cmpd="sng" algn="ctr">
                      <a:solidFill>
                        <a:srgbClr val="EAE6DC"/>
                      </a:solidFill>
                      <a:prstDash val="solid"/>
                      <a:round/>
                      <a:headEnd type="none" w="med" len="med"/>
                      <a:tailEnd type="none" w="med" len="med"/>
                    </a:lnB>
                  </a:tcPr>
                </a:tc>
              </a:tr>
              <a:tr h="384048">
                <a:tc>
                  <a:txBody>
                    <a:bodyPr/>
                    <a:lstStyle/>
                    <a:p>
                      <a:pPr algn="ctr" indent="0" marL="0">
                        <a:buNone/>
                      </a:pPr>
                      <a:r>
                        <a:rPr lang="en-US" sz="1100" b="1" dirty="0">
                          <a:solidFill>
                            <a:srgbClr val="B8892F"/>
                          </a:solidFill>
                          <a:latin typeface="Consolas" pitchFamily="34" charset="0"/>
                          <a:ea typeface="Consolas" pitchFamily="34" charset="-122"/>
                          <a:cs typeface="Consolas" pitchFamily="34" charset="-120"/>
                        </a:rPr>
                        <a:t>4</a:t>
                      </a:r>
                      <a:endParaRPr lang="en-US" sz="1100" dirty="0">
                        <a:latin typeface="Consolas" charset="0"/>
                        <a:ea typeface="Consolas" charset="0"/>
                        <a:cs typeface="Consolas" charset="0"/>
                      </a:endParaRPr>
                    </a:p>
                  </a:txBody>
                  <a:tcPr marL="91440" marR="91440" marT="45720" marB="45720" anchor="t">
                    <a:lnL w="6350" cap="flat" cmpd="sng" algn="ctr">
                      <a:solidFill>
                        <a:srgbClr val="EAE6DC"/>
                      </a:solidFill>
                      <a:prstDash val="solid"/>
                      <a:round/>
                      <a:headEnd type="none" w="med" len="med"/>
                      <a:tailEnd type="none" w="med" len="med"/>
                    </a:lnL>
                    <a:lnR w="6350" cap="flat" cmpd="sng" algn="ctr">
                      <a:solidFill>
                        <a:srgbClr val="EAE6DC"/>
                      </a:solidFill>
                      <a:prstDash val="solid"/>
                      <a:round/>
                      <a:headEnd type="none" w="med" len="med"/>
                      <a:tailEnd type="none" w="med" len="med"/>
                    </a:lnR>
                    <a:lnT w="6350" cap="flat" cmpd="sng" algn="ctr">
                      <a:solidFill>
                        <a:srgbClr val="EAE6DC"/>
                      </a:solidFill>
                      <a:prstDash val="solid"/>
                      <a:round/>
                      <a:headEnd type="none" w="med" len="med"/>
                      <a:tailEnd type="none" w="med" len="med"/>
                    </a:lnT>
                    <a:lnB w="6350" cap="flat" cmpd="sng" algn="ctr">
                      <a:solidFill>
                        <a:srgbClr val="EAE6DC"/>
                      </a:solidFill>
                      <a:prstDash val="solid"/>
                      <a:round/>
                      <a:headEnd type="none" w="med" len="med"/>
                      <a:tailEnd type="none" w="med" len="med"/>
                    </a:lnB>
                  </a:tcPr>
                </a:tc>
                <a:tc>
                  <a:txBody>
                    <a:bodyPr/>
                    <a:lstStyle/>
                    <a:p>
                      <a:pPr indent="0" marL="0">
                        <a:buNone/>
                      </a:pPr>
                      <a:r>
                        <a:rPr lang="en-US" sz="1100" b="1" dirty="0">
                          <a:solidFill>
                            <a:srgbClr val="1A1F2B"/>
                          </a:solidFill>
                          <a:latin typeface="Calibri" pitchFamily="34" charset="0"/>
                          <a:ea typeface="Calibri" pitchFamily="34" charset="-122"/>
                          <a:cs typeface="Calibri" pitchFamily="34" charset="-120"/>
                        </a:rPr>
                        <a:t>Merchant-configured preference</a:t>
                      </a:r>
                      <a:endParaRPr lang="en-US" sz="1100" dirty="0">
                        <a:latin typeface="Calibri" charset="0"/>
                        <a:ea typeface="Calibri" charset="0"/>
                        <a:cs typeface="Calibri" charset="0"/>
                      </a:endParaRPr>
                    </a:p>
                  </a:txBody>
                  <a:tcPr marL="91440" marR="91440" marT="45720" marB="45720" anchor="t">
                    <a:lnL w="6350" cap="flat" cmpd="sng" algn="ctr">
                      <a:solidFill>
                        <a:srgbClr val="EAE6DC"/>
                      </a:solidFill>
                      <a:prstDash val="solid"/>
                      <a:round/>
                      <a:headEnd type="none" w="med" len="med"/>
                      <a:tailEnd type="none" w="med" len="med"/>
                    </a:lnL>
                    <a:lnR w="6350" cap="flat" cmpd="sng" algn="ctr">
                      <a:solidFill>
                        <a:srgbClr val="EAE6DC"/>
                      </a:solidFill>
                      <a:prstDash val="solid"/>
                      <a:round/>
                      <a:headEnd type="none" w="med" len="med"/>
                      <a:tailEnd type="none" w="med" len="med"/>
                    </a:lnR>
                    <a:lnT w="6350" cap="flat" cmpd="sng" algn="ctr">
                      <a:solidFill>
                        <a:srgbClr val="EAE6DC"/>
                      </a:solidFill>
                      <a:prstDash val="solid"/>
                      <a:round/>
                      <a:headEnd type="none" w="med" len="med"/>
                      <a:tailEnd type="none" w="med" len="med"/>
                    </a:lnT>
                    <a:lnB w="6350" cap="flat" cmpd="sng" algn="ctr">
                      <a:solidFill>
                        <a:srgbClr val="EAE6DC"/>
                      </a:solidFill>
                      <a:prstDash val="solid"/>
                      <a:round/>
                      <a:headEnd type="none" w="med" len="med"/>
                      <a:tailEnd type="none" w="med" len="med"/>
                    </a:lnB>
                  </a:tcPr>
                </a:tc>
                <a:tc>
                  <a:txBody>
                    <a:bodyPr/>
                    <a:lstStyle/>
                    <a:p>
                      <a:pPr indent="0" marL="0">
                        <a:buNone/>
                      </a:pPr>
                      <a:r>
                        <a:rPr lang="en-US" sz="1100" dirty="0">
                          <a:solidFill>
                            <a:srgbClr val="1A1F2B"/>
                          </a:solidFill>
                          <a:latin typeface="Calibri" pitchFamily="34" charset="0"/>
                          <a:ea typeface="Calibri" pitchFamily="34" charset="-122"/>
                          <a:cs typeface="Calibri" pitchFamily="34" charset="-120"/>
                        </a:rPr>
                        <a:t>Versioned configuration, not per-request instruction. Retry strategy, response-code behaviour, rail preferences, capture policy.</a:t>
                      </a:r>
                      <a:endParaRPr lang="en-US" sz="1100" dirty="0">
                        <a:latin typeface="Calibri" charset="0"/>
                        <a:ea typeface="Calibri" charset="0"/>
                        <a:cs typeface="Calibri" charset="0"/>
                      </a:endParaRPr>
                    </a:p>
                  </a:txBody>
                  <a:tcPr marL="91440" marR="91440" marT="45720" marB="45720" anchor="t">
                    <a:lnL w="6350" cap="flat" cmpd="sng" algn="ctr">
                      <a:solidFill>
                        <a:srgbClr val="EAE6DC"/>
                      </a:solidFill>
                      <a:prstDash val="solid"/>
                      <a:round/>
                      <a:headEnd type="none" w="med" len="med"/>
                      <a:tailEnd type="none" w="med" len="med"/>
                    </a:lnL>
                    <a:lnR w="6350" cap="flat" cmpd="sng" algn="ctr">
                      <a:solidFill>
                        <a:srgbClr val="EAE6DC"/>
                      </a:solidFill>
                      <a:prstDash val="solid"/>
                      <a:round/>
                      <a:headEnd type="none" w="med" len="med"/>
                      <a:tailEnd type="none" w="med" len="med"/>
                    </a:lnR>
                    <a:lnT w="6350" cap="flat" cmpd="sng" algn="ctr">
                      <a:solidFill>
                        <a:srgbClr val="EAE6DC"/>
                      </a:solidFill>
                      <a:prstDash val="solid"/>
                      <a:round/>
                      <a:headEnd type="none" w="med" len="med"/>
                      <a:tailEnd type="none" w="med" len="med"/>
                    </a:lnT>
                    <a:lnB w="6350" cap="flat" cmpd="sng" algn="ctr">
                      <a:solidFill>
                        <a:srgbClr val="EAE6DC"/>
                      </a:solidFill>
                      <a:prstDash val="solid"/>
                      <a:round/>
                      <a:headEnd type="none" w="med" len="med"/>
                      <a:tailEnd type="none" w="med" len="med"/>
                    </a:lnB>
                  </a:tcPr>
                </a:tc>
              </a:tr>
              <a:tr h="384048">
                <a:tc>
                  <a:txBody>
                    <a:bodyPr/>
                    <a:lstStyle/>
                    <a:p>
                      <a:pPr algn="ctr" indent="0" marL="0">
                        <a:buNone/>
                      </a:pPr>
                      <a:r>
                        <a:rPr lang="en-US" sz="1100" b="1" dirty="0">
                          <a:solidFill>
                            <a:srgbClr val="26706A"/>
                          </a:solidFill>
                          <a:latin typeface="Consolas" pitchFamily="34" charset="0"/>
                          <a:ea typeface="Consolas" pitchFamily="34" charset="-122"/>
                          <a:cs typeface="Consolas" pitchFamily="34" charset="-120"/>
                        </a:rPr>
                        <a:t>5</a:t>
                      </a:r>
                      <a:endParaRPr lang="en-US" sz="1100" dirty="0">
                        <a:latin typeface="Consolas" charset="0"/>
                        <a:ea typeface="Consolas" charset="0"/>
                        <a:cs typeface="Consolas" charset="0"/>
                      </a:endParaRPr>
                    </a:p>
                  </a:txBody>
                  <a:tcPr marL="91440" marR="91440" marT="45720" marB="45720" anchor="t">
                    <a:lnL w="6350" cap="flat" cmpd="sng" algn="ctr">
                      <a:solidFill>
                        <a:srgbClr val="EAE6DC"/>
                      </a:solidFill>
                      <a:prstDash val="solid"/>
                      <a:round/>
                      <a:headEnd type="none" w="med" len="med"/>
                      <a:tailEnd type="none" w="med" len="med"/>
                    </a:lnL>
                    <a:lnR w="6350" cap="flat" cmpd="sng" algn="ctr">
                      <a:solidFill>
                        <a:srgbClr val="EAE6DC"/>
                      </a:solidFill>
                      <a:prstDash val="solid"/>
                      <a:round/>
                      <a:headEnd type="none" w="med" len="med"/>
                      <a:tailEnd type="none" w="med" len="med"/>
                    </a:lnR>
                    <a:lnT w="6350" cap="flat" cmpd="sng" algn="ctr">
                      <a:solidFill>
                        <a:srgbClr val="EAE6DC"/>
                      </a:solidFill>
                      <a:prstDash val="solid"/>
                      <a:round/>
                      <a:headEnd type="none" w="med" len="med"/>
                      <a:tailEnd type="none" w="med" len="med"/>
                    </a:lnT>
                    <a:lnB w="6350" cap="flat" cmpd="sng" algn="ctr">
                      <a:solidFill>
                        <a:srgbClr val="EAE6DC"/>
                      </a:solidFill>
                      <a:prstDash val="solid"/>
                      <a:round/>
                      <a:headEnd type="none" w="med" len="med"/>
                      <a:tailEnd type="none" w="med" len="med"/>
                    </a:lnB>
                  </a:tcPr>
                </a:tc>
                <a:tc>
                  <a:txBody>
                    <a:bodyPr/>
                    <a:lstStyle/>
                    <a:p>
                      <a:pPr indent="0" marL="0">
                        <a:buNone/>
                      </a:pPr>
                      <a:r>
                        <a:rPr lang="en-US" sz="1100" b="1" dirty="0">
                          <a:solidFill>
                            <a:srgbClr val="1A1F2B"/>
                          </a:solidFill>
                          <a:latin typeface="Calibri" pitchFamily="34" charset="0"/>
                          <a:ea typeface="Calibri" pitchFamily="34" charset="-122"/>
                          <a:cs typeface="Calibri" pitchFamily="34" charset="-120"/>
                        </a:rPr>
                        <a:t>Default platform fallback</a:t>
                      </a:r>
                      <a:endParaRPr lang="en-US" sz="1100" dirty="0">
                        <a:latin typeface="Calibri" charset="0"/>
                        <a:ea typeface="Calibri" charset="0"/>
                        <a:cs typeface="Calibri" charset="0"/>
                      </a:endParaRPr>
                    </a:p>
                  </a:txBody>
                  <a:tcPr marL="91440" marR="91440" marT="45720" marB="45720" anchor="t">
                    <a:lnL w="6350" cap="flat" cmpd="sng" algn="ctr">
                      <a:solidFill>
                        <a:srgbClr val="EAE6DC"/>
                      </a:solidFill>
                      <a:prstDash val="solid"/>
                      <a:round/>
                      <a:headEnd type="none" w="med" len="med"/>
                      <a:tailEnd type="none" w="med" len="med"/>
                    </a:lnL>
                    <a:lnR w="6350" cap="flat" cmpd="sng" algn="ctr">
                      <a:solidFill>
                        <a:srgbClr val="EAE6DC"/>
                      </a:solidFill>
                      <a:prstDash val="solid"/>
                      <a:round/>
                      <a:headEnd type="none" w="med" len="med"/>
                      <a:tailEnd type="none" w="med" len="med"/>
                    </a:lnR>
                    <a:lnT w="6350" cap="flat" cmpd="sng" algn="ctr">
                      <a:solidFill>
                        <a:srgbClr val="EAE6DC"/>
                      </a:solidFill>
                      <a:prstDash val="solid"/>
                      <a:round/>
                      <a:headEnd type="none" w="med" len="med"/>
                      <a:tailEnd type="none" w="med" len="med"/>
                    </a:lnT>
                    <a:lnB w="6350" cap="flat" cmpd="sng" algn="ctr">
                      <a:solidFill>
                        <a:srgbClr val="EAE6DC"/>
                      </a:solidFill>
                      <a:prstDash val="solid"/>
                      <a:round/>
                      <a:headEnd type="none" w="med" len="med"/>
                      <a:tailEnd type="none" w="med" len="med"/>
                    </a:lnB>
                  </a:tcPr>
                </a:tc>
                <a:tc>
                  <a:txBody>
                    <a:bodyPr/>
                    <a:lstStyle/>
                    <a:p>
                      <a:pPr indent="0" marL="0">
                        <a:buNone/>
                      </a:pPr>
                      <a:r>
                        <a:rPr lang="en-US" sz="1100" dirty="0">
                          <a:solidFill>
                            <a:srgbClr val="1A1F2B"/>
                          </a:solidFill>
                          <a:latin typeface="Calibri" pitchFamily="34" charset="0"/>
                          <a:ea typeface="Calibri" pitchFamily="34" charset="-122"/>
                          <a:cs typeface="Calibri" pitchFamily="34" charset="-120"/>
                        </a:rPr>
                        <a:t>Applies where the merchant has expressed nothing. Conservative by construction.</a:t>
                      </a:r>
                      <a:endParaRPr lang="en-US" sz="1100" dirty="0">
                        <a:latin typeface="Calibri" charset="0"/>
                        <a:ea typeface="Calibri" charset="0"/>
                        <a:cs typeface="Calibri" charset="0"/>
                      </a:endParaRPr>
                    </a:p>
                  </a:txBody>
                  <a:tcPr marL="91440" marR="91440" marT="45720" marB="45720" anchor="t">
                    <a:lnL w="6350" cap="flat" cmpd="sng" algn="ctr">
                      <a:solidFill>
                        <a:srgbClr val="EAE6DC"/>
                      </a:solidFill>
                      <a:prstDash val="solid"/>
                      <a:round/>
                      <a:headEnd type="none" w="med" len="med"/>
                      <a:tailEnd type="none" w="med" len="med"/>
                    </a:lnL>
                    <a:lnR w="6350" cap="flat" cmpd="sng" algn="ctr">
                      <a:solidFill>
                        <a:srgbClr val="EAE6DC"/>
                      </a:solidFill>
                      <a:prstDash val="solid"/>
                      <a:round/>
                      <a:headEnd type="none" w="med" len="med"/>
                      <a:tailEnd type="none" w="med" len="med"/>
                    </a:lnR>
                    <a:lnT w="6350" cap="flat" cmpd="sng" algn="ctr">
                      <a:solidFill>
                        <a:srgbClr val="EAE6DC"/>
                      </a:solidFill>
                      <a:prstDash val="solid"/>
                      <a:round/>
                      <a:headEnd type="none" w="med" len="med"/>
                      <a:tailEnd type="none" w="med" len="med"/>
                    </a:lnT>
                    <a:lnB w="6350" cap="flat" cmpd="sng" algn="ctr">
                      <a:solidFill>
                        <a:srgbClr val="EAE6DC"/>
                      </a:solidFill>
                      <a:prstDash val="solid"/>
                      <a:round/>
                      <a:headEnd type="none" w="med" len="med"/>
                      <a:tailEnd type="none" w="med" len="med"/>
                    </a:lnB>
                  </a:tcPr>
                </a:tc>
              </a:tr>
            </a:tbl>
          </a:graphicData>
        </a:graphic>
      </p:graphicFrame>
      <p:sp>
        <p:nvSpPr>
          <p:cNvPr id="7" name="card-A requested action can be refused, and the refusal must be legible"/>
          <p:cNvSpPr/>
          <p:nvPr/>
        </p:nvSpPr>
        <p:spPr>
          <a:xfrm>
            <a:off x="475488" y="4590288"/>
            <a:ext cx="11240719" cy="1115568"/>
          </a:xfrm>
          <a:prstGeom prst="rect">
            <a:avLst/>
          </a:prstGeom>
          <a:solidFill>
            <a:srgbClr val="FBEEEE"/>
          </a:solidFill>
          <a:ln w="6350">
            <a:solidFill>
              <a:srgbClr val="DCD7CB"/>
            </a:solidFill>
            <a:prstDash val="solid"/>
          </a:ln>
        </p:spPr>
      </p:sp>
      <p:sp>
        <p:nvSpPr>
          <p:cNvPr id="8" name="Text 5"/>
          <p:cNvSpPr txBox="1"/>
          <p:nvPr/>
        </p:nvSpPr>
        <p:spPr>
          <a:xfrm>
            <a:off x="603504" y="4690872"/>
            <a:ext cx="10984687" cy="182880"/>
          </a:xfrm>
          <a:prstGeom prst="rect">
            <a:avLst/>
          </a:prstGeom>
          <a:noFill/>
          <a:ln/>
        </p:spPr>
        <p:txBody>
          <a:bodyPr wrap="square" lIns="0" tIns="0" rIns="0" bIns="0" rtlCol="0" anchor="ctr"/>
          <a:lstStyle/>
          <a:p>
            <a:pPr indent="0" marL="0">
              <a:buNone/>
            </a:pPr>
            <a:r>
              <a:rPr lang="en-US" sz="900" spc="140" kern="0" dirty="0">
                <a:solidFill>
                  <a:srgbClr val="9B2C2C"/>
                </a:solidFill>
                <a:latin typeface="Consolas" pitchFamily="34" charset="0"/>
                <a:ea typeface="Consolas" pitchFamily="34" charset="-122"/>
                <a:cs typeface="Consolas" pitchFamily="34" charset="-120"/>
              </a:rPr>
              <a:t>THE MERCHANT-FACING CONSEQUENCE</a:t>
            </a:r>
            <a:endParaRPr lang="en-US" sz="900" dirty="0"/>
          </a:p>
        </p:txBody>
      </p:sp>
      <p:sp>
        <p:nvSpPr>
          <p:cNvPr id="9" name="Text 6"/>
          <p:cNvSpPr txBox="1"/>
          <p:nvPr/>
        </p:nvSpPr>
        <p:spPr>
          <a:xfrm>
            <a:off x="603504" y="4882896"/>
            <a:ext cx="10984687" cy="256032"/>
          </a:xfrm>
          <a:prstGeom prst="rect">
            <a:avLst/>
          </a:prstGeom>
          <a:noFill/>
          <a:ln/>
        </p:spPr>
        <p:txBody>
          <a:bodyPr wrap="square" lIns="0" tIns="0" rIns="0" bIns="0" rtlCol="0" anchor="ctr"/>
          <a:lstStyle/>
          <a:p>
            <a:pPr indent="0" marL="0">
              <a:buNone/>
            </a:pPr>
            <a:r>
              <a:rPr lang="en-US" sz="1450" b="1" dirty="0">
                <a:solidFill>
                  <a:srgbClr val="0F1A2B"/>
                </a:solidFill>
                <a:latin typeface="Cambria" pitchFamily="34" charset="0"/>
                <a:ea typeface="Cambria" pitchFamily="34" charset="-122"/>
                <a:cs typeface="Cambria" pitchFamily="34" charset="-120"/>
              </a:rPr>
              <a:t>A requested action can be refused, and the refusal must be legible</a:t>
            </a:r>
            <a:endParaRPr lang="en-US" sz="1450" dirty="0"/>
          </a:p>
        </p:txBody>
      </p:sp>
      <p:sp>
        <p:nvSpPr>
          <p:cNvPr id="10" name="Text 7"/>
          <p:cNvSpPr txBox="1"/>
          <p:nvPr/>
        </p:nvSpPr>
        <p:spPr>
          <a:xfrm>
            <a:off x="603504" y="5166360"/>
            <a:ext cx="10984687" cy="448056"/>
          </a:xfrm>
          <a:prstGeom prst="rect">
            <a:avLst/>
          </a:prstGeom>
          <a:noFill/>
          <a:ln/>
        </p:spPr>
        <p:txBody>
          <a:bodyPr wrap="square" lIns="0" tIns="0" rIns="0" bIns="0" rtlCol="0" anchor="t"/>
          <a:lstStyle/>
          <a:p>
            <a:pPr indent="0" marL="0">
              <a:buNone/>
            </a:pPr>
            <a:r>
              <a:rPr lang="en-US" sz="1100" dirty="0">
                <a:solidFill>
                  <a:srgbClr val="1A1F2B"/>
                </a:solidFill>
              </a:rPr>
              <a:t>When a merchant policy asks for something layers 1 to 3 forbid — routing to an ineligible rail, retrying an invalid credential unchanged — the platform records an orchestration decision naming the constraint that blocked it. </a:t>
            </a:r>
            <a:pPr indent="0" marL="0">
              <a:buNone/>
            </a:pPr>
            <a:r>
              <a:rPr lang="en-US" sz="1100" b="1" dirty="0">
                <a:solidFill>
                  <a:srgbClr val="1A1F2B"/>
                </a:solidFill>
              </a:rPr>
              <a:t>“Why did my retry policy not fire” must be answerable without a support ticket.</a:t>
            </a:r>
            <a:endParaRPr lang="en-US" sz="1100" dirty="0"/>
          </a:p>
        </p:txBody>
      </p:sp>
      <p:sp>
        <p:nvSpPr>
          <p:cNvPr id="25" name="Slide Number Placeholder 0"/>
          <p:cNvSpPr>
            <a:spLocks noGrp="1"/>
          </p:cNvSpPr>
          <p:nvPr>
            <p:ph type="sldNum" sz="quarter" idx="4294967295"/>
          </p:nvPr>
        </p:nvSpPr>
        <p:spPr>
          <a:xfrm>
            <a:off x="11430000" y="6419088"/>
            <a:ext cx="36576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9AA2AE"/>
                </a:solidFill>
                <a:latin typeface="Consolas"/>
                <a:ea typeface="Consolas"/>
                <a:cs typeface="Consolas"/>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475488" y="310896"/>
            <a:ext cx="11240719" cy="219456"/>
          </a:xfrm>
          <a:prstGeom prst="rect">
            <a:avLst/>
          </a:prstGeom>
          <a:noFill/>
          <a:ln/>
        </p:spPr>
        <p:txBody>
          <a:bodyPr wrap="square" lIns="0" tIns="0" rIns="0" bIns="0" rtlCol="0" anchor="ctr"/>
          <a:lstStyle/>
          <a:p>
            <a:pPr indent="0" marL="0">
              <a:buNone/>
            </a:pPr>
            <a:r>
              <a:rPr lang="en-US" sz="1050" spc="240" kern="0" dirty="0">
                <a:solidFill>
                  <a:srgbClr val="B8892F"/>
                </a:solidFill>
                <a:latin typeface="Consolas" pitchFamily="34" charset="0"/>
                <a:ea typeface="Consolas" pitchFamily="34" charset="-122"/>
                <a:cs typeface="Consolas" pitchFamily="34" charset="-120"/>
              </a:rPr>
              <a:t>VALIDATION</a:t>
            </a:r>
            <a:endParaRPr lang="en-US" sz="1050" dirty="0"/>
          </a:p>
        </p:txBody>
      </p:sp>
      <p:sp>
        <p:nvSpPr>
          <p:cNvPr id="3" name="Text 1"/>
          <p:cNvSpPr txBox="1"/>
          <p:nvPr/>
        </p:nvSpPr>
        <p:spPr>
          <a:xfrm>
            <a:off x="475488" y="548640"/>
            <a:ext cx="11240719" cy="566928"/>
          </a:xfrm>
          <a:prstGeom prst="rect">
            <a:avLst/>
          </a:prstGeom>
          <a:noFill/>
          <a:ln/>
        </p:spPr>
        <p:txBody>
          <a:bodyPr wrap="square" lIns="0" tIns="0" rIns="0" bIns="0" rtlCol="0" anchor="t"/>
          <a:lstStyle/>
          <a:p>
            <a:pPr indent="0" marL="0">
              <a:buNone/>
            </a:pPr>
            <a:r>
              <a:rPr lang="en-US" sz="3000" b="1" dirty="0">
                <a:solidFill>
                  <a:srgbClr val="0F1A2B"/>
                </a:solidFill>
                <a:latin typeface="Cambria" pitchFamily="34" charset="0"/>
                <a:ea typeface="Cambria" pitchFamily="34" charset="-122"/>
                <a:cs typeface="Cambria" pitchFamily="34" charset="-120"/>
              </a:rPr>
              <a:t>The seven scenarios that justify having both objects</a:t>
            </a:r>
            <a:endParaRPr lang="en-US" sz="3000" dirty="0"/>
          </a:p>
        </p:txBody>
      </p:sp>
      <p:sp>
        <p:nvSpPr>
          <p:cNvPr id="4" name="Text 2"/>
          <p:cNvSpPr txBox="1"/>
          <p:nvPr/>
        </p:nvSpPr>
        <p:spPr>
          <a:xfrm>
            <a:off x="475488" y="1188720"/>
            <a:ext cx="11240719" cy="475488"/>
          </a:xfrm>
          <a:prstGeom prst="rect">
            <a:avLst/>
          </a:prstGeom>
          <a:noFill/>
          <a:ln/>
        </p:spPr>
        <p:txBody>
          <a:bodyPr wrap="square" lIns="0" tIns="0" rIns="0" bIns="0" rtlCol="0" anchor="t"/>
          <a:lstStyle/>
          <a:p>
            <a:pPr indent="0" marL="0">
              <a:buNone/>
            </a:pPr>
            <a:r>
              <a:rPr lang="en-US" sz="1250" dirty="0">
                <a:solidFill>
                  <a:srgbClr val="414A5C"/>
                </a:solidFill>
              </a:rPr>
              <a:t>If the design handles all seven, the separation is earning its keep. If it handles only some, the simpler model would have been cheaper.</a:t>
            </a:r>
            <a:endParaRPr lang="en-US" sz="1250" dirty="0"/>
          </a:p>
        </p:txBody>
      </p:sp>
      <p:sp>
        <p:nvSpPr>
          <p:cNvPr id="5" name="Shape 3"/>
          <p:cNvSpPr/>
          <p:nvPr/>
        </p:nvSpPr>
        <p:spPr>
          <a:xfrm>
            <a:off x="475488" y="1737360"/>
            <a:ext cx="11240719" cy="22860"/>
          </a:xfrm>
          <a:prstGeom prst="rect">
            <a:avLst/>
          </a:prstGeom>
          <a:solidFill>
            <a:srgbClr val="B8892F"/>
          </a:solidFill>
          <a:ln w="12700">
            <a:solidFill>
              <a:srgbClr val="B8892F"/>
            </a:solidFill>
            <a:prstDash val="solid"/>
          </a:ln>
        </p:spPr>
      </p:sp>
      <p:graphicFrame>
        <p:nvGraphicFramePr>
          <p:cNvPr id="18" name="checklist-table"/>
          <p:cNvGraphicFramePr>
            <a:graphicFrameLocks noGrp="1"/>
          </p:cNvGraphicFramePr>
          <p:nvPr>
            <p:extLst>
              <p:ext uri="{D42A27DB-BD31-4B8C-83A1-F6EECF244321}">
                <p14:modId xmlns:p14="http://schemas.microsoft.com/office/powerpoint/2010/main" val="1579011935"/>
              </p:ext>
            </p:extLst>
          </p:nvPr>
        </p:nvGraphicFramePr>
        <p:xfrm>
          <a:off x="475488" y="1920240"/>
          <a:ext cx="11240719" cy="914400"/>
        </p:xfrm>
        <a:graphic>
          <a:graphicData uri="http://schemas.openxmlformats.org/drawingml/2006/table">
            <a:tbl>
              <a:tblPr/>
              <a:tblGrid>
                <a:gridCol w="3931920"/>
                <a:gridCol w="868680"/>
                <a:gridCol w="6440119"/>
              </a:tblGrid>
              <a:tr h="347472">
                <a:tc>
                  <a:txBody>
                    <a:bodyPr/>
                    <a:lstStyle/>
                    <a:p>
                      <a:pPr indent="0" marL="0">
                        <a:buNone/>
                      </a:pPr>
                      <a:r>
                        <a:rPr lang="en-US" sz="950" b="1" spc="60" kern="0" dirty="0">
                          <a:solidFill>
                            <a:srgbClr val="F2EEE4"/>
                          </a:solidFill>
                          <a:latin typeface="Calibri" pitchFamily="34" charset="0"/>
                          <a:ea typeface="Calibri" pitchFamily="34" charset="-122"/>
                          <a:cs typeface="Calibri" pitchFamily="34" charset="-120"/>
                        </a:rPr>
                        <a:t>SCENARIO</a:t>
                      </a:r>
                      <a:endParaRPr lang="en-US" sz="950" dirty="0">
                        <a:latin typeface="Calibri" charset="0"/>
                        <a:ea typeface="Calibri" charset="0"/>
                        <a:cs typeface="Calibri" charset="0"/>
                      </a:endParaRPr>
                    </a:p>
                  </a:txBody>
                  <a:tcPr marL="91440" marR="91440" marT="45720" marB="45720" anchor="ctr">
                    <a:lnL w="6350" cap="flat" cmpd="sng" algn="ctr">
                      <a:solidFill>
                        <a:srgbClr val="EAE6DC"/>
                      </a:solidFill>
                      <a:prstDash val="solid"/>
                      <a:round/>
                      <a:headEnd type="none" w="med" len="med"/>
                      <a:tailEnd type="none" w="med" len="med"/>
                    </a:lnL>
                    <a:lnR w="6350" cap="flat" cmpd="sng" algn="ctr">
                      <a:solidFill>
                        <a:srgbClr val="EAE6DC"/>
                      </a:solidFill>
                      <a:prstDash val="solid"/>
                      <a:round/>
                      <a:headEnd type="none" w="med" len="med"/>
                      <a:tailEnd type="none" w="med" len="med"/>
                    </a:lnR>
                    <a:lnT w="6350" cap="flat" cmpd="sng" algn="ctr">
                      <a:solidFill>
                        <a:srgbClr val="EAE6DC"/>
                      </a:solidFill>
                      <a:prstDash val="solid"/>
                      <a:round/>
                      <a:headEnd type="none" w="med" len="med"/>
                      <a:tailEnd type="none" w="med" len="med"/>
                    </a:lnT>
                    <a:lnB w="6350" cap="flat" cmpd="sng" algn="ctr">
                      <a:solidFill>
                        <a:srgbClr val="EAE6DC"/>
                      </a:solidFill>
                      <a:prstDash val="solid"/>
                      <a:round/>
                      <a:headEnd type="none" w="med" len="med"/>
                      <a:tailEnd type="none" w="med" len="med"/>
                    </a:lnB>
                    <a:solidFill>
                      <a:srgbClr val="0F1A2B"/>
                    </a:solidFill>
                  </a:tcPr>
                </a:tc>
                <a:tc>
                  <a:txBody>
                    <a:bodyPr/>
                    <a:lstStyle/>
                    <a:p>
                      <a:pPr indent="0" marL="0">
                        <a:buNone/>
                      </a:pPr>
                      <a:r>
                        <a:rPr lang="en-US" sz="950" b="1" spc="60" kern="0" dirty="0">
                          <a:solidFill>
                            <a:srgbClr val="F2EEE4"/>
                          </a:solidFill>
                          <a:latin typeface="Calibri" pitchFamily="34" charset="0"/>
                          <a:ea typeface="Calibri" pitchFamily="34" charset="-122"/>
                          <a:cs typeface="Calibri" pitchFamily="34" charset="-120"/>
                        </a:rPr>
                        <a:t>SLIDE</a:t>
                      </a:r>
                      <a:endParaRPr lang="en-US" sz="950" dirty="0">
                        <a:latin typeface="Calibri" charset="0"/>
                        <a:ea typeface="Calibri" charset="0"/>
                        <a:cs typeface="Calibri" charset="0"/>
                      </a:endParaRPr>
                    </a:p>
                  </a:txBody>
                  <a:tcPr marL="91440" marR="91440" marT="45720" marB="45720" anchor="ctr">
                    <a:lnL w="6350" cap="flat" cmpd="sng" algn="ctr">
                      <a:solidFill>
                        <a:srgbClr val="EAE6DC"/>
                      </a:solidFill>
                      <a:prstDash val="solid"/>
                      <a:round/>
                      <a:headEnd type="none" w="med" len="med"/>
                      <a:tailEnd type="none" w="med" len="med"/>
                    </a:lnL>
                    <a:lnR w="6350" cap="flat" cmpd="sng" algn="ctr">
                      <a:solidFill>
                        <a:srgbClr val="EAE6DC"/>
                      </a:solidFill>
                      <a:prstDash val="solid"/>
                      <a:round/>
                      <a:headEnd type="none" w="med" len="med"/>
                      <a:tailEnd type="none" w="med" len="med"/>
                    </a:lnR>
                    <a:lnT w="6350" cap="flat" cmpd="sng" algn="ctr">
                      <a:solidFill>
                        <a:srgbClr val="EAE6DC"/>
                      </a:solidFill>
                      <a:prstDash val="solid"/>
                      <a:round/>
                      <a:headEnd type="none" w="med" len="med"/>
                      <a:tailEnd type="none" w="med" len="med"/>
                    </a:lnT>
                    <a:lnB w="6350" cap="flat" cmpd="sng" algn="ctr">
                      <a:solidFill>
                        <a:srgbClr val="EAE6DC"/>
                      </a:solidFill>
                      <a:prstDash val="solid"/>
                      <a:round/>
                      <a:headEnd type="none" w="med" len="med"/>
                      <a:tailEnd type="none" w="med" len="med"/>
                    </a:lnB>
                    <a:solidFill>
                      <a:srgbClr val="0F1A2B"/>
                    </a:solidFill>
                  </a:tcPr>
                </a:tc>
                <a:tc>
                  <a:txBody>
                    <a:bodyPr/>
                    <a:lstStyle/>
                    <a:p>
                      <a:pPr indent="0" marL="0">
                        <a:buNone/>
                      </a:pPr>
                      <a:r>
                        <a:rPr lang="en-US" sz="950" b="1" spc="60" kern="0" dirty="0">
                          <a:solidFill>
                            <a:srgbClr val="F2EEE4"/>
                          </a:solidFill>
                          <a:latin typeface="Calibri" pitchFamily="34" charset="0"/>
                          <a:ea typeface="Calibri" pitchFamily="34" charset="-122"/>
                          <a:cs typeface="Calibri" pitchFamily="34" charset="-120"/>
                        </a:rPr>
                        <a:t>WHAT MUST BE TRUE</a:t>
                      </a:r>
                      <a:endParaRPr lang="en-US" sz="950" dirty="0">
                        <a:latin typeface="Calibri" charset="0"/>
                        <a:ea typeface="Calibri" charset="0"/>
                        <a:cs typeface="Calibri" charset="0"/>
                      </a:endParaRPr>
                    </a:p>
                  </a:txBody>
                  <a:tcPr marL="91440" marR="91440" marT="45720" marB="45720" anchor="ctr">
                    <a:lnL w="6350" cap="flat" cmpd="sng" algn="ctr">
                      <a:solidFill>
                        <a:srgbClr val="EAE6DC"/>
                      </a:solidFill>
                      <a:prstDash val="solid"/>
                      <a:round/>
                      <a:headEnd type="none" w="med" len="med"/>
                      <a:tailEnd type="none" w="med" len="med"/>
                    </a:lnL>
                    <a:lnR w="6350" cap="flat" cmpd="sng" algn="ctr">
                      <a:solidFill>
                        <a:srgbClr val="EAE6DC"/>
                      </a:solidFill>
                      <a:prstDash val="solid"/>
                      <a:round/>
                      <a:headEnd type="none" w="med" len="med"/>
                      <a:tailEnd type="none" w="med" len="med"/>
                    </a:lnR>
                    <a:lnT w="6350" cap="flat" cmpd="sng" algn="ctr">
                      <a:solidFill>
                        <a:srgbClr val="EAE6DC"/>
                      </a:solidFill>
                      <a:prstDash val="solid"/>
                      <a:round/>
                      <a:headEnd type="none" w="med" len="med"/>
                      <a:tailEnd type="none" w="med" len="med"/>
                    </a:lnT>
                    <a:lnB w="6350" cap="flat" cmpd="sng" algn="ctr">
                      <a:solidFill>
                        <a:srgbClr val="EAE6DC"/>
                      </a:solidFill>
                      <a:prstDash val="solid"/>
                      <a:round/>
                      <a:headEnd type="none" w="med" len="med"/>
                      <a:tailEnd type="none" w="med" len="med"/>
                    </a:lnB>
                    <a:solidFill>
                      <a:srgbClr val="0F1A2B"/>
                    </a:solidFill>
                  </a:tcPr>
                </a:tc>
              </a:tr>
              <a:tr h="347472">
                <a:tc>
                  <a:txBody>
                    <a:bodyPr/>
                    <a:lstStyle/>
                    <a:p>
                      <a:pPr indent="0" marL="0">
                        <a:buNone/>
                      </a:pPr>
                      <a:r>
                        <a:rPr lang="en-US" sz="1100" b="1" dirty="0">
                          <a:solidFill>
                            <a:srgbClr val="1A1F2B"/>
                          </a:solidFill>
                          <a:latin typeface="Calibri" pitchFamily="34" charset="0"/>
                          <a:ea typeface="Calibri" pitchFamily="34" charset="-122"/>
                          <a:cs typeface="Calibri" pitchFamily="34" charset="-120"/>
                        </a:rPr>
                        <a:t>Retry across rails</a:t>
                      </a:r>
                      <a:endParaRPr lang="en-US" sz="1100" dirty="0">
                        <a:latin typeface="Calibri" charset="0"/>
                        <a:ea typeface="Calibri" charset="0"/>
                        <a:cs typeface="Calibri" charset="0"/>
                      </a:endParaRPr>
                    </a:p>
                  </a:txBody>
                  <a:tcPr marL="91440" marR="91440" marT="45720" marB="45720" anchor="t">
                    <a:lnL w="6350" cap="flat" cmpd="sng" algn="ctr">
                      <a:solidFill>
                        <a:srgbClr val="EAE6DC"/>
                      </a:solidFill>
                      <a:prstDash val="solid"/>
                      <a:round/>
                      <a:headEnd type="none" w="med" len="med"/>
                      <a:tailEnd type="none" w="med" len="med"/>
                    </a:lnL>
                    <a:lnR w="6350" cap="flat" cmpd="sng" algn="ctr">
                      <a:solidFill>
                        <a:srgbClr val="EAE6DC"/>
                      </a:solidFill>
                      <a:prstDash val="solid"/>
                      <a:round/>
                      <a:headEnd type="none" w="med" len="med"/>
                      <a:tailEnd type="none" w="med" len="med"/>
                    </a:lnR>
                    <a:lnT w="6350" cap="flat" cmpd="sng" algn="ctr">
                      <a:solidFill>
                        <a:srgbClr val="EAE6DC"/>
                      </a:solidFill>
                      <a:prstDash val="solid"/>
                      <a:round/>
                      <a:headEnd type="none" w="med" len="med"/>
                      <a:tailEnd type="none" w="med" len="med"/>
                    </a:lnT>
                    <a:lnB w="6350" cap="flat" cmpd="sng" algn="ctr">
                      <a:solidFill>
                        <a:srgbClr val="EAE6DC"/>
                      </a:solidFill>
                      <a:prstDash val="solid"/>
                      <a:round/>
                      <a:headEnd type="none" w="med" len="med"/>
                      <a:tailEnd type="none" w="med" len="med"/>
                    </a:lnB>
                  </a:tcPr>
                </a:tc>
                <a:tc>
                  <a:txBody>
                    <a:bodyPr/>
                    <a:lstStyle/>
                    <a:p>
                      <a:pPr algn="ctr" indent="0" marL="0">
                        <a:buNone/>
                      </a:pPr>
                      <a:r>
                        <a:rPr lang="en-US" sz="1100" dirty="0">
                          <a:solidFill>
                            <a:srgbClr val="1A1F2B"/>
                          </a:solidFill>
                          <a:latin typeface="Consolas" pitchFamily="34" charset="0"/>
                          <a:ea typeface="Consolas" pitchFamily="34" charset="-122"/>
                          <a:cs typeface="Consolas" pitchFamily="34" charset="-120"/>
                        </a:rPr>
                        <a:t>05</a:t>
                      </a:r>
                      <a:endParaRPr lang="en-US" sz="1100" dirty="0">
                        <a:latin typeface="Consolas" charset="0"/>
                        <a:ea typeface="Consolas" charset="0"/>
                        <a:cs typeface="Consolas" charset="0"/>
                      </a:endParaRPr>
                    </a:p>
                  </a:txBody>
                  <a:tcPr marL="91440" marR="91440" marT="45720" marB="45720" anchor="t">
                    <a:lnL w="6350" cap="flat" cmpd="sng" algn="ctr">
                      <a:solidFill>
                        <a:srgbClr val="EAE6DC"/>
                      </a:solidFill>
                      <a:prstDash val="solid"/>
                      <a:round/>
                      <a:headEnd type="none" w="med" len="med"/>
                      <a:tailEnd type="none" w="med" len="med"/>
                    </a:lnL>
                    <a:lnR w="6350" cap="flat" cmpd="sng" algn="ctr">
                      <a:solidFill>
                        <a:srgbClr val="EAE6DC"/>
                      </a:solidFill>
                      <a:prstDash val="solid"/>
                      <a:round/>
                      <a:headEnd type="none" w="med" len="med"/>
                      <a:tailEnd type="none" w="med" len="med"/>
                    </a:lnR>
                    <a:lnT w="6350" cap="flat" cmpd="sng" algn="ctr">
                      <a:solidFill>
                        <a:srgbClr val="EAE6DC"/>
                      </a:solidFill>
                      <a:prstDash val="solid"/>
                      <a:round/>
                      <a:headEnd type="none" w="med" len="med"/>
                      <a:tailEnd type="none" w="med" len="med"/>
                    </a:lnT>
                    <a:lnB w="6350" cap="flat" cmpd="sng" algn="ctr">
                      <a:solidFill>
                        <a:srgbClr val="EAE6DC"/>
                      </a:solidFill>
                      <a:prstDash val="solid"/>
                      <a:round/>
                      <a:headEnd type="none" w="med" len="med"/>
                      <a:tailEnd type="none" w="med" len="med"/>
                    </a:lnB>
                  </a:tcPr>
                </a:tc>
                <a:tc>
                  <a:txBody>
                    <a:bodyPr/>
                    <a:lstStyle/>
                    <a:p>
                      <a:pPr indent="0" marL="0">
                        <a:buNone/>
                      </a:pPr>
                      <a:r>
                        <a:rPr lang="en-US" sz="1100" dirty="0">
                          <a:solidFill>
                            <a:srgbClr val="1A1F2B"/>
                          </a:solidFill>
                          <a:latin typeface="Calibri" pitchFamily="34" charset="0"/>
                          <a:ea typeface="Calibri" pitchFamily="34" charset="-122"/>
                          <a:cs typeface="Calibri" pitchFamily="34" charset="-120"/>
                        </a:rPr>
                        <a:t>Same Intent, separate Attempts, recorded routing decisions and a shared retry budget</a:t>
                      </a:r>
                      <a:endParaRPr lang="en-US" sz="1100" dirty="0">
                        <a:latin typeface="Calibri" charset="0"/>
                        <a:ea typeface="Calibri" charset="0"/>
                        <a:cs typeface="Calibri" charset="0"/>
                      </a:endParaRPr>
                    </a:p>
                  </a:txBody>
                  <a:tcPr marL="91440" marR="91440" marT="45720" marB="45720" anchor="t">
                    <a:lnL w="6350" cap="flat" cmpd="sng" algn="ctr">
                      <a:solidFill>
                        <a:srgbClr val="EAE6DC"/>
                      </a:solidFill>
                      <a:prstDash val="solid"/>
                      <a:round/>
                      <a:headEnd type="none" w="med" len="med"/>
                      <a:tailEnd type="none" w="med" len="med"/>
                    </a:lnL>
                    <a:lnR w="6350" cap="flat" cmpd="sng" algn="ctr">
                      <a:solidFill>
                        <a:srgbClr val="EAE6DC"/>
                      </a:solidFill>
                      <a:prstDash val="solid"/>
                      <a:round/>
                      <a:headEnd type="none" w="med" len="med"/>
                      <a:tailEnd type="none" w="med" len="med"/>
                    </a:lnR>
                    <a:lnT w="6350" cap="flat" cmpd="sng" algn="ctr">
                      <a:solidFill>
                        <a:srgbClr val="EAE6DC"/>
                      </a:solidFill>
                      <a:prstDash val="solid"/>
                      <a:round/>
                      <a:headEnd type="none" w="med" len="med"/>
                      <a:tailEnd type="none" w="med" len="med"/>
                    </a:lnT>
                    <a:lnB w="6350" cap="flat" cmpd="sng" algn="ctr">
                      <a:solidFill>
                        <a:srgbClr val="EAE6DC"/>
                      </a:solidFill>
                      <a:prstDash val="solid"/>
                      <a:round/>
                      <a:headEnd type="none" w="med" len="med"/>
                      <a:tailEnd type="none" w="med" len="med"/>
                    </a:lnB>
                  </a:tcPr>
                </a:tc>
              </a:tr>
              <a:tr h="347472">
                <a:tc>
                  <a:txBody>
                    <a:bodyPr/>
                    <a:lstStyle/>
                    <a:p>
                      <a:pPr indent="0" marL="0">
                        <a:buNone/>
                      </a:pPr>
                      <a:r>
                        <a:rPr lang="en-US" sz="1100" b="1" dirty="0">
                          <a:solidFill>
                            <a:srgbClr val="1A1F2B"/>
                          </a:solidFill>
                          <a:latin typeface="Calibri" pitchFamily="34" charset="0"/>
                          <a:ea typeface="Calibri" pitchFamily="34" charset="-122"/>
                          <a:cs typeface="Calibri" pitchFamily="34" charset="-120"/>
                        </a:rPr>
                        <a:t>Orchestrated 3DS and soft-decline recovery</a:t>
                      </a:r>
                      <a:endParaRPr lang="en-US" sz="1100" dirty="0">
                        <a:latin typeface="Calibri" charset="0"/>
                        <a:ea typeface="Calibri" charset="0"/>
                        <a:cs typeface="Calibri" charset="0"/>
                      </a:endParaRPr>
                    </a:p>
                  </a:txBody>
                  <a:tcPr marL="91440" marR="91440" marT="45720" marB="45720" anchor="t">
                    <a:lnL w="6350" cap="flat" cmpd="sng" algn="ctr">
                      <a:solidFill>
                        <a:srgbClr val="EAE6DC"/>
                      </a:solidFill>
                      <a:prstDash val="solid"/>
                      <a:round/>
                      <a:headEnd type="none" w="med" len="med"/>
                      <a:tailEnd type="none" w="med" len="med"/>
                    </a:lnL>
                    <a:lnR w="6350" cap="flat" cmpd="sng" algn="ctr">
                      <a:solidFill>
                        <a:srgbClr val="EAE6DC"/>
                      </a:solidFill>
                      <a:prstDash val="solid"/>
                      <a:round/>
                      <a:headEnd type="none" w="med" len="med"/>
                      <a:tailEnd type="none" w="med" len="med"/>
                    </a:lnR>
                    <a:lnT w="6350" cap="flat" cmpd="sng" algn="ctr">
                      <a:solidFill>
                        <a:srgbClr val="EAE6DC"/>
                      </a:solidFill>
                      <a:prstDash val="solid"/>
                      <a:round/>
                      <a:headEnd type="none" w="med" len="med"/>
                      <a:tailEnd type="none" w="med" len="med"/>
                    </a:lnT>
                    <a:lnB w="6350" cap="flat" cmpd="sng" algn="ctr">
                      <a:solidFill>
                        <a:srgbClr val="EAE6DC"/>
                      </a:solidFill>
                      <a:prstDash val="solid"/>
                      <a:round/>
                      <a:headEnd type="none" w="med" len="med"/>
                      <a:tailEnd type="none" w="med" len="med"/>
                    </a:lnB>
                  </a:tcPr>
                </a:tc>
                <a:tc>
                  <a:txBody>
                    <a:bodyPr/>
                    <a:lstStyle/>
                    <a:p>
                      <a:pPr algn="ctr" indent="0" marL="0">
                        <a:buNone/>
                      </a:pPr>
                      <a:r>
                        <a:rPr lang="en-US" sz="1100" dirty="0">
                          <a:solidFill>
                            <a:srgbClr val="1A1F2B"/>
                          </a:solidFill>
                          <a:latin typeface="Consolas" pitchFamily="34" charset="0"/>
                          <a:ea typeface="Consolas" pitchFamily="34" charset="-122"/>
                          <a:cs typeface="Consolas" pitchFamily="34" charset="-120"/>
                        </a:rPr>
                        <a:t>06</a:t>
                      </a:r>
                      <a:endParaRPr lang="en-US" sz="1100" dirty="0">
                        <a:latin typeface="Consolas" charset="0"/>
                        <a:ea typeface="Consolas" charset="0"/>
                        <a:cs typeface="Consolas" charset="0"/>
                      </a:endParaRPr>
                    </a:p>
                  </a:txBody>
                  <a:tcPr marL="91440" marR="91440" marT="45720" marB="45720" anchor="t">
                    <a:lnL w="6350" cap="flat" cmpd="sng" algn="ctr">
                      <a:solidFill>
                        <a:srgbClr val="EAE6DC"/>
                      </a:solidFill>
                      <a:prstDash val="solid"/>
                      <a:round/>
                      <a:headEnd type="none" w="med" len="med"/>
                      <a:tailEnd type="none" w="med" len="med"/>
                    </a:lnL>
                    <a:lnR w="6350" cap="flat" cmpd="sng" algn="ctr">
                      <a:solidFill>
                        <a:srgbClr val="EAE6DC"/>
                      </a:solidFill>
                      <a:prstDash val="solid"/>
                      <a:round/>
                      <a:headEnd type="none" w="med" len="med"/>
                      <a:tailEnd type="none" w="med" len="med"/>
                    </a:lnR>
                    <a:lnT w="6350" cap="flat" cmpd="sng" algn="ctr">
                      <a:solidFill>
                        <a:srgbClr val="EAE6DC"/>
                      </a:solidFill>
                      <a:prstDash val="solid"/>
                      <a:round/>
                      <a:headEnd type="none" w="med" len="med"/>
                      <a:tailEnd type="none" w="med" len="med"/>
                    </a:lnT>
                    <a:lnB w="6350" cap="flat" cmpd="sng" algn="ctr">
                      <a:solidFill>
                        <a:srgbClr val="EAE6DC"/>
                      </a:solidFill>
                      <a:prstDash val="solid"/>
                      <a:round/>
                      <a:headEnd type="none" w="med" len="med"/>
                      <a:tailEnd type="none" w="med" len="med"/>
                    </a:lnB>
                  </a:tcPr>
                </a:tc>
                <a:tc>
                  <a:txBody>
                    <a:bodyPr/>
                    <a:lstStyle/>
                    <a:p>
                      <a:pPr indent="0" marL="0">
                        <a:buNone/>
                      </a:pPr>
                      <a:r>
                        <a:rPr lang="en-US" sz="1100" dirty="0">
                          <a:solidFill>
                            <a:srgbClr val="1A1F2B"/>
                          </a:solidFill>
                          <a:latin typeface="Calibri" pitchFamily="34" charset="0"/>
                          <a:ea typeface="Calibri" pitchFamily="34" charset="-122"/>
                          <a:cs typeface="Calibri" pitchFamily="34" charset="-120"/>
                        </a:rPr>
                        <a:t>Same objective, explicit authentication session, a new authorization Attempt where required</a:t>
                      </a:r>
                      <a:endParaRPr lang="en-US" sz="1100" dirty="0">
                        <a:latin typeface="Calibri" charset="0"/>
                        <a:ea typeface="Calibri" charset="0"/>
                        <a:cs typeface="Calibri" charset="0"/>
                      </a:endParaRPr>
                    </a:p>
                  </a:txBody>
                  <a:tcPr marL="91440" marR="91440" marT="45720" marB="45720" anchor="t">
                    <a:lnL w="6350" cap="flat" cmpd="sng" algn="ctr">
                      <a:solidFill>
                        <a:srgbClr val="EAE6DC"/>
                      </a:solidFill>
                      <a:prstDash val="solid"/>
                      <a:round/>
                      <a:headEnd type="none" w="med" len="med"/>
                      <a:tailEnd type="none" w="med" len="med"/>
                    </a:lnL>
                    <a:lnR w="6350" cap="flat" cmpd="sng" algn="ctr">
                      <a:solidFill>
                        <a:srgbClr val="EAE6DC"/>
                      </a:solidFill>
                      <a:prstDash val="solid"/>
                      <a:round/>
                      <a:headEnd type="none" w="med" len="med"/>
                      <a:tailEnd type="none" w="med" len="med"/>
                    </a:lnR>
                    <a:lnT w="6350" cap="flat" cmpd="sng" algn="ctr">
                      <a:solidFill>
                        <a:srgbClr val="EAE6DC"/>
                      </a:solidFill>
                      <a:prstDash val="solid"/>
                      <a:round/>
                      <a:headEnd type="none" w="med" len="med"/>
                      <a:tailEnd type="none" w="med" len="med"/>
                    </a:lnT>
                    <a:lnB w="6350" cap="flat" cmpd="sng" algn="ctr">
                      <a:solidFill>
                        <a:srgbClr val="EAE6DC"/>
                      </a:solidFill>
                      <a:prstDash val="solid"/>
                      <a:round/>
                      <a:headEnd type="none" w="med" len="med"/>
                      <a:tailEnd type="none" w="med" len="med"/>
                    </a:lnB>
                  </a:tcPr>
                </a:tc>
              </a:tr>
              <a:tr h="347472">
                <a:tc>
                  <a:txBody>
                    <a:bodyPr/>
                    <a:lstStyle/>
                    <a:p>
                      <a:pPr indent="0" marL="0">
                        <a:buNone/>
                      </a:pPr>
                      <a:r>
                        <a:rPr lang="en-US" sz="1100" b="1" dirty="0">
                          <a:solidFill>
                            <a:srgbClr val="1A1F2B"/>
                          </a:solidFill>
                          <a:latin typeface="Calibri" pitchFamily="34" charset="0"/>
                          <a:ea typeface="Calibri" pitchFamily="34" charset="-122"/>
                          <a:cs typeface="Calibri" pitchFamily="34" charset="-120"/>
                        </a:rPr>
                        <a:t>Merchant-selected response-code strategy</a:t>
                      </a:r>
                      <a:endParaRPr lang="en-US" sz="1100" dirty="0">
                        <a:latin typeface="Calibri" charset="0"/>
                        <a:ea typeface="Calibri" charset="0"/>
                        <a:cs typeface="Calibri" charset="0"/>
                      </a:endParaRPr>
                    </a:p>
                  </a:txBody>
                  <a:tcPr marL="91440" marR="91440" marT="45720" marB="45720" anchor="t">
                    <a:lnL w="6350" cap="flat" cmpd="sng" algn="ctr">
                      <a:solidFill>
                        <a:srgbClr val="EAE6DC"/>
                      </a:solidFill>
                      <a:prstDash val="solid"/>
                      <a:round/>
                      <a:headEnd type="none" w="med" len="med"/>
                      <a:tailEnd type="none" w="med" len="med"/>
                    </a:lnL>
                    <a:lnR w="6350" cap="flat" cmpd="sng" algn="ctr">
                      <a:solidFill>
                        <a:srgbClr val="EAE6DC"/>
                      </a:solidFill>
                      <a:prstDash val="solid"/>
                      <a:round/>
                      <a:headEnd type="none" w="med" len="med"/>
                      <a:tailEnd type="none" w="med" len="med"/>
                    </a:lnR>
                    <a:lnT w="6350" cap="flat" cmpd="sng" algn="ctr">
                      <a:solidFill>
                        <a:srgbClr val="EAE6DC"/>
                      </a:solidFill>
                      <a:prstDash val="solid"/>
                      <a:round/>
                      <a:headEnd type="none" w="med" len="med"/>
                      <a:tailEnd type="none" w="med" len="med"/>
                    </a:lnT>
                    <a:lnB w="6350" cap="flat" cmpd="sng" algn="ctr">
                      <a:solidFill>
                        <a:srgbClr val="EAE6DC"/>
                      </a:solidFill>
                      <a:prstDash val="solid"/>
                      <a:round/>
                      <a:headEnd type="none" w="med" len="med"/>
                      <a:tailEnd type="none" w="med" len="med"/>
                    </a:lnB>
                  </a:tcPr>
                </a:tc>
                <a:tc>
                  <a:txBody>
                    <a:bodyPr/>
                    <a:lstStyle/>
                    <a:p>
                      <a:pPr algn="ctr" indent="0" marL="0">
                        <a:buNone/>
                      </a:pPr>
                      <a:r>
                        <a:rPr lang="en-US" sz="1100" dirty="0">
                          <a:solidFill>
                            <a:srgbClr val="1A1F2B"/>
                          </a:solidFill>
                          <a:latin typeface="Consolas" pitchFamily="34" charset="0"/>
                          <a:ea typeface="Consolas" pitchFamily="34" charset="-122"/>
                          <a:cs typeface="Consolas" pitchFamily="34" charset="-120"/>
                        </a:rPr>
                        <a:t>07</a:t>
                      </a:r>
                      <a:endParaRPr lang="en-US" sz="1100" dirty="0">
                        <a:latin typeface="Consolas" charset="0"/>
                        <a:ea typeface="Consolas" charset="0"/>
                        <a:cs typeface="Consolas" charset="0"/>
                      </a:endParaRPr>
                    </a:p>
                  </a:txBody>
                  <a:tcPr marL="91440" marR="91440" marT="45720" marB="45720" anchor="t">
                    <a:lnL w="6350" cap="flat" cmpd="sng" algn="ctr">
                      <a:solidFill>
                        <a:srgbClr val="EAE6DC"/>
                      </a:solidFill>
                      <a:prstDash val="solid"/>
                      <a:round/>
                      <a:headEnd type="none" w="med" len="med"/>
                      <a:tailEnd type="none" w="med" len="med"/>
                    </a:lnL>
                    <a:lnR w="6350" cap="flat" cmpd="sng" algn="ctr">
                      <a:solidFill>
                        <a:srgbClr val="EAE6DC"/>
                      </a:solidFill>
                      <a:prstDash val="solid"/>
                      <a:round/>
                      <a:headEnd type="none" w="med" len="med"/>
                      <a:tailEnd type="none" w="med" len="med"/>
                    </a:lnR>
                    <a:lnT w="6350" cap="flat" cmpd="sng" algn="ctr">
                      <a:solidFill>
                        <a:srgbClr val="EAE6DC"/>
                      </a:solidFill>
                      <a:prstDash val="solid"/>
                      <a:round/>
                      <a:headEnd type="none" w="med" len="med"/>
                      <a:tailEnd type="none" w="med" len="med"/>
                    </a:lnT>
                    <a:lnB w="6350" cap="flat" cmpd="sng" algn="ctr">
                      <a:solidFill>
                        <a:srgbClr val="EAE6DC"/>
                      </a:solidFill>
                      <a:prstDash val="solid"/>
                      <a:round/>
                      <a:headEnd type="none" w="med" len="med"/>
                      <a:tailEnd type="none" w="med" len="med"/>
                    </a:lnB>
                  </a:tcPr>
                </a:tc>
                <a:tc>
                  <a:txBody>
                    <a:bodyPr/>
                    <a:lstStyle/>
                    <a:p>
                      <a:pPr indent="0" marL="0">
                        <a:buNone/>
                      </a:pPr>
                      <a:r>
                        <a:rPr lang="en-US" sz="1100" dirty="0">
                          <a:solidFill>
                            <a:srgbClr val="1A1F2B"/>
                          </a:solidFill>
                          <a:latin typeface="Calibri" pitchFamily="34" charset="0"/>
                          <a:ea typeface="Calibri" pitchFamily="34" charset="-122"/>
                          <a:cs typeface="Calibri" pitchFamily="34" charset="-120"/>
                        </a:rPr>
                        <a:t>Intent carries policy context; the orchestrator evaluates each outcome against preference and constraint</a:t>
                      </a:r>
                      <a:endParaRPr lang="en-US" sz="1100" dirty="0">
                        <a:latin typeface="Calibri" charset="0"/>
                        <a:ea typeface="Calibri" charset="0"/>
                        <a:cs typeface="Calibri" charset="0"/>
                      </a:endParaRPr>
                    </a:p>
                  </a:txBody>
                  <a:tcPr marL="91440" marR="91440" marT="45720" marB="45720" anchor="t">
                    <a:lnL w="6350" cap="flat" cmpd="sng" algn="ctr">
                      <a:solidFill>
                        <a:srgbClr val="EAE6DC"/>
                      </a:solidFill>
                      <a:prstDash val="solid"/>
                      <a:round/>
                      <a:headEnd type="none" w="med" len="med"/>
                      <a:tailEnd type="none" w="med" len="med"/>
                    </a:lnL>
                    <a:lnR w="6350" cap="flat" cmpd="sng" algn="ctr">
                      <a:solidFill>
                        <a:srgbClr val="EAE6DC"/>
                      </a:solidFill>
                      <a:prstDash val="solid"/>
                      <a:round/>
                      <a:headEnd type="none" w="med" len="med"/>
                      <a:tailEnd type="none" w="med" len="med"/>
                    </a:lnR>
                    <a:lnT w="6350" cap="flat" cmpd="sng" algn="ctr">
                      <a:solidFill>
                        <a:srgbClr val="EAE6DC"/>
                      </a:solidFill>
                      <a:prstDash val="solid"/>
                      <a:round/>
                      <a:headEnd type="none" w="med" len="med"/>
                      <a:tailEnd type="none" w="med" len="med"/>
                    </a:lnT>
                    <a:lnB w="6350" cap="flat" cmpd="sng" algn="ctr">
                      <a:solidFill>
                        <a:srgbClr val="EAE6DC"/>
                      </a:solidFill>
                      <a:prstDash val="solid"/>
                      <a:round/>
                      <a:headEnd type="none" w="med" len="med"/>
                      <a:tailEnd type="none" w="med" len="med"/>
                    </a:lnB>
                  </a:tcPr>
                </a:tc>
              </a:tr>
              <a:tr h="347472">
                <a:tc>
                  <a:txBody>
                    <a:bodyPr/>
                    <a:lstStyle/>
                    <a:p>
                      <a:pPr indent="0" marL="0">
                        <a:buNone/>
                      </a:pPr>
                      <a:r>
                        <a:rPr lang="en-US" sz="1100" b="1" dirty="0">
                          <a:solidFill>
                            <a:srgbClr val="1A1F2B"/>
                          </a:solidFill>
                          <a:latin typeface="Calibri" pitchFamily="34" charset="0"/>
                          <a:ea typeface="Calibri" pitchFamily="34" charset="-122"/>
                          <a:cs typeface="Calibri" pitchFamily="34" charset="-120"/>
                        </a:rPr>
                        <a:t>Multiple partial captures</a:t>
                      </a:r>
                      <a:endParaRPr lang="en-US" sz="1100" dirty="0">
                        <a:latin typeface="Calibri" charset="0"/>
                        <a:ea typeface="Calibri" charset="0"/>
                        <a:cs typeface="Calibri" charset="0"/>
                      </a:endParaRPr>
                    </a:p>
                  </a:txBody>
                  <a:tcPr marL="91440" marR="91440" marT="45720" marB="45720" anchor="t">
                    <a:lnL w="6350" cap="flat" cmpd="sng" algn="ctr">
                      <a:solidFill>
                        <a:srgbClr val="EAE6DC"/>
                      </a:solidFill>
                      <a:prstDash val="solid"/>
                      <a:round/>
                      <a:headEnd type="none" w="med" len="med"/>
                      <a:tailEnd type="none" w="med" len="med"/>
                    </a:lnL>
                    <a:lnR w="6350" cap="flat" cmpd="sng" algn="ctr">
                      <a:solidFill>
                        <a:srgbClr val="EAE6DC"/>
                      </a:solidFill>
                      <a:prstDash val="solid"/>
                      <a:round/>
                      <a:headEnd type="none" w="med" len="med"/>
                      <a:tailEnd type="none" w="med" len="med"/>
                    </a:lnR>
                    <a:lnT w="6350" cap="flat" cmpd="sng" algn="ctr">
                      <a:solidFill>
                        <a:srgbClr val="EAE6DC"/>
                      </a:solidFill>
                      <a:prstDash val="solid"/>
                      <a:round/>
                      <a:headEnd type="none" w="med" len="med"/>
                      <a:tailEnd type="none" w="med" len="med"/>
                    </a:lnT>
                    <a:lnB w="6350" cap="flat" cmpd="sng" algn="ctr">
                      <a:solidFill>
                        <a:srgbClr val="EAE6DC"/>
                      </a:solidFill>
                      <a:prstDash val="solid"/>
                      <a:round/>
                      <a:headEnd type="none" w="med" len="med"/>
                      <a:tailEnd type="none" w="med" len="med"/>
                    </a:lnB>
                  </a:tcPr>
                </a:tc>
                <a:tc>
                  <a:txBody>
                    <a:bodyPr/>
                    <a:lstStyle/>
                    <a:p>
                      <a:pPr algn="ctr" indent="0" marL="0">
                        <a:buNone/>
                      </a:pPr>
                      <a:r>
                        <a:rPr lang="en-US" sz="1100" dirty="0">
                          <a:solidFill>
                            <a:srgbClr val="1A1F2B"/>
                          </a:solidFill>
                          <a:latin typeface="Consolas" pitchFamily="34" charset="0"/>
                          <a:ea typeface="Consolas" pitchFamily="34" charset="-122"/>
                          <a:cs typeface="Consolas" pitchFamily="34" charset="-120"/>
                        </a:rPr>
                        <a:t>08</a:t>
                      </a:r>
                      <a:endParaRPr lang="en-US" sz="1100" dirty="0">
                        <a:latin typeface="Consolas" charset="0"/>
                        <a:ea typeface="Consolas" charset="0"/>
                        <a:cs typeface="Consolas" charset="0"/>
                      </a:endParaRPr>
                    </a:p>
                  </a:txBody>
                  <a:tcPr marL="91440" marR="91440" marT="45720" marB="45720" anchor="t">
                    <a:lnL w="6350" cap="flat" cmpd="sng" algn="ctr">
                      <a:solidFill>
                        <a:srgbClr val="EAE6DC"/>
                      </a:solidFill>
                      <a:prstDash val="solid"/>
                      <a:round/>
                      <a:headEnd type="none" w="med" len="med"/>
                      <a:tailEnd type="none" w="med" len="med"/>
                    </a:lnL>
                    <a:lnR w="6350" cap="flat" cmpd="sng" algn="ctr">
                      <a:solidFill>
                        <a:srgbClr val="EAE6DC"/>
                      </a:solidFill>
                      <a:prstDash val="solid"/>
                      <a:round/>
                      <a:headEnd type="none" w="med" len="med"/>
                      <a:tailEnd type="none" w="med" len="med"/>
                    </a:lnR>
                    <a:lnT w="6350" cap="flat" cmpd="sng" algn="ctr">
                      <a:solidFill>
                        <a:srgbClr val="EAE6DC"/>
                      </a:solidFill>
                      <a:prstDash val="solid"/>
                      <a:round/>
                      <a:headEnd type="none" w="med" len="med"/>
                      <a:tailEnd type="none" w="med" len="med"/>
                    </a:lnT>
                    <a:lnB w="6350" cap="flat" cmpd="sng" algn="ctr">
                      <a:solidFill>
                        <a:srgbClr val="EAE6DC"/>
                      </a:solidFill>
                      <a:prstDash val="solid"/>
                      <a:round/>
                      <a:headEnd type="none" w="med" len="med"/>
                      <a:tailEnd type="none" w="med" len="med"/>
                    </a:lnB>
                  </a:tcPr>
                </a:tc>
                <a:tc>
                  <a:txBody>
                    <a:bodyPr/>
                    <a:lstStyle/>
                    <a:p>
                      <a:pPr indent="0" marL="0">
                        <a:buNone/>
                      </a:pPr>
                      <a:r>
                        <a:rPr lang="en-US" sz="1100" dirty="0">
                          <a:solidFill>
                            <a:srgbClr val="1A1F2B"/>
                          </a:solidFill>
                          <a:latin typeface="Calibri" pitchFamily="34" charset="0"/>
                          <a:ea typeface="Calibri" pitchFamily="34" charset="-122"/>
                          <a:cs typeface="Calibri" pitchFamily="34" charset="-120"/>
                        </a:rPr>
                        <a:t>One authorization, independently tracked Capture records, aggregate Intent balances</a:t>
                      </a:r>
                      <a:endParaRPr lang="en-US" sz="1100" dirty="0">
                        <a:latin typeface="Calibri" charset="0"/>
                        <a:ea typeface="Calibri" charset="0"/>
                        <a:cs typeface="Calibri" charset="0"/>
                      </a:endParaRPr>
                    </a:p>
                  </a:txBody>
                  <a:tcPr marL="91440" marR="91440" marT="45720" marB="45720" anchor="t">
                    <a:lnL w="6350" cap="flat" cmpd="sng" algn="ctr">
                      <a:solidFill>
                        <a:srgbClr val="EAE6DC"/>
                      </a:solidFill>
                      <a:prstDash val="solid"/>
                      <a:round/>
                      <a:headEnd type="none" w="med" len="med"/>
                      <a:tailEnd type="none" w="med" len="med"/>
                    </a:lnL>
                    <a:lnR w="6350" cap="flat" cmpd="sng" algn="ctr">
                      <a:solidFill>
                        <a:srgbClr val="EAE6DC"/>
                      </a:solidFill>
                      <a:prstDash val="solid"/>
                      <a:round/>
                      <a:headEnd type="none" w="med" len="med"/>
                      <a:tailEnd type="none" w="med" len="med"/>
                    </a:lnR>
                    <a:lnT w="6350" cap="flat" cmpd="sng" algn="ctr">
                      <a:solidFill>
                        <a:srgbClr val="EAE6DC"/>
                      </a:solidFill>
                      <a:prstDash val="solid"/>
                      <a:round/>
                      <a:headEnd type="none" w="med" len="med"/>
                      <a:tailEnd type="none" w="med" len="med"/>
                    </a:lnT>
                    <a:lnB w="6350" cap="flat" cmpd="sng" algn="ctr">
                      <a:solidFill>
                        <a:srgbClr val="EAE6DC"/>
                      </a:solidFill>
                      <a:prstDash val="solid"/>
                      <a:round/>
                      <a:headEnd type="none" w="med" len="med"/>
                      <a:tailEnd type="none" w="med" len="med"/>
                    </a:lnB>
                  </a:tcPr>
                </a:tc>
              </a:tr>
              <a:tr h="347472">
                <a:tc>
                  <a:txBody>
                    <a:bodyPr/>
                    <a:lstStyle/>
                    <a:p>
                      <a:pPr indent="0" marL="0">
                        <a:buNone/>
                      </a:pPr>
                      <a:r>
                        <a:rPr lang="en-US" sz="1100" b="1" dirty="0">
                          <a:solidFill>
                            <a:srgbClr val="1A1F2B"/>
                          </a:solidFill>
                          <a:latin typeface="Calibri" pitchFamily="34" charset="0"/>
                          <a:ea typeface="Calibri" pitchFamily="34" charset="-122"/>
                          <a:cs typeface="Calibri" pitchFamily="34" charset="-120"/>
                        </a:rPr>
                        <a:t>Authorization timeout and duplicate prevention</a:t>
                      </a:r>
                      <a:endParaRPr lang="en-US" sz="1100" dirty="0">
                        <a:latin typeface="Calibri" charset="0"/>
                        <a:ea typeface="Calibri" charset="0"/>
                        <a:cs typeface="Calibri" charset="0"/>
                      </a:endParaRPr>
                    </a:p>
                  </a:txBody>
                  <a:tcPr marL="91440" marR="91440" marT="45720" marB="45720" anchor="t">
                    <a:lnL w="6350" cap="flat" cmpd="sng" algn="ctr">
                      <a:solidFill>
                        <a:srgbClr val="EAE6DC"/>
                      </a:solidFill>
                      <a:prstDash val="solid"/>
                      <a:round/>
                      <a:headEnd type="none" w="med" len="med"/>
                      <a:tailEnd type="none" w="med" len="med"/>
                    </a:lnL>
                    <a:lnR w="6350" cap="flat" cmpd="sng" algn="ctr">
                      <a:solidFill>
                        <a:srgbClr val="EAE6DC"/>
                      </a:solidFill>
                      <a:prstDash val="solid"/>
                      <a:round/>
                      <a:headEnd type="none" w="med" len="med"/>
                      <a:tailEnd type="none" w="med" len="med"/>
                    </a:lnR>
                    <a:lnT w="6350" cap="flat" cmpd="sng" algn="ctr">
                      <a:solidFill>
                        <a:srgbClr val="EAE6DC"/>
                      </a:solidFill>
                      <a:prstDash val="solid"/>
                      <a:round/>
                      <a:headEnd type="none" w="med" len="med"/>
                      <a:tailEnd type="none" w="med" len="med"/>
                    </a:lnT>
                    <a:lnB w="6350" cap="flat" cmpd="sng" algn="ctr">
                      <a:solidFill>
                        <a:srgbClr val="EAE6DC"/>
                      </a:solidFill>
                      <a:prstDash val="solid"/>
                      <a:round/>
                      <a:headEnd type="none" w="med" len="med"/>
                      <a:tailEnd type="none" w="med" len="med"/>
                    </a:lnB>
                  </a:tcPr>
                </a:tc>
                <a:tc>
                  <a:txBody>
                    <a:bodyPr/>
                    <a:lstStyle/>
                    <a:p>
                      <a:pPr algn="ctr" indent="0" marL="0">
                        <a:buNone/>
                      </a:pPr>
                      <a:r>
                        <a:rPr lang="en-US" sz="1100" dirty="0">
                          <a:solidFill>
                            <a:srgbClr val="1A1F2B"/>
                          </a:solidFill>
                          <a:latin typeface="Consolas" pitchFamily="34" charset="0"/>
                          <a:ea typeface="Consolas" pitchFamily="34" charset="-122"/>
                          <a:cs typeface="Consolas" pitchFamily="34" charset="-120"/>
                        </a:rPr>
                        <a:t>09</a:t>
                      </a:r>
                      <a:endParaRPr lang="en-US" sz="1100" dirty="0">
                        <a:latin typeface="Consolas" charset="0"/>
                        <a:ea typeface="Consolas" charset="0"/>
                        <a:cs typeface="Consolas" charset="0"/>
                      </a:endParaRPr>
                    </a:p>
                  </a:txBody>
                  <a:tcPr marL="91440" marR="91440" marT="45720" marB="45720" anchor="t">
                    <a:lnL w="6350" cap="flat" cmpd="sng" algn="ctr">
                      <a:solidFill>
                        <a:srgbClr val="EAE6DC"/>
                      </a:solidFill>
                      <a:prstDash val="solid"/>
                      <a:round/>
                      <a:headEnd type="none" w="med" len="med"/>
                      <a:tailEnd type="none" w="med" len="med"/>
                    </a:lnL>
                    <a:lnR w="6350" cap="flat" cmpd="sng" algn="ctr">
                      <a:solidFill>
                        <a:srgbClr val="EAE6DC"/>
                      </a:solidFill>
                      <a:prstDash val="solid"/>
                      <a:round/>
                      <a:headEnd type="none" w="med" len="med"/>
                      <a:tailEnd type="none" w="med" len="med"/>
                    </a:lnR>
                    <a:lnT w="6350" cap="flat" cmpd="sng" algn="ctr">
                      <a:solidFill>
                        <a:srgbClr val="EAE6DC"/>
                      </a:solidFill>
                      <a:prstDash val="solid"/>
                      <a:round/>
                      <a:headEnd type="none" w="med" len="med"/>
                      <a:tailEnd type="none" w="med" len="med"/>
                    </a:lnT>
                    <a:lnB w="6350" cap="flat" cmpd="sng" algn="ctr">
                      <a:solidFill>
                        <a:srgbClr val="EAE6DC"/>
                      </a:solidFill>
                      <a:prstDash val="solid"/>
                      <a:round/>
                      <a:headEnd type="none" w="med" len="med"/>
                      <a:tailEnd type="none" w="med" len="med"/>
                    </a:lnB>
                  </a:tcPr>
                </a:tc>
                <a:tc>
                  <a:txBody>
                    <a:bodyPr/>
                    <a:lstStyle/>
                    <a:p>
                      <a:pPr indent="0" marL="0">
                        <a:buNone/>
                      </a:pPr>
                      <a:r>
                        <a:rPr lang="en-US" sz="1100" dirty="0">
                          <a:solidFill>
                            <a:srgbClr val="1A1F2B"/>
                          </a:solidFill>
                          <a:latin typeface="Calibri" pitchFamily="34" charset="0"/>
                          <a:ea typeface="Calibri" pitchFamily="34" charset="-122"/>
                          <a:cs typeface="Calibri" pitchFamily="34" charset="-120"/>
                        </a:rPr>
                        <a:t>Attempt stays unresolved until determined; no unsafe automatic retry onto another rail</a:t>
                      </a:r>
                      <a:endParaRPr lang="en-US" sz="1100" dirty="0">
                        <a:latin typeface="Calibri" charset="0"/>
                        <a:ea typeface="Calibri" charset="0"/>
                        <a:cs typeface="Calibri" charset="0"/>
                      </a:endParaRPr>
                    </a:p>
                  </a:txBody>
                  <a:tcPr marL="91440" marR="91440" marT="45720" marB="45720" anchor="t">
                    <a:lnL w="6350" cap="flat" cmpd="sng" algn="ctr">
                      <a:solidFill>
                        <a:srgbClr val="EAE6DC"/>
                      </a:solidFill>
                      <a:prstDash val="solid"/>
                      <a:round/>
                      <a:headEnd type="none" w="med" len="med"/>
                      <a:tailEnd type="none" w="med" len="med"/>
                    </a:lnL>
                    <a:lnR w="6350" cap="flat" cmpd="sng" algn="ctr">
                      <a:solidFill>
                        <a:srgbClr val="EAE6DC"/>
                      </a:solidFill>
                      <a:prstDash val="solid"/>
                      <a:round/>
                      <a:headEnd type="none" w="med" len="med"/>
                      <a:tailEnd type="none" w="med" len="med"/>
                    </a:lnR>
                    <a:lnT w="6350" cap="flat" cmpd="sng" algn="ctr">
                      <a:solidFill>
                        <a:srgbClr val="EAE6DC"/>
                      </a:solidFill>
                      <a:prstDash val="solid"/>
                      <a:round/>
                      <a:headEnd type="none" w="med" len="med"/>
                      <a:tailEnd type="none" w="med" len="med"/>
                    </a:lnT>
                    <a:lnB w="6350" cap="flat" cmpd="sng" algn="ctr">
                      <a:solidFill>
                        <a:srgbClr val="EAE6DC"/>
                      </a:solidFill>
                      <a:prstDash val="solid"/>
                      <a:round/>
                      <a:headEnd type="none" w="med" len="med"/>
                      <a:tailEnd type="none" w="med" len="med"/>
                    </a:lnB>
                  </a:tcPr>
                </a:tc>
              </a:tr>
              <a:tr h="347472">
                <a:tc>
                  <a:txBody>
                    <a:bodyPr/>
                    <a:lstStyle/>
                    <a:p>
                      <a:pPr indent="0" marL="0">
                        <a:buNone/>
                      </a:pPr>
                      <a:r>
                        <a:rPr lang="en-US" sz="1100" b="1" dirty="0">
                          <a:solidFill>
                            <a:srgbClr val="1A1F2B"/>
                          </a:solidFill>
                          <a:latin typeface="Calibri" pitchFamily="34" charset="0"/>
                          <a:ea typeface="Calibri" pitchFamily="34" charset="-122"/>
                          <a:cs typeface="Calibri" pitchFamily="34" charset="-120"/>
                        </a:rPr>
                        <a:t>Credential replacement between attempts</a:t>
                      </a:r>
                      <a:endParaRPr lang="en-US" sz="1100" dirty="0">
                        <a:latin typeface="Calibri" charset="0"/>
                        <a:ea typeface="Calibri" charset="0"/>
                        <a:cs typeface="Calibri" charset="0"/>
                      </a:endParaRPr>
                    </a:p>
                  </a:txBody>
                  <a:tcPr marL="91440" marR="91440" marT="45720" marB="45720" anchor="t">
                    <a:lnL w="6350" cap="flat" cmpd="sng" algn="ctr">
                      <a:solidFill>
                        <a:srgbClr val="EAE6DC"/>
                      </a:solidFill>
                      <a:prstDash val="solid"/>
                      <a:round/>
                      <a:headEnd type="none" w="med" len="med"/>
                      <a:tailEnd type="none" w="med" len="med"/>
                    </a:lnL>
                    <a:lnR w="6350" cap="flat" cmpd="sng" algn="ctr">
                      <a:solidFill>
                        <a:srgbClr val="EAE6DC"/>
                      </a:solidFill>
                      <a:prstDash val="solid"/>
                      <a:round/>
                      <a:headEnd type="none" w="med" len="med"/>
                      <a:tailEnd type="none" w="med" len="med"/>
                    </a:lnR>
                    <a:lnT w="6350" cap="flat" cmpd="sng" algn="ctr">
                      <a:solidFill>
                        <a:srgbClr val="EAE6DC"/>
                      </a:solidFill>
                      <a:prstDash val="solid"/>
                      <a:round/>
                      <a:headEnd type="none" w="med" len="med"/>
                      <a:tailEnd type="none" w="med" len="med"/>
                    </a:lnT>
                    <a:lnB w="6350" cap="flat" cmpd="sng" algn="ctr">
                      <a:solidFill>
                        <a:srgbClr val="EAE6DC"/>
                      </a:solidFill>
                      <a:prstDash val="solid"/>
                      <a:round/>
                      <a:headEnd type="none" w="med" len="med"/>
                      <a:tailEnd type="none" w="med" len="med"/>
                    </a:lnB>
                  </a:tcPr>
                </a:tc>
                <a:tc>
                  <a:txBody>
                    <a:bodyPr/>
                    <a:lstStyle/>
                    <a:p>
                      <a:pPr algn="ctr" indent="0" marL="0">
                        <a:buNone/>
                      </a:pPr>
                      <a:r>
                        <a:rPr lang="en-US" sz="1100" dirty="0">
                          <a:solidFill>
                            <a:srgbClr val="1A1F2B"/>
                          </a:solidFill>
                          <a:latin typeface="Consolas" pitchFamily="34" charset="0"/>
                          <a:ea typeface="Consolas" pitchFamily="34" charset="-122"/>
                          <a:cs typeface="Consolas" pitchFamily="34" charset="-120"/>
                        </a:rPr>
                        <a:t>10</a:t>
                      </a:r>
                      <a:endParaRPr lang="en-US" sz="1100" dirty="0">
                        <a:latin typeface="Consolas" charset="0"/>
                        <a:ea typeface="Consolas" charset="0"/>
                        <a:cs typeface="Consolas" charset="0"/>
                      </a:endParaRPr>
                    </a:p>
                  </a:txBody>
                  <a:tcPr marL="91440" marR="91440" marT="45720" marB="45720" anchor="t">
                    <a:lnL w="6350" cap="flat" cmpd="sng" algn="ctr">
                      <a:solidFill>
                        <a:srgbClr val="EAE6DC"/>
                      </a:solidFill>
                      <a:prstDash val="solid"/>
                      <a:round/>
                      <a:headEnd type="none" w="med" len="med"/>
                      <a:tailEnd type="none" w="med" len="med"/>
                    </a:lnL>
                    <a:lnR w="6350" cap="flat" cmpd="sng" algn="ctr">
                      <a:solidFill>
                        <a:srgbClr val="EAE6DC"/>
                      </a:solidFill>
                      <a:prstDash val="solid"/>
                      <a:round/>
                      <a:headEnd type="none" w="med" len="med"/>
                      <a:tailEnd type="none" w="med" len="med"/>
                    </a:lnR>
                    <a:lnT w="6350" cap="flat" cmpd="sng" algn="ctr">
                      <a:solidFill>
                        <a:srgbClr val="EAE6DC"/>
                      </a:solidFill>
                      <a:prstDash val="solid"/>
                      <a:round/>
                      <a:headEnd type="none" w="med" len="med"/>
                      <a:tailEnd type="none" w="med" len="med"/>
                    </a:lnT>
                    <a:lnB w="6350" cap="flat" cmpd="sng" algn="ctr">
                      <a:solidFill>
                        <a:srgbClr val="EAE6DC"/>
                      </a:solidFill>
                      <a:prstDash val="solid"/>
                      <a:round/>
                      <a:headEnd type="none" w="med" len="med"/>
                      <a:tailEnd type="none" w="med" len="med"/>
                    </a:lnB>
                  </a:tcPr>
                </a:tc>
                <a:tc>
                  <a:txBody>
                    <a:bodyPr/>
                    <a:lstStyle/>
                    <a:p>
                      <a:pPr indent="0" marL="0">
                        <a:buNone/>
                      </a:pPr>
                      <a:r>
                        <a:rPr lang="en-US" sz="1100" dirty="0">
                          <a:solidFill>
                            <a:srgbClr val="1A1F2B"/>
                          </a:solidFill>
                          <a:latin typeface="Calibri" pitchFamily="34" charset="0"/>
                          <a:ea typeface="Calibri" pitchFamily="34" charset="-122"/>
                          <a:cs typeface="Calibri" pitchFamily="34" charset="-120"/>
                        </a:rPr>
                        <a:t>Same Intent if the objective is unchanged; each Attempt records the credential actually used</a:t>
                      </a:r>
                      <a:endParaRPr lang="en-US" sz="1100" dirty="0">
                        <a:latin typeface="Calibri" charset="0"/>
                        <a:ea typeface="Calibri" charset="0"/>
                        <a:cs typeface="Calibri" charset="0"/>
                      </a:endParaRPr>
                    </a:p>
                  </a:txBody>
                  <a:tcPr marL="91440" marR="91440" marT="45720" marB="45720" anchor="t">
                    <a:lnL w="6350" cap="flat" cmpd="sng" algn="ctr">
                      <a:solidFill>
                        <a:srgbClr val="EAE6DC"/>
                      </a:solidFill>
                      <a:prstDash val="solid"/>
                      <a:round/>
                      <a:headEnd type="none" w="med" len="med"/>
                      <a:tailEnd type="none" w="med" len="med"/>
                    </a:lnL>
                    <a:lnR w="6350" cap="flat" cmpd="sng" algn="ctr">
                      <a:solidFill>
                        <a:srgbClr val="EAE6DC"/>
                      </a:solidFill>
                      <a:prstDash val="solid"/>
                      <a:round/>
                      <a:headEnd type="none" w="med" len="med"/>
                      <a:tailEnd type="none" w="med" len="med"/>
                    </a:lnR>
                    <a:lnT w="6350" cap="flat" cmpd="sng" algn="ctr">
                      <a:solidFill>
                        <a:srgbClr val="EAE6DC"/>
                      </a:solidFill>
                      <a:prstDash val="solid"/>
                      <a:round/>
                      <a:headEnd type="none" w="med" len="med"/>
                      <a:tailEnd type="none" w="med" len="med"/>
                    </a:lnT>
                    <a:lnB w="6350" cap="flat" cmpd="sng" algn="ctr">
                      <a:solidFill>
                        <a:srgbClr val="EAE6DC"/>
                      </a:solidFill>
                      <a:prstDash val="solid"/>
                      <a:round/>
                      <a:headEnd type="none" w="med" len="med"/>
                      <a:tailEnd type="none" w="med" len="med"/>
                    </a:lnB>
                  </a:tcPr>
                </a:tc>
              </a:tr>
              <a:tr h="347472">
                <a:tc>
                  <a:txBody>
                    <a:bodyPr/>
                    <a:lstStyle/>
                    <a:p>
                      <a:pPr indent="0" marL="0">
                        <a:buNone/>
                      </a:pPr>
                      <a:r>
                        <a:rPr lang="en-US" sz="1100" b="1" dirty="0">
                          <a:solidFill>
                            <a:srgbClr val="1A1F2B"/>
                          </a:solidFill>
                          <a:latin typeface="Calibri" pitchFamily="34" charset="0"/>
                          <a:ea typeface="Calibri" pitchFamily="34" charset="-122"/>
                          <a:cs typeface="Calibri" pitchFamily="34" charset="-120"/>
                        </a:rPr>
                        <a:t>Orders with multiple tenders or collection obligations</a:t>
                      </a:r>
                      <a:endParaRPr lang="en-US" sz="1100" dirty="0">
                        <a:latin typeface="Calibri" charset="0"/>
                        <a:ea typeface="Calibri" charset="0"/>
                        <a:cs typeface="Calibri" charset="0"/>
                      </a:endParaRPr>
                    </a:p>
                  </a:txBody>
                  <a:tcPr marL="91440" marR="91440" marT="45720" marB="45720" anchor="t">
                    <a:lnL w="6350" cap="flat" cmpd="sng" algn="ctr">
                      <a:solidFill>
                        <a:srgbClr val="EAE6DC"/>
                      </a:solidFill>
                      <a:prstDash val="solid"/>
                      <a:round/>
                      <a:headEnd type="none" w="med" len="med"/>
                      <a:tailEnd type="none" w="med" len="med"/>
                    </a:lnL>
                    <a:lnR w="6350" cap="flat" cmpd="sng" algn="ctr">
                      <a:solidFill>
                        <a:srgbClr val="EAE6DC"/>
                      </a:solidFill>
                      <a:prstDash val="solid"/>
                      <a:round/>
                      <a:headEnd type="none" w="med" len="med"/>
                      <a:tailEnd type="none" w="med" len="med"/>
                    </a:lnR>
                    <a:lnT w="6350" cap="flat" cmpd="sng" algn="ctr">
                      <a:solidFill>
                        <a:srgbClr val="EAE6DC"/>
                      </a:solidFill>
                      <a:prstDash val="solid"/>
                      <a:round/>
                      <a:headEnd type="none" w="med" len="med"/>
                      <a:tailEnd type="none" w="med" len="med"/>
                    </a:lnT>
                    <a:lnB w="6350" cap="flat" cmpd="sng" algn="ctr">
                      <a:solidFill>
                        <a:srgbClr val="EAE6DC"/>
                      </a:solidFill>
                      <a:prstDash val="solid"/>
                      <a:round/>
                      <a:headEnd type="none" w="med" len="med"/>
                      <a:tailEnd type="none" w="med" len="med"/>
                    </a:lnB>
                  </a:tcPr>
                </a:tc>
                <a:tc>
                  <a:txBody>
                    <a:bodyPr/>
                    <a:lstStyle/>
                    <a:p>
                      <a:pPr algn="ctr" indent="0" marL="0">
                        <a:buNone/>
                      </a:pPr>
                      <a:r>
                        <a:rPr lang="en-US" sz="1100" dirty="0">
                          <a:solidFill>
                            <a:srgbClr val="1A1F2B"/>
                          </a:solidFill>
                          <a:latin typeface="Consolas" pitchFamily="34" charset="0"/>
                          <a:ea typeface="Consolas" pitchFamily="34" charset="-122"/>
                          <a:cs typeface="Consolas" pitchFamily="34" charset="-120"/>
                        </a:rPr>
                        <a:t>11</a:t>
                      </a:r>
                      <a:endParaRPr lang="en-US" sz="1100" dirty="0">
                        <a:latin typeface="Consolas" charset="0"/>
                        <a:ea typeface="Consolas" charset="0"/>
                        <a:cs typeface="Consolas" charset="0"/>
                      </a:endParaRPr>
                    </a:p>
                  </a:txBody>
                  <a:tcPr marL="91440" marR="91440" marT="45720" marB="45720" anchor="t">
                    <a:lnL w="6350" cap="flat" cmpd="sng" algn="ctr">
                      <a:solidFill>
                        <a:srgbClr val="EAE6DC"/>
                      </a:solidFill>
                      <a:prstDash val="solid"/>
                      <a:round/>
                      <a:headEnd type="none" w="med" len="med"/>
                      <a:tailEnd type="none" w="med" len="med"/>
                    </a:lnL>
                    <a:lnR w="6350" cap="flat" cmpd="sng" algn="ctr">
                      <a:solidFill>
                        <a:srgbClr val="EAE6DC"/>
                      </a:solidFill>
                      <a:prstDash val="solid"/>
                      <a:round/>
                      <a:headEnd type="none" w="med" len="med"/>
                      <a:tailEnd type="none" w="med" len="med"/>
                    </a:lnR>
                    <a:lnT w="6350" cap="flat" cmpd="sng" algn="ctr">
                      <a:solidFill>
                        <a:srgbClr val="EAE6DC"/>
                      </a:solidFill>
                      <a:prstDash val="solid"/>
                      <a:round/>
                      <a:headEnd type="none" w="med" len="med"/>
                      <a:tailEnd type="none" w="med" len="med"/>
                    </a:lnT>
                    <a:lnB w="6350" cap="flat" cmpd="sng" algn="ctr">
                      <a:solidFill>
                        <a:srgbClr val="EAE6DC"/>
                      </a:solidFill>
                      <a:prstDash val="solid"/>
                      <a:round/>
                      <a:headEnd type="none" w="med" len="med"/>
                      <a:tailEnd type="none" w="med" len="med"/>
                    </a:lnB>
                  </a:tcPr>
                </a:tc>
                <a:tc>
                  <a:txBody>
                    <a:bodyPr/>
                    <a:lstStyle/>
                    <a:p>
                      <a:pPr indent="0" marL="0">
                        <a:buNone/>
                      </a:pPr>
                      <a:r>
                        <a:rPr lang="en-US" sz="1100" dirty="0">
                          <a:solidFill>
                            <a:srgbClr val="1A1F2B"/>
                          </a:solidFill>
                          <a:latin typeface="Calibri" pitchFamily="34" charset="0"/>
                          <a:ea typeface="Calibri" pitchFamily="34" charset="-122"/>
                          <a:cs typeface="Calibri" pitchFamily="34" charset="-120"/>
                        </a:rPr>
                        <a:t>Order coordinates the purchase; separate Intents manage independently executed obligations</a:t>
                      </a:r>
                      <a:endParaRPr lang="en-US" sz="1100" dirty="0">
                        <a:latin typeface="Calibri" charset="0"/>
                        <a:ea typeface="Calibri" charset="0"/>
                        <a:cs typeface="Calibri" charset="0"/>
                      </a:endParaRPr>
                    </a:p>
                  </a:txBody>
                  <a:tcPr marL="91440" marR="91440" marT="45720" marB="45720" anchor="t">
                    <a:lnL w="6350" cap="flat" cmpd="sng" algn="ctr">
                      <a:solidFill>
                        <a:srgbClr val="EAE6DC"/>
                      </a:solidFill>
                      <a:prstDash val="solid"/>
                      <a:round/>
                      <a:headEnd type="none" w="med" len="med"/>
                      <a:tailEnd type="none" w="med" len="med"/>
                    </a:lnL>
                    <a:lnR w="6350" cap="flat" cmpd="sng" algn="ctr">
                      <a:solidFill>
                        <a:srgbClr val="EAE6DC"/>
                      </a:solidFill>
                      <a:prstDash val="solid"/>
                      <a:round/>
                      <a:headEnd type="none" w="med" len="med"/>
                      <a:tailEnd type="none" w="med" len="med"/>
                    </a:lnR>
                    <a:lnT w="6350" cap="flat" cmpd="sng" algn="ctr">
                      <a:solidFill>
                        <a:srgbClr val="EAE6DC"/>
                      </a:solidFill>
                      <a:prstDash val="solid"/>
                      <a:round/>
                      <a:headEnd type="none" w="med" len="med"/>
                      <a:tailEnd type="none" w="med" len="med"/>
                    </a:lnT>
                    <a:lnB w="6350" cap="flat" cmpd="sng" algn="ctr">
                      <a:solidFill>
                        <a:srgbClr val="EAE6DC"/>
                      </a:solidFill>
                      <a:prstDash val="solid"/>
                      <a:round/>
                      <a:headEnd type="none" w="med" len="med"/>
                      <a:tailEnd type="none" w="med" len="med"/>
                    </a:lnB>
                  </a:tcPr>
                </a:tc>
              </a:tr>
            </a:tbl>
          </a:graphicData>
        </a:graphic>
      </p:graphicFrame>
      <p:sp>
        <p:nvSpPr>
          <p:cNvPr id="7" name="takeaway"/>
          <p:cNvSpPr/>
          <p:nvPr/>
        </p:nvSpPr>
        <p:spPr>
          <a:xfrm>
            <a:off x="475488" y="5541264"/>
            <a:ext cx="11240719" cy="768096"/>
          </a:xfrm>
          <a:prstGeom prst="rect">
            <a:avLst/>
          </a:prstGeom>
          <a:solidFill>
            <a:srgbClr val="0F1A2B"/>
          </a:solidFill>
          <a:ln w="12700">
            <a:solidFill>
              <a:srgbClr val="333333"/>
            </a:solidFill>
            <a:prstDash val="solid"/>
          </a:ln>
        </p:spPr>
      </p:sp>
      <p:sp>
        <p:nvSpPr>
          <p:cNvPr id="8" name="Text 5"/>
          <p:cNvSpPr txBox="1"/>
          <p:nvPr/>
        </p:nvSpPr>
        <p:spPr>
          <a:xfrm>
            <a:off x="640080" y="5623560"/>
            <a:ext cx="10911535" cy="182880"/>
          </a:xfrm>
          <a:prstGeom prst="rect">
            <a:avLst/>
          </a:prstGeom>
          <a:noFill/>
          <a:ln/>
        </p:spPr>
        <p:txBody>
          <a:bodyPr wrap="square" lIns="0" tIns="0" rIns="0" bIns="0" rtlCol="0" anchor="ctr"/>
          <a:lstStyle/>
          <a:p>
            <a:pPr indent="0" marL="0">
              <a:buNone/>
            </a:pPr>
            <a:r>
              <a:rPr lang="en-US" sz="900" spc="160" kern="0" dirty="0">
                <a:solidFill>
                  <a:srgbClr val="D9A03C"/>
                </a:solidFill>
                <a:latin typeface="Consolas" pitchFamily="34" charset="0"/>
                <a:ea typeface="Consolas" pitchFamily="34" charset="-122"/>
                <a:cs typeface="Consolas" pitchFamily="34" charset="-120"/>
              </a:rPr>
              <a:t>THE RECOMMENDATION IN ONE LINE</a:t>
            </a:r>
            <a:endParaRPr lang="en-US" sz="900" dirty="0"/>
          </a:p>
        </p:txBody>
      </p:sp>
      <p:sp>
        <p:nvSpPr>
          <p:cNvPr id="9" name="Text 6"/>
          <p:cNvSpPr txBox="1"/>
          <p:nvPr/>
        </p:nvSpPr>
        <p:spPr>
          <a:xfrm>
            <a:off x="640080" y="5815584"/>
            <a:ext cx="10911535" cy="438912"/>
          </a:xfrm>
          <a:prstGeom prst="rect">
            <a:avLst/>
          </a:prstGeom>
          <a:noFill/>
          <a:ln/>
        </p:spPr>
        <p:txBody>
          <a:bodyPr wrap="square" lIns="0" tIns="0" rIns="0" bIns="0" rtlCol="0" anchor="t"/>
          <a:lstStyle/>
          <a:p>
            <a:pPr indent="0" marL="0">
              <a:buNone/>
            </a:pPr>
            <a:r>
              <a:rPr lang="en-US" sz="1150" dirty="0">
                <a:solidFill>
                  <a:srgbClr val="F2EEE4"/>
                </a:solidFill>
              </a:rPr>
              <a:t>Make the </a:t>
            </a:r>
            <a:pPr indent="0" marL="0">
              <a:buNone/>
            </a:pPr>
            <a:r>
              <a:rPr lang="en-US" sz="1150" b="1" dirty="0">
                <a:solidFill>
                  <a:srgbClr val="E8D9B4"/>
                </a:solidFill>
              </a:rPr>
              <a:t>Payment Intent</a:t>
            </a:r>
            <a:pPr indent="0" marL="0">
              <a:buNone/>
            </a:pPr>
            <a:r>
              <a:rPr lang="en-US" sz="1150" dirty="0">
                <a:solidFill>
                  <a:srgbClr val="F2EEE4"/>
                </a:solidFill>
              </a:rPr>
              <a:t> the durable collection state machine, the </a:t>
            </a:r>
            <a:pPr indent="0" marL="0">
              <a:buNone/>
            </a:pPr>
            <a:r>
              <a:rPr lang="en-US" sz="1150" b="1" dirty="0">
                <a:solidFill>
                  <a:srgbClr val="E8D9B4"/>
                </a:solidFill>
              </a:rPr>
              <a:t>Payment Attempt</a:t>
            </a:r>
            <a:pPr indent="0" marL="0">
              <a:buNone/>
            </a:pPr>
            <a:r>
              <a:rPr lang="en-US" sz="1150" dirty="0">
                <a:solidFill>
                  <a:srgbClr val="F2EEE4"/>
                </a:solidFill>
              </a:rPr>
              <a:t> the auditable execution record, and </a:t>
            </a:r>
            <a:pPr indent="0" marL="0">
              <a:buNone/>
            </a:pPr>
            <a:r>
              <a:rPr lang="en-US" sz="1150" b="1" dirty="0">
                <a:solidFill>
                  <a:srgbClr val="E8D9B4"/>
                </a:solidFill>
              </a:rPr>
              <a:t>Authorization, Capture and Refund</a:t>
            </a:r>
            <a:pPr indent="0" marL="0">
              <a:buNone/>
            </a:pPr>
            <a:r>
              <a:rPr lang="en-US" sz="1150" dirty="0">
                <a:solidFill>
                  <a:srgbClr val="F2EEE4"/>
                </a:solidFill>
              </a:rPr>
              <a:t> separate financial-operation records.</a:t>
            </a:r>
            <a:endParaRPr lang="en-US" sz="1150" dirty="0"/>
          </a:p>
        </p:txBody>
      </p:sp>
      <p:sp>
        <p:nvSpPr>
          <p:cNvPr id="25" name="Slide Number Placeholder 0"/>
          <p:cNvSpPr>
            <a:spLocks noGrp="1"/>
          </p:cNvSpPr>
          <p:nvPr>
            <p:ph type="sldNum" sz="quarter" idx="4294967295"/>
          </p:nvPr>
        </p:nvSpPr>
        <p:spPr>
          <a:xfrm>
            <a:off x="11430000" y="6419088"/>
            <a:ext cx="36576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9AA2AE"/>
                </a:solidFill>
                <a:latin typeface="Consolas"/>
                <a:ea typeface="Consolas"/>
                <a:cs typeface="Consolas"/>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475488" y="310896"/>
            <a:ext cx="11240719" cy="219456"/>
          </a:xfrm>
          <a:prstGeom prst="rect">
            <a:avLst/>
          </a:prstGeom>
          <a:noFill/>
          <a:ln/>
        </p:spPr>
        <p:txBody>
          <a:bodyPr wrap="square" lIns="0" tIns="0" rIns="0" bIns="0" rtlCol="0" anchor="ctr"/>
          <a:lstStyle/>
          <a:p>
            <a:pPr indent="0" marL="0">
              <a:buNone/>
            </a:pPr>
            <a:r>
              <a:rPr lang="en-US" sz="1050" spc="240" kern="0" dirty="0">
                <a:solidFill>
                  <a:srgbClr val="B8892F"/>
                </a:solidFill>
                <a:latin typeface="Consolas" pitchFamily="34" charset="0"/>
                <a:ea typeface="Consolas" pitchFamily="34" charset="-122"/>
                <a:cs typeface="Consolas" pitchFamily="34" charset="-120"/>
              </a:rPr>
              <a:t>HONEST ACCOUNTING</a:t>
            </a:r>
            <a:endParaRPr lang="en-US" sz="1050" dirty="0"/>
          </a:p>
        </p:txBody>
      </p:sp>
      <p:sp>
        <p:nvSpPr>
          <p:cNvPr id="3" name="Text 1"/>
          <p:cNvSpPr txBox="1"/>
          <p:nvPr/>
        </p:nvSpPr>
        <p:spPr>
          <a:xfrm>
            <a:off x="475488" y="548640"/>
            <a:ext cx="11240719" cy="566928"/>
          </a:xfrm>
          <a:prstGeom prst="rect">
            <a:avLst/>
          </a:prstGeom>
          <a:noFill/>
          <a:ln/>
        </p:spPr>
        <p:txBody>
          <a:bodyPr wrap="square" lIns="0" tIns="0" rIns="0" bIns="0" rtlCol="0" anchor="t"/>
          <a:lstStyle/>
          <a:p>
            <a:pPr indent="0" marL="0">
              <a:buNone/>
            </a:pPr>
            <a:r>
              <a:rPr lang="en-US" sz="3000" b="1" dirty="0">
                <a:solidFill>
                  <a:srgbClr val="0F1A2B"/>
                </a:solidFill>
                <a:latin typeface="Cambria" pitchFamily="34" charset="0"/>
                <a:ea typeface="Cambria" pitchFamily="34" charset="-122"/>
                <a:cs typeface="Cambria" pitchFamily="34" charset="-120"/>
              </a:rPr>
              <a:t>Three places this revises our existing model</a:t>
            </a:r>
            <a:endParaRPr lang="en-US" sz="3000" dirty="0"/>
          </a:p>
        </p:txBody>
      </p:sp>
      <p:sp>
        <p:nvSpPr>
          <p:cNvPr id="4" name="Text 2"/>
          <p:cNvSpPr txBox="1"/>
          <p:nvPr/>
        </p:nvSpPr>
        <p:spPr>
          <a:xfrm>
            <a:off x="475488" y="1188720"/>
            <a:ext cx="11240719" cy="475488"/>
          </a:xfrm>
          <a:prstGeom prst="rect">
            <a:avLst/>
          </a:prstGeom>
          <a:noFill/>
          <a:ln/>
        </p:spPr>
        <p:txBody>
          <a:bodyPr wrap="square" lIns="0" tIns="0" rIns="0" bIns="0" rtlCol="0" anchor="t"/>
          <a:lstStyle/>
          <a:p>
            <a:pPr indent="0" marL="0">
              <a:buNone/>
            </a:pPr>
            <a:r>
              <a:rPr lang="en-US" sz="1250" dirty="0">
                <a:solidFill>
                  <a:srgbClr val="414A5C"/>
                </a:solidFill>
              </a:rPr>
              <a:t>Recorded explicitly, because a design note that quietly changes position is worse than one that never took a position.</a:t>
            </a:r>
            <a:endParaRPr lang="en-US" sz="1250" dirty="0"/>
          </a:p>
        </p:txBody>
      </p:sp>
      <p:sp>
        <p:nvSpPr>
          <p:cNvPr id="5" name="Shape 3"/>
          <p:cNvSpPr/>
          <p:nvPr/>
        </p:nvSpPr>
        <p:spPr>
          <a:xfrm>
            <a:off x="475488" y="1737360"/>
            <a:ext cx="11240719" cy="22860"/>
          </a:xfrm>
          <a:prstGeom prst="rect">
            <a:avLst/>
          </a:prstGeom>
          <a:solidFill>
            <a:srgbClr val="B8892F"/>
          </a:solidFill>
          <a:ln w="12700">
            <a:solidFill>
              <a:srgbClr val="B8892F"/>
            </a:solidFill>
            <a:prstDash val="solid"/>
          </a:ln>
        </p:spPr>
      </p:sp>
      <p:sp>
        <p:nvSpPr>
          <p:cNvPr id="6" name="card-A capture is not an Attempt with an operation field"/>
          <p:cNvSpPr/>
          <p:nvPr/>
        </p:nvSpPr>
        <p:spPr>
          <a:xfrm>
            <a:off x="475488" y="1920240"/>
            <a:ext cx="11240719" cy="1207008"/>
          </a:xfrm>
          <a:prstGeom prst="rect">
            <a:avLst/>
          </a:prstGeom>
          <a:solidFill>
            <a:srgbClr val="FBEEEE"/>
          </a:solidFill>
          <a:ln w="6350">
            <a:solidFill>
              <a:srgbClr val="DCD7CB"/>
            </a:solidFill>
            <a:prstDash val="solid"/>
          </a:ln>
        </p:spPr>
      </p:sp>
      <p:sp>
        <p:nvSpPr>
          <p:cNvPr id="7" name="Text 5"/>
          <p:cNvSpPr txBox="1"/>
          <p:nvPr/>
        </p:nvSpPr>
        <p:spPr>
          <a:xfrm>
            <a:off x="603504" y="2020824"/>
            <a:ext cx="10984687" cy="182880"/>
          </a:xfrm>
          <a:prstGeom prst="rect">
            <a:avLst/>
          </a:prstGeom>
          <a:noFill/>
          <a:ln/>
        </p:spPr>
        <p:txBody>
          <a:bodyPr wrap="square" lIns="0" tIns="0" rIns="0" bIns="0" rtlCol="0" anchor="ctr"/>
          <a:lstStyle/>
          <a:p>
            <a:pPr indent="0" marL="0">
              <a:buNone/>
            </a:pPr>
            <a:r>
              <a:rPr lang="en-US" sz="900" spc="140" kern="0" dirty="0">
                <a:solidFill>
                  <a:srgbClr val="9B2C2C"/>
                </a:solidFill>
                <a:latin typeface="Consolas" pitchFamily="34" charset="0"/>
                <a:ea typeface="Consolas" pitchFamily="34" charset="-122"/>
                <a:cs typeface="Consolas" pitchFamily="34" charset="-120"/>
              </a:rPr>
              <a:t>CORRECTION — SLIDE 8</a:t>
            </a:r>
            <a:endParaRPr lang="en-US" sz="900" dirty="0"/>
          </a:p>
        </p:txBody>
      </p:sp>
      <p:sp>
        <p:nvSpPr>
          <p:cNvPr id="8" name="Text 6"/>
          <p:cNvSpPr txBox="1"/>
          <p:nvPr/>
        </p:nvSpPr>
        <p:spPr>
          <a:xfrm>
            <a:off x="603504" y="2212848"/>
            <a:ext cx="10984687" cy="256032"/>
          </a:xfrm>
          <a:prstGeom prst="rect">
            <a:avLst/>
          </a:prstGeom>
          <a:noFill/>
          <a:ln/>
        </p:spPr>
        <p:txBody>
          <a:bodyPr wrap="square" lIns="0" tIns="0" rIns="0" bIns="0" rtlCol="0" anchor="ctr"/>
          <a:lstStyle/>
          <a:p>
            <a:pPr indent="0" marL="0">
              <a:buNone/>
            </a:pPr>
            <a:r>
              <a:rPr lang="en-US" sz="1450" b="1" dirty="0">
                <a:solidFill>
                  <a:srgbClr val="0F1A2B"/>
                </a:solidFill>
                <a:latin typeface="Cambria" pitchFamily="34" charset="0"/>
                <a:ea typeface="Cambria" pitchFamily="34" charset="-122"/>
                <a:cs typeface="Cambria" pitchFamily="34" charset="-120"/>
              </a:rPr>
              <a:t>A capture is not an Attempt with an operation field</a:t>
            </a:r>
            <a:endParaRPr lang="en-US" sz="1450" dirty="0"/>
          </a:p>
        </p:txBody>
      </p:sp>
      <p:sp>
        <p:nvSpPr>
          <p:cNvPr id="9" name="Text 7"/>
          <p:cNvSpPr txBox="1"/>
          <p:nvPr/>
        </p:nvSpPr>
        <p:spPr>
          <a:xfrm>
            <a:off x="603504" y="2496312"/>
            <a:ext cx="10984687" cy="539496"/>
          </a:xfrm>
          <a:prstGeom prst="rect">
            <a:avLst/>
          </a:prstGeom>
          <a:noFill/>
          <a:ln/>
        </p:spPr>
        <p:txBody>
          <a:bodyPr wrap="square" lIns="0" tIns="0" rIns="0" bIns="0" rtlCol="0" anchor="t"/>
          <a:lstStyle/>
          <a:p>
            <a:pPr indent="0" marL="0">
              <a:buNone/>
            </a:pPr>
            <a:r>
              <a:rPr lang="en-US" sz="1100" dirty="0">
                <a:solidFill>
                  <a:srgbClr val="1A1F2B"/>
                </a:solidFill>
              </a:rPr>
              <a:t>The state-propagation note modelled captures, refunds and increments as attempts carrying an operation value. </a:t>
            </a:r>
            <a:pPr indent="0" marL="0">
              <a:buNone/>
            </a:pPr>
            <a:r>
              <a:rPr lang="en-US" sz="1100" b="1" dirty="0">
                <a:solidFill>
                  <a:srgbClr val="1A1F2B"/>
                </a:solidFill>
              </a:rPr>
              <a:t>That was the weaker position and it is withdrawn here.</a:t>
            </a:r>
            <a:pPr indent="0" marL="0">
              <a:buNone/>
            </a:pPr>
            <a:r>
              <a:rPr lang="en-US" sz="1100" dirty="0">
                <a:solidFill>
                  <a:srgbClr val="1A1F2B"/>
                </a:solidFill>
              </a:rPr>
              <a:t> The giveaway was already visible in that note: only authorize executions were subject to retry policy. A field whose value changes which rules apply is two types sharing one name.</a:t>
            </a:r>
            <a:endParaRPr lang="en-US" sz="1100" dirty="0"/>
          </a:p>
        </p:txBody>
      </p:sp>
      <p:sp>
        <p:nvSpPr>
          <p:cNvPr id="10" name="card-The orchestration decision becomes a first-class record"/>
          <p:cNvSpPr/>
          <p:nvPr/>
        </p:nvSpPr>
        <p:spPr>
          <a:xfrm>
            <a:off x="475488" y="3236976"/>
            <a:ext cx="11240719" cy="1078992"/>
          </a:xfrm>
          <a:prstGeom prst="rect">
            <a:avLst/>
          </a:prstGeom>
          <a:solidFill>
            <a:srgbClr val="FAF4E6"/>
          </a:solidFill>
          <a:ln w="6350">
            <a:solidFill>
              <a:srgbClr val="DCD7CB"/>
            </a:solidFill>
            <a:prstDash val="solid"/>
          </a:ln>
        </p:spPr>
      </p:sp>
      <p:sp>
        <p:nvSpPr>
          <p:cNvPr id="11" name="Text 9"/>
          <p:cNvSpPr txBox="1"/>
          <p:nvPr/>
        </p:nvSpPr>
        <p:spPr>
          <a:xfrm>
            <a:off x="603504" y="3337560"/>
            <a:ext cx="10984687" cy="182880"/>
          </a:xfrm>
          <a:prstGeom prst="rect">
            <a:avLst/>
          </a:prstGeom>
          <a:noFill/>
          <a:ln/>
        </p:spPr>
        <p:txBody>
          <a:bodyPr wrap="square" lIns="0" tIns="0" rIns="0" bIns="0" rtlCol="0" anchor="ctr"/>
          <a:lstStyle/>
          <a:p>
            <a:pPr indent="0" marL="0">
              <a:buNone/>
            </a:pPr>
            <a:r>
              <a:rPr lang="en-US" sz="900" spc="140" kern="0" dirty="0">
                <a:solidFill>
                  <a:srgbClr val="B8892F"/>
                </a:solidFill>
                <a:latin typeface="Consolas" pitchFamily="34" charset="0"/>
                <a:ea typeface="Consolas" pitchFamily="34" charset="-122"/>
                <a:cs typeface="Consolas" pitchFamily="34" charset="-120"/>
              </a:rPr>
              <a:t>ADDITION — SLIDES 5 AND 7</a:t>
            </a:r>
            <a:endParaRPr lang="en-US" sz="900" dirty="0"/>
          </a:p>
        </p:txBody>
      </p:sp>
      <p:sp>
        <p:nvSpPr>
          <p:cNvPr id="12" name="Text 10"/>
          <p:cNvSpPr txBox="1"/>
          <p:nvPr/>
        </p:nvSpPr>
        <p:spPr>
          <a:xfrm>
            <a:off x="603504" y="3529584"/>
            <a:ext cx="10984687" cy="256032"/>
          </a:xfrm>
          <a:prstGeom prst="rect">
            <a:avLst/>
          </a:prstGeom>
          <a:noFill/>
          <a:ln/>
        </p:spPr>
        <p:txBody>
          <a:bodyPr wrap="square" lIns="0" tIns="0" rIns="0" bIns="0" rtlCol="0" anchor="ctr"/>
          <a:lstStyle/>
          <a:p>
            <a:pPr indent="0" marL="0">
              <a:buNone/>
            </a:pPr>
            <a:r>
              <a:rPr lang="en-US" sz="1450" b="1" dirty="0">
                <a:solidFill>
                  <a:srgbClr val="0F1A2B"/>
                </a:solidFill>
                <a:latin typeface="Cambria" pitchFamily="34" charset="0"/>
                <a:ea typeface="Cambria" pitchFamily="34" charset="-122"/>
                <a:cs typeface="Cambria" pitchFamily="34" charset="-120"/>
              </a:rPr>
              <a:t>The orchestration decision becomes a first-class record</a:t>
            </a:r>
            <a:endParaRPr lang="en-US" sz="1450" dirty="0"/>
          </a:p>
        </p:txBody>
      </p:sp>
      <p:sp>
        <p:nvSpPr>
          <p:cNvPr id="13" name="Text 11"/>
          <p:cNvSpPr txBox="1"/>
          <p:nvPr/>
        </p:nvSpPr>
        <p:spPr>
          <a:xfrm>
            <a:off x="603504" y="3813048"/>
            <a:ext cx="10984687" cy="411480"/>
          </a:xfrm>
          <a:prstGeom prst="rect">
            <a:avLst/>
          </a:prstGeom>
          <a:noFill/>
          <a:ln/>
        </p:spPr>
        <p:txBody>
          <a:bodyPr wrap="square" lIns="0" tIns="0" rIns="0" bIns="0" rtlCol="0" anchor="t"/>
          <a:lstStyle/>
          <a:p>
            <a:pPr indent="0" marL="0">
              <a:buNone/>
            </a:pPr>
            <a:r>
              <a:rPr lang="en-US" sz="1100" dirty="0">
                <a:solidFill>
                  <a:srgbClr val="1A1F2B"/>
                </a:solidFill>
              </a:rPr>
              <a:t>We had no artefact answering “why did the platform do that”. Recording the input outcome, the policy version, the eligible rails, the selected action and the reason makes retry and routing behaviour defensible after the fact — to a merchant, to an auditor, and to our own engineers six months later.</a:t>
            </a:r>
            <a:endParaRPr lang="en-US" sz="1100" dirty="0"/>
          </a:p>
        </p:txBody>
      </p:sp>
      <p:sp>
        <p:nvSpPr>
          <p:cNvPr id="14" name="card-Multi-tender splits two ways, and the test is lifecycle independence"/>
          <p:cNvSpPr/>
          <p:nvPr/>
        </p:nvSpPr>
        <p:spPr>
          <a:xfrm>
            <a:off x="475488" y="4425696"/>
            <a:ext cx="11240719" cy="1078992"/>
          </a:xfrm>
          <a:prstGeom prst="rect">
            <a:avLst/>
          </a:prstGeom>
          <a:solidFill>
            <a:srgbClr val="FBFAF7"/>
          </a:solidFill>
          <a:ln w="6350">
            <a:solidFill>
              <a:srgbClr val="DCD7CB"/>
            </a:solidFill>
            <a:prstDash val="solid"/>
          </a:ln>
        </p:spPr>
      </p:sp>
      <p:sp>
        <p:nvSpPr>
          <p:cNvPr id="15" name="Text 13"/>
          <p:cNvSpPr txBox="1"/>
          <p:nvPr/>
        </p:nvSpPr>
        <p:spPr>
          <a:xfrm>
            <a:off x="603504" y="4526280"/>
            <a:ext cx="10984687" cy="182880"/>
          </a:xfrm>
          <a:prstGeom prst="rect">
            <a:avLst/>
          </a:prstGeom>
          <a:noFill/>
          <a:ln/>
        </p:spPr>
        <p:txBody>
          <a:bodyPr wrap="square" lIns="0" tIns="0" rIns="0" bIns="0" rtlCol="0" anchor="ctr"/>
          <a:lstStyle/>
          <a:p>
            <a:pPr indent="0" marL="0">
              <a:buNone/>
            </a:pPr>
            <a:r>
              <a:rPr lang="en-US" sz="900" spc="140" kern="0" dirty="0">
                <a:solidFill>
                  <a:srgbClr val="26706A"/>
                </a:solidFill>
                <a:latin typeface="Consolas" pitchFamily="34" charset="0"/>
                <a:ea typeface="Consolas" pitchFamily="34" charset="-122"/>
                <a:cs typeface="Consolas" pitchFamily="34" charset="-120"/>
              </a:rPr>
              <a:t>REFINEMENT — SLIDE 11</a:t>
            </a:r>
            <a:endParaRPr lang="en-US" sz="900" dirty="0"/>
          </a:p>
        </p:txBody>
      </p:sp>
      <p:sp>
        <p:nvSpPr>
          <p:cNvPr id="16" name="Text 14"/>
          <p:cNvSpPr txBox="1"/>
          <p:nvPr/>
        </p:nvSpPr>
        <p:spPr>
          <a:xfrm>
            <a:off x="603504" y="4718304"/>
            <a:ext cx="10984687" cy="256032"/>
          </a:xfrm>
          <a:prstGeom prst="rect">
            <a:avLst/>
          </a:prstGeom>
          <a:noFill/>
          <a:ln/>
        </p:spPr>
        <p:txBody>
          <a:bodyPr wrap="square" lIns="0" tIns="0" rIns="0" bIns="0" rtlCol="0" anchor="ctr"/>
          <a:lstStyle/>
          <a:p>
            <a:pPr indent="0" marL="0">
              <a:buNone/>
            </a:pPr>
            <a:r>
              <a:rPr lang="en-US" sz="1450" b="1" dirty="0">
                <a:solidFill>
                  <a:srgbClr val="0F1A2B"/>
                </a:solidFill>
                <a:latin typeface="Cambria" pitchFamily="34" charset="0"/>
                <a:ea typeface="Cambria" pitchFamily="34" charset="-122"/>
                <a:cs typeface="Cambria" pitchFamily="34" charset="-120"/>
              </a:rPr>
              <a:t>Multi-tender splits two ways, and the test is lifecycle independence</a:t>
            </a:r>
            <a:endParaRPr lang="en-US" sz="1450" dirty="0"/>
          </a:p>
        </p:txBody>
      </p:sp>
      <p:sp>
        <p:nvSpPr>
          <p:cNvPr id="17" name="Text 15"/>
          <p:cNvSpPr txBox="1"/>
          <p:nvPr/>
        </p:nvSpPr>
        <p:spPr>
          <a:xfrm>
            <a:off x="603504" y="5001768"/>
            <a:ext cx="10984687" cy="411480"/>
          </a:xfrm>
          <a:prstGeom prst="rect">
            <a:avLst/>
          </a:prstGeom>
          <a:noFill/>
          <a:ln/>
        </p:spPr>
        <p:txBody>
          <a:bodyPr wrap="square" lIns="0" tIns="0" rIns="0" bIns="0" rtlCol="0" anchor="t"/>
          <a:lstStyle/>
          <a:p>
            <a:pPr indent="0" marL="0">
              <a:buNone/>
            </a:pPr>
            <a:r>
              <a:rPr lang="en-US" sz="1100" dirty="0">
                <a:solidFill>
                  <a:srgbClr val="1A1F2B"/>
                </a:solidFill>
              </a:rPr>
              <a:t>Our earlier model treated multiple instruments as legs of one Payment; the attached design treats tenders as separate Intents under an Order. </a:t>
            </a:r>
            <a:pPr indent="0" marL="0">
              <a:buNone/>
            </a:pPr>
            <a:r>
              <a:rPr lang="en-US" sz="1100" b="1" dirty="0">
                <a:solidFill>
                  <a:srgbClr val="1A1F2B"/>
                </a:solidFill>
              </a:rPr>
              <a:t>Both are right for different cases.</a:t>
            </a:r>
            <a:pPr indent="0" marL="0">
              <a:buNone/>
            </a:pPr>
            <a:r>
              <a:rPr lang="en-US" sz="1100" dirty="0">
                <a:solidFill>
                  <a:srgbClr val="1A1F2B"/>
                </a:solidFill>
              </a:rPr>
              <a:t> Tenders that resolve in the same moment are legs of one Intent; collections with independent lifecycles are separate Intents under one Order.</a:t>
            </a:r>
            <a:endParaRPr lang="en-US" sz="1100" dirty="0"/>
          </a:p>
        </p:txBody>
      </p:sp>
      <p:sp>
        <p:nvSpPr>
          <p:cNvPr id="25" name="Slide Number Placeholder 0"/>
          <p:cNvSpPr>
            <a:spLocks noGrp="1"/>
          </p:cNvSpPr>
          <p:nvPr>
            <p:ph type="sldNum" sz="quarter" idx="4294967295"/>
          </p:nvPr>
        </p:nvSpPr>
        <p:spPr>
          <a:xfrm>
            <a:off x="11430000" y="6419088"/>
            <a:ext cx="36576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9AA2AE"/>
                </a:solidFill>
                <a:latin typeface="Consolas"/>
                <a:ea typeface="Consolas"/>
                <a:cs typeface="Consolas"/>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475488" y="310896"/>
            <a:ext cx="11240719" cy="219456"/>
          </a:xfrm>
          <a:prstGeom prst="rect">
            <a:avLst/>
          </a:prstGeom>
          <a:noFill/>
          <a:ln/>
        </p:spPr>
        <p:txBody>
          <a:bodyPr wrap="square" lIns="0" tIns="0" rIns="0" bIns="0" rtlCol="0" anchor="ctr"/>
          <a:lstStyle/>
          <a:p>
            <a:pPr indent="0" marL="0">
              <a:buNone/>
            </a:pPr>
            <a:r>
              <a:rPr lang="en-US" sz="1050" spc="240" kern="0" dirty="0">
                <a:solidFill>
                  <a:srgbClr val="B8892F"/>
                </a:solidFill>
                <a:latin typeface="Consolas" pitchFamily="34" charset="0"/>
                <a:ea typeface="Consolas" pitchFamily="34" charset="-122"/>
                <a:cs typeface="Consolas" pitchFamily="34" charset="-120"/>
              </a:rPr>
              <a:t>OPEN QUESTIONS</a:t>
            </a:r>
            <a:endParaRPr lang="en-US" sz="1050" dirty="0"/>
          </a:p>
        </p:txBody>
      </p:sp>
      <p:sp>
        <p:nvSpPr>
          <p:cNvPr id="3" name="Text 1"/>
          <p:cNvSpPr txBox="1"/>
          <p:nvPr/>
        </p:nvSpPr>
        <p:spPr>
          <a:xfrm>
            <a:off x="475488" y="548640"/>
            <a:ext cx="11240719" cy="566928"/>
          </a:xfrm>
          <a:prstGeom prst="rect">
            <a:avLst/>
          </a:prstGeom>
          <a:noFill/>
          <a:ln/>
        </p:spPr>
        <p:txBody>
          <a:bodyPr wrap="square" lIns="0" tIns="0" rIns="0" bIns="0" rtlCol="0" anchor="t"/>
          <a:lstStyle/>
          <a:p>
            <a:pPr indent="0" marL="0">
              <a:buNone/>
            </a:pPr>
            <a:r>
              <a:rPr lang="en-US" sz="3000" b="1" dirty="0">
                <a:solidFill>
                  <a:srgbClr val="0F1A2B"/>
                </a:solidFill>
                <a:latin typeface="Cambria" pitchFamily="34" charset="0"/>
                <a:ea typeface="Cambria" pitchFamily="34" charset="-122"/>
                <a:cs typeface="Cambria" pitchFamily="34" charset="-120"/>
              </a:rPr>
              <a:t>What this deck deliberately does not decide</a:t>
            </a:r>
            <a:endParaRPr lang="en-US" sz="3000" dirty="0"/>
          </a:p>
        </p:txBody>
      </p:sp>
      <p:sp>
        <p:nvSpPr>
          <p:cNvPr id="4" name="Text 2"/>
          <p:cNvSpPr txBox="1"/>
          <p:nvPr/>
        </p:nvSpPr>
        <p:spPr>
          <a:xfrm>
            <a:off x="475488" y="1188720"/>
            <a:ext cx="11240719" cy="475488"/>
          </a:xfrm>
          <a:prstGeom prst="rect">
            <a:avLst/>
          </a:prstGeom>
          <a:noFill/>
          <a:ln/>
        </p:spPr>
        <p:txBody>
          <a:bodyPr wrap="square" lIns="0" tIns="0" rIns="0" bIns="0" rtlCol="0" anchor="t"/>
          <a:lstStyle/>
          <a:p>
            <a:pPr indent="0" marL="0">
              <a:buNone/>
            </a:pPr>
            <a:r>
              <a:rPr lang="en-US" sz="1250" dirty="0">
                <a:solidFill>
                  <a:srgbClr val="414A5C"/>
                </a:solidFill>
              </a:rPr>
              <a:t>Each would need settling before the corresponding use case could be built.</a:t>
            </a:r>
            <a:endParaRPr lang="en-US" sz="1250" dirty="0"/>
          </a:p>
        </p:txBody>
      </p:sp>
      <p:sp>
        <p:nvSpPr>
          <p:cNvPr id="5" name="Shape 3"/>
          <p:cNvSpPr/>
          <p:nvPr/>
        </p:nvSpPr>
        <p:spPr>
          <a:xfrm>
            <a:off x="475488" y="1737360"/>
            <a:ext cx="11240719" cy="22860"/>
          </a:xfrm>
          <a:prstGeom prst="rect">
            <a:avLst/>
          </a:prstGeom>
          <a:solidFill>
            <a:srgbClr val="B8892F"/>
          </a:solidFill>
          <a:ln w="12700">
            <a:solidFill>
              <a:srgbClr val="B8892F"/>
            </a:solidFill>
            <a:prstDash val="solid"/>
          </a:ln>
        </p:spPr>
      </p:sp>
      <p:sp>
        <p:nvSpPr>
          <p:cNvPr id="6" name="card-Partial capture needs explicit state semantics"/>
          <p:cNvSpPr/>
          <p:nvPr/>
        </p:nvSpPr>
        <p:spPr>
          <a:xfrm>
            <a:off x="475488" y="1901952"/>
            <a:ext cx="5492344" cy="1115568"/>
          </a:xfrm>
          <a:prstGeom prst="rect">
            <a:avLst/>
          </a:prstGeom>
          <a:solidFill>
            <a:srgbClr val="FBEEEE"/>
          </a:solidFill>
          <a:ln w="6350">
            <a:solidFill>
              <a:srgbClr val="DCD7CB"/>
            </a:solidFill>
            <a:prstDash val="solid"/>
          </a:ln>
        </p:spPr>
      </p:sp>
      <p:sp>
        <p:nvSpPr>
          <p:cNvPr id="7" name="Text 5"/>
          <p:cNvSpPr txBox="1"/>
          <p:nvPr/>
        </p:nvSpPr>
        <p:spPr>
          <a:xfrm>
            <a:off x="603504" y="2002536"/>
            <a:ext cx="5236312" cy="182880"/>
          </a:xfrm>
          <a:prstGeom prst="rect">
            <a:avLst/>
          </a:prstGeom>
          <a:noFill/>
          <a:ln/>
        </p:spPr>
        <p:txBody>
          <a:bodyPr wrap="square" lIns="0" tIns="0" rIns="0" bIns="0" rtlCol="0" anchor="ctr"/>
          <a:lstStyle/>
          <a:p>
            <a:pPr indent="0" marL="0">
              <a:buNone/>
            </a:pPr>
            <a:r>
              <a:rPr lang="en-US" sz="900" spc="140" kern="0" dirty="0">
                <a:solidFill>
                  <a:srgbClr val="9B2C2C"/>
                </a:solidFill>
                <a:latin typeface="Consolas" pitchFamily="34" charset="0"/>
                <a:ea typeface="Consolas" pitchFamily="34" charset="-122"/>
                <a:cs typeface="Consolas" pitchFamily="34" charset="-120"/>
              </a:rPr>
              <a:t>OQ-A — SLIDE 8</a:t>
            </a:r>
            <a:endParaRPr lang="en-US" sz="900" dirty="0"/>
          </a:p>
        </p:txBody>
      </p:sp>
      <p:sp>
        <p:nvSpPr>
          <p:cNvPr id="8" name="Text 6"/>
          <p:cNvSpPr txBox="1"/>
          <p:nvPr/>
        </p:nvSpPr>
        <p:spPr>
          <a:xfrm>
            <a:off x="603504" y="2194560"/>
            <a:ext cx="5236312" cy="256032"/>
          </a:xfrm>
          <a:prstGeom prst="rect">
            <a:avLst/>
          </a:prstGeom>
          <a:noFill/>
          <a:ln/>
        </p:spPr>
        <p:txBody>
          <a:bodyPr wrap="square" lIns="0" tIns="0" rIns="0" bIns="0" rtlCol="0" anchor="ctr"/>
          <a:lstStyle/>
          <a:p>
            <a:pPr indent="0" marL="0">
              <a:buNone/>
            </a:pPr>
            <a:r>
              <a:rPr lang="en-US" sz="1450" b="1" dirty="0">
                <a:solidFill>
                  <a:srgbClr val="0F1A2B"/>
                </a:solidFill>
                <a:latin typeface="Cambria" pitchFamily="34" charset="0"/>
                <a:ea typeface="Cambria" pitchFamily="34" charset="-122"/>
                <a:cs typeface="Cambria" pitchFamily="34" charset="-120"/>
              </a:rPr>
              <a:t>Partial capture needs explicit state semantics</a:t>
            </a:r>
            <a:endParaRPr lang="en-US" sz="1450" dirty="0"/>
          </a:p>
        </p:txBody>
      </p:sp>
      <p:sp>
        <p:nvSpPr>
          <p:cNvPr id="9" name="Text 7"/>
          <p:cNvSpPr txBox="1"/>
          <p:nvPr/>
        </p:nvSpPr>
        <p:spPr>
          <a:xfrm>
            <a:off x="603504" y="2478024"/>
            <a:ext cx="5236312" cy="448056"/>
          </a:xfrm>
          <a:prstGeom prst="rect">
            <a:avLst/>
          </a:prstGeom>
          <a:noFill/>
          <a:ln/>
        </p:spPr>
        <p:txBody>
          <a:bodyPr wrap="square" lIns="0" tIns="0" rIns="0" bIns="0" rtlCol="0" anchor="t"/>
          <a:lstStyle/>
          <a:p>
            <a:pPr indent="0" marL="0">
              <a:buNone/>
            </a:pPr>
            <a:r>
              <a:rPr lang="en-US" sz="1100" dirty="0">
                <a:solidFill>
                  <a:srgbClr val="1A1F2B"/>
                </a:solidFill>
              </a:rPr>
              <a:t>An Intent with captured funds and an outstanding authorized balance either stays requires_capture or needs a more expressive state. Leaving it unstated means clients branch on the status rather than the ledger.</a:t>
            </a:r>
            <a:endParaRPr lang="en-US" sz="1100" dirty="0"/>
          </a:p>
        </p:txBody>
      </p:sp>
      <p:sp>
        <p:nvSpPr>
          <p:cNvPr id="10" name="card-Post-settlement reversal"/>
          <p:cNvSpPr/>
          <p:nvPr/>
        </p:nvSpPr>
        <p:spPr>
          <a:xfrm>
            <a:off x="475488" y="3127248"/>
            <a:ext cx="5492344" cy="1115568"/>
          </a:xfrm>
          <a:prstGeom prst="rect">
            <a:avLst/>
          </a:prstGeom>
          <a:solidFill>
            <a:srgbClr val="FBEEEE"/>
          </a:solidFill>
          <a:ln w="6350">
            <a:solidFill>
              <a:srgbClr val="DCD7CB"/>
            </a:solidFill>
            <a:prstDash val="solid"/>
          </a:ln>
        </p:spPr>
      </p:sp>
      <p:sp>
        <p:nvSpPr>
          <p:cNvPr id="11" name="Text 9"/>
          <p:cNvSpPr txBox="1"/>
          <p:nvPr/>
        </p:nvSpPr>
        <p:spPr>
          <a:xfrm>
            <a:off x="603504" y="3227832"/>
            <a:ext cx="5236312" cy="182880"/>
          </a:xfrm>
          <a:prstGeom prst="rect">
            <a:avLst/>
          </a:prstGeom>
          <a:noFill/>
          <a:ln/>
        </p:spPr>
        <p:txBody>
          <a:bodyPr wrap="square" lIns="0" tIns="0" rIns="0" bIns="0" rtlCol="0" anchor="ctr"/>
          <a:lstStyle/>
          <a:p>
            <a:pPr indent="0" marL="0">
              <a:buNone/>
            </a:pPr>
            <a:r>
              <a:rPr lang="en-US" sz="900" spc="140" kern="0" dirty="0">
                <a:solidFill>
                  <a:srgbClr val="9B2C2C"/>
                </a:solidFill>
                <a:latin typeface="Consolas" pitchFamily="34" charset="0"/>
                <a:ea typeface="Consolas" pitchFamily="34" charset="-122"/>
                <a:cs typeface="Consolas" pitchFamily="34" charset="-120"/>
              </a:rPr>
              <a:t>OQ-B — SLIDE 11</a:t>
            </a:r>
            <a:endParaRPr lang="en-US" sz="900" dirty="0"/>
          </a:p>
        </p:txBody>
      </p:sp>
      <p:sp>
        <p:nvSpPr>
          <p:cNvPr id="12" name="Text 10"/>
          <p:cNvSpPr txBox="1"/>
          <p:nvPr/>
        </p:nvSpPr>
        <p:spPr>
          <a:xfrm>
            <a:off x="603504" y="3419856"/>
            <a:ext cx="5236312" cy="256032"/>
          </a:xfrm>
          <a:prstGeom prst="rect">
            <a:avLst/>
          </a:prstGeom>
          <a:noFill/>
          <a:ln/>
        </p:spPr>
        <p:txBody>
          <a:bodyPr wrap="square" lIns="0" tIns="0" rIns="0" bIns="0" rtlCol="0" anchor="ctr"/>
          <a:lstStyle/>
          <a:p>
            <a:pPr indent="0" marL="0">
              <a:buNone/>
            </a:pPr>
            <a:r>
              <a:rPr lang="en-US" sz="1450" b="1" dirty="0">
                <a:solidFill>
                  <a:srgbClr val="0F1A2B"/>
                </a:solidFill>
                <a:latin typeface="Cambria" pitchFamily="34" charset="0"/>
                <a:ea typeface="Cambria" pitchFamily="34" charset="-122"/>
                <a:cs typeface="Cambria" pitchFamily="34" charset="-120"/>
              </a:rPr>
              <a:t>Post-settlement reversal</a:t>
            </a:r>
            <a:endParaRPr lang="en-US" sz="1450" dirty="0"/>
          </a:p>
        </p:txBody>
      </p:sp>
      <p:sp>
        <p:nvSpPr>
          <p:cNvPr id="13" name="Text 11"/>
          <p:cNvSpPr txBox="1"/>
          <p:nvPr/>
        </p:nvSpPr>
        <p:spPr>
          <a:xfrm>
            <a:off x="603504" y="3703320"/>
            <a:ext cx="5236312" cy="448056"/>
          </a:xfrm>
          <a:prstGeom prst="rect">
            <a:avLst/>
          </a:prstGeom>
          <a:noFill/>
          <a:ln/>
        </p:spPr>
        <p:txBody>
          <a:bodyPr wrap="square" lIns="0" tIns="0" rIns="0" bIns="0" rtlCol="0" anchor="t"/>
          <a:lstStyle/>
          <a:p>
            <a:pPr indent="0" marL="0">
              <a:buNone/>
            </a:pPr>
            <a:r>
              <a:rPr lang="en-US" sz="1100" dirty="0">
                <a:solidFill>
                  <a:srgbClr val="1A1F2B"/>
                </a:solidFill>
              </a:rPr>
              <a:t>An ACH return on the balance Intent arrives after settlement, as does a chargeback. Both change what is </a:t>
            </a:r>
            <a:pPr indent="0" marL="0">
              <a:buNone/>
            </a:pPr>
            <a:r>
              <a:rPr lang="en-US" sz="1100" i="1" dirty="0">
                <a:solidFill>
                  <a:srgbClr val="1A1F2B"/>
                </a:solidFill>
              </a:rPr>
              <a:t>owed</a:t>
            </a:r>
            <a:pPr indent="0" marL="0">
              <a:buNone/>
            </a:pPr>
            <a:r>
              <a:rPr lang="en-US" sz="1100" dirty="0">
                <a:solidFill>
                  <a:srgbClr val="1A1F2B"/>
                </a:solidFill>
              </a:rPr>
              <a:t> rather than what was attempted — which argues for an obligation-level adjustment rather than a new Intent state.</a:t>
            </a:r>
            <a:endParaRPr lang="en-US" sz="1100" dirty="0"/>
          </a:p>
        </p:txBody>
      </p:sp>
      <p:sp>
        <p:nvSpPr>
          <p:cNvPr id="14" name="card-Authentication reuse limits"/>
          <p:cNvSpPr/>
          <p:nvPr/>
        </p:nvSpPr>
        <p:spPr>
          <a:xfrm>
            <a:off x="475488" y="4352544"/>
            <a:ext cx="5492344" cy="1115568"/>
          </a:xfrm>
          <a:prstGeom prst="rect">
            <a:avLst/>
          </a:prstGeom>
          <a:solidFill>
            <a:srgbClr val="FBEEEE"/>
          </a:solidFill>
          <a:ln w="6350">
            <a:solidFill>
              <a:srgbClr val="DCD7CB"/>
            </a:solidFill>
            <a:prstDash val="solid"/>
          </a:ln>
        </p:spPr>
      </p:sp>
      <p:sp>
        <p:nvSpPr>
          <p:cNvPr id="15" name="Text 13"/>
          <p:cNvSpPr txBox="1"/>
          <p:nvPr/>
        </p:nvSpPr>
        <p:spPr>
          <a:xfrm>
            <a:off x="603504" y="4453128"/>
            <a:ext cx="5236312" cy="182880"/>
          </a:xfrm>
          <a:prstGeom prst="rect">
            <a:avLst/>
          </a:prstGeom>
          <a:noFill/>
          <a:ln/>
        </p:spPr>
        <p:txBody>
          <a:bodyPr wrap="square" lIns="0" tIns="0" rIns="0" bIns="0" rtlCol="0" anchor="ctr"/>
          <a:lstStyle/>
          <a:p>
            <a:pPr indent="0" marL="0">
              <a:buNone/>
            </a:pPr>
            <a:r>
              <a:rPr lang="en-US" sz="900" spc="140" kern="0" dirty="0">
                <a:solidFill>
                  <a:srgbClr val="9B2C2C"/>
                </a:solidFill>
                <a:latin typeface="Consolas" pitchFamily="34" charset="0"/>
                <a:ea typeface="Consolas" pitchFamily="34" charset="-122"/>
                <a:cs typeface="Consolas" pitchFamily="34" charset="-120"/>
              </a:rPr>
              <a:t>OQ-C — SLIDE 6</a:t>
            </a:r>
            <a:endParaRPr lang="en-US" sz="900" dirty="0"/>
          </a:p>
        </p:txBody>
      </p:sp>
      <p:sp>
        <p:nvSpPr>
          <p:cNvPr id="16" name="Text 14"/>
          <p:cNvSpPr txBox="1"/>
          <p:nvPr/>
        </p:nvSpPr>
        <p:spPr>
          <a:xfrm>
            <a:off x="603504" y="4645152"/>
            <a:ext cx="5236312" cy="256032"/>
          </a:xfrm>
          <a:prstGeom prst="rect">
            <a:avLst/>
          </a:prstGeom>
          <a:noFill/>
          <a:ln/>
        </p:spPr>
        <p:txBody>
          <a:bodyPr wrap="square" lIns="0" tIns="0" rIns="0" bIns="0" rtlCol="0" anchor="ctr"/>
          <a:lstStyle/>
          <a:p>
            <a:pPr indent="0" marL="0">
              <a:buNone/>
            </a:pPr>
            <a:r>
              <a:rPr lang="en-US" sz="1450" b="1" dirty="0">
                <a:solidFill>
                  <a:srgbClr val="0F1A2B"/>
                </a:solidFill>
                <a:latin typeface="Cambria" pitchFamily="34" charset="0"/>
                <a:ea typeface="Cambria" pitchFamily="34" charset="-122"/>
                <a:cs typeface="Cambria" pitchFamily="34" charset="-120"/>
              </a:rPr>
              <a:t>Authentication reuse limits</a:t>
            </a:r>
            <a:endParaRPr lang="en-US" sz="1450" dirty="0"/>
          </a:p>
        </p:txBody>
      </p:sp>
      <p:sp>
        <p:nvSpPr>
          <p:cNvPr id="17" name="Text 15"/>
          <p:cNvSpPr txBox="1"/>
          <p:nvPr/>
        </p:nvSpPr>
        <p:spPr>
          <a:xfrm>
            <a:off x="603504" y="4928616"/>
            <a:ext cx="5236312" cy="448056"/>
          </a:xfrm>
          <a:prstGeom prst="rect">
            <a:avLst/>
          </a:prstGeom>
          <a:noFill/>
          <a:ln/>
        </p:spPr>
        <p:txBody>
          <a:bodyPr wrap="square" lIns="0" tIns="0" rIns="0" bIns="0" rtlCol="0" anchor="t"/>
          <a:lstStyle/>
          <a:p>
            <a:pPr indent="0" marL="0">
              <a:buNone/>
            </a:pPr>
            <a:r>
              <a:rPr lang="en-US" sz="1100" dirty="0">
                <a:solidFill>
                  <a:srgbClr val="1A1F2B"/>
                </a:solidFill>
              </a:rPr>
              <a:t>How many attempts may consume one authentication, and does a decline for a non-authentication reason consume it at all? Scheme-governed, and must be confirmed before the behaviour is promised to anyone.</a:t>
            </a:r>
            <a:endParaRPr lang="en-US" sz="1100" dirty="0"/>
          </a:p>
        </p:txBody>
      </p:sp>
      <p:sp>
        <p:nvSpPr>
          <p:cNvPr id="18" name="card-Defaults, or required fields"/>
          <p:cNvSpPr/>
          <p:nvPr/>
        </p:nvSpPr>
        <p:spPr>
          <a:xfrm>
            <a:off x="6223864" y="1901952"/>
            <a:ext cx="5492344" cy="1115568"/>
          </a:xfrm>
          <a:prstGeom prst="rect">
            <a:avLst/>
          </a:prstGeom>
          <a:solidFill>
            <a:srgbClr val="FBEEEE"/>
          </a:solidFill>
          <a:ln w="6350">
            <a:solidFill>
              <a:srgbClr val="DCD7CB"/>
            </a:solidFill>
            <a:prstDash val="solid"/>
          </a:ln>
        </p:spPr>
      </p:sp>
      <p:sp>
        <p:nvSpPr>
          <p:cNvPr id="19" name="Text 17"/>
          <p:cNvSpPr txBox="1"/>
          <p:nvPr/>
        </p:nvSpPr>
        <p:spPr>
          <a:xfrm>
            <a:off x="6351880" y="2002536"/>
            <a:ext cx="5236312" cy="182880"/>
          </a:xfrm>
          <a:prstGeom prst="rect">
            <a:avLst/>
          </a:prstGeom>
          <a:noFill/>
          <a:ln/>
        </p:spPr>
        <p:txBody>
          <a:bodyPr wrap="square" lIns="0" tIns="0" rIns="0" bIns="0" rtlCol="0" anchor="ctr"/>
          <a:lstStyle/>
          <a:p>
            <a:pPr indent="0" marL="0">
              <a:buNone/>
            </a:pPr>
            <a:r>
              <a:rPr lang="en-US" sz="900" spc="140" kern="0" dirty="0">
                <a:solidFill>
                  <a:srgbClr val="9B2C2C"/>
                </a:solidFill>
                <a:latin typeface="Consolas" pitchFamily="34" charset="0"/>
                <a:ea typeface="Consolas" pitchFamily="34" charset="-122"/>
                <a:cs typeface="Consolas" pitchFamily="34" charset="-120"/>
              </a:rPr>
              <a:t>OQ-D — AFFECTS EVERY SLIDE</a:t>
            </a:r>
            <a:endParaRPr lang="en-US" sz="900" dirty="0"/>
          </a:p>
        </p:txBody>
      </p:sp>
      <p:sp>
        <p:nvSpPr>
          <p:cNvPr id="20" name="Text 18"/>
          <p:cNvSpPr txBox="1"/>
          <p:nvPr/>
        </p:nvSpPr>
        <p:spPr>
          <a:xfrm>
            <a:off x="6351880" y="2194560"/>
            <a:ext cx="5236312" cy="256032"/>
          </a:xfrm>
          <a:prstGeom prst="rect">
            <a:avLst/>
          </a:prstGeom>
          <a:noFill/>
          <a:ln/>
        </p:spPr>
        <p:txBody>
          <a:bodyPr wrap="square" lIns="0" tIns="0" rIns="0" bIns="0" rtlCol="0" anchor="ctr"/>
          <a:lstStyle/>
          <a:p>
            <a:pPr indent="0" marL="0">
              <a:buNone/>
            </a:pPr>
            <a:r>
              <a:rPr lang="en-US" sz="1450" b="1" dirty="0">
                <a:solidFill>
                  <a:srgbClr val="0F1A2B"/>
                </a:solidFill>
                <a:latin typeface="Cambria" pitchFamily="34" charset="0"/>
                <a:ea typeface="Cambria" pitchFamily="34" charset="-122"/>
                <a:cs typeface="Cambria" pitchFamily="34" charset="-120"/>
              </a:rPr>
              <a:t>Defaults, or required fields</a:t>
            </a:r>
            <a:endParaRPr lang="en-US" sz="1450" dirty="0"/>
          </a:p>
        </p:txBody>
      </p:sp>
      <p:sp>
        <p:nvSpPr>
          <p:cNvPr id="21" name="Text 19"/>
          <p:cNvSpPr txBox="1"/>
          <p:nvPr/>
        </p:nvSpPr>
        <p:spPr>
          <a:xfrm>
            <a:off x="6351880" y="2478024"/>
            <a:ext cx="5236312" cy="448056"/>
          </a:xfrm>
          <a:prstGeom prst="rect">
            <a:avLst/>
          </a:prstGeom>
          <a:noFill/>
          <a:ln/>
        </p:spPr>
        <p:txBody>
          <a:bodyPr wrap="square" lIns="0" tIns="0" rIns="0" bIns="0" rtlCol="0" anchor="t"/>
          <a:lstStyle/>
          <a:p>
            <a:pPr indent="0" marL="0">
              <a:buNone/>
            </a:pPr>
            <a:r>
              <a:rPr lang="en-US" sz="1100" dirty="0">
                <a:solidFill>
                  <a:srgbClr val="1A1F2B"/>
                </a:solidFill>
              </a:rPr>
              <a:t>Attempt budget, rail-fallback eligibility, partial-authorization behaviour, capture finality. My position on all four is to </a:t>
            </a:r>
            <a:pPr indent="0" marL="0">
              <a:buNone/>
            </a:pPr>
            <a:r>
              <a:rPr lang="en-US" sz="1100" b="1" dirty="0">
                <a:solidFill>
                  <a:srgbClr val="1A1F2B"/>
                </a:solidFill>
              </a:rPr>
              <a:t>require the field rather than default it</a:t>
            </a:r>
            <a:pPr indent="0" marL="0">
              <a:buNone/>
            </a:pPr>
            <a:r>
              <a:rPr lang="en-US" sz="1100" dirty="0">
                <a:solidFill>
                  <a:srgbClr val="1A1F2B"/>
                </a:solidFill>
              </a:rPr>
              <a:t> — these have money and sometimes legal consequences.</a:t>
            </a:r>
            <a:endParaRPr lang="en-US" sz="1100" dirty="0"/>
          </a:p>
        </p:txBody>
      </p:sp>
      <p:sp>
        <p:nvSpPr>
          <p:cNvPr id="22" name="card-Whose Order state machine?"/>
          <p:cNvSpPr/>
          <p:nvPr/>
        </p:nvSpPr>
        <p:spPr>
          <a:xfrm>
            <a:off x="6223864" y="3127248"/>
            <a:ext cx="5492344" cy="1115568"/>
          </a:xfrm>
          <a:prstGeom prst="rect">
            <a:avLst/>
          </a:prstGeom>
          <a:solidFill>
            <a:srgbClr val="FBEEEE"/>
          </a:solidFill>
          <a:ln w="6350">
            <a:solidFill>
              <a:srgbClr val="DCD7CB"/>
            </a:solidFill>
            <a:prstDash val="solid"/>
          </a:ln>
        </p:spPr>
      </p:sp>
      <p:sp>
        <p:nvSpPr>
          <p:cNvPr id="23" name="Text 21"/>
          <p:cNvSpPr txBox="1"/>
          <p:nvPr/>
        </p:nvSpPr>
        <p:spPr>
          <a:xfrm>
            <a:off x="6351880" y="3227832"/>
            <a:ext cx="5236312" cy="182880"/>
          </a:xfrm>
          <a:prstGeom prst="rect">
            <a:avLst/>
          </a:prstGeom>
          <a:noFill/>
          <a:ln/>
        </p:spPr>
        <p:txBody>
          <a:bodyPr wrap="square" lIns="0" tIns="0" rIns="0" bIns="0" rtlCol="0" anchor="ctr"/>
          <a:lstStyle/>
          <a:p>
            <a:pPr indent="0" marL="0">
              <a:buNone/>
            </a:pPr>
            <a:r>
              <a:rPr lang="en-US" sz="900" spc="140" kern="0" dirty="0">
                <a:solidFill>
                  <a:srgbClr val="9B2C2C"/>
                </a:solidFill>
                <a:latin typeface="Consolas" pitchFamily="34" charset="0"/>
                <a:ea typeface="Consolas" pitchFamily="34" charset="-122"/>
                <a:cs typeface="Consolas" pitchFamily="34" charset="-120"/>
              </a:rPr>
              <a:t>OQ-E — SLIDE 11</a:t>
            </a:r>
            <a:endParaRPr lang="en-US" sz="900" dirty="0"/>
          </a:p>
        </p:txBody>
      </p:sp>
      <p:sp>
        <p:nvSpPr>
          <p:cNvPr id="24" name="Text 22"/>
          <p:cNvSpPr txBox="1"/>
          <p:nvPr/>
        </p:nvSpPr>
        <p:spPr>
          <a:xfrm>
            <a:off x="6351880" y="3419856"/>
            <a:ext cx="5236312" cy="256032"/>
          </a:xfrm>
          <a:prstGeom prst="rect">
            <a:avLst/>
          </a:prstGeom>
          <a:noFill/>
          <a:ln/>
        </p:spPr>
        <p:txBody>
          <a:bodyPr wrap="square" lIns="0" tIns="0" rIns="0" bIns="0" rtlCol="0" anchor="ctr"/>
          <a:lstStyle/>
          <a:p>
            <a:pPr indent="0" marL="0">
              <a:buNone/>
            </a:pPr>
            <a:r>
              <a:rPr lang="en-US" sz="1450" b="1" dirty="0">
                <a:solidFill>
                  <a:srgbClr val="0F1A2B"/>
                </a:solidFill>
                <a:latin typeface="Cambria" pitchFamily="34" charset="0"/>
                <a:ea typeface="Cambria" pitchFamily="34" charset="-122"/>
                <a:cs typeface="Cambria" pitchFamily="34" charset="-120"/>
              </a:rPr>
              <a:t>Whose Order state machine?</a:t>
            </a:r>
            <a:endParaRPr lang="en-US" sz="1450" dirty="0"/>
          </a:p>
        </p:txBody>
      </p:sp>
      <p:sp>
        <p:nvSpPr>
          <p:cNvPr id="25" name="Text 23"/>
          <p:cNvSpPr txBox="1"/>
          <p:nvPr/>
        </p:nvSpPr>
        <p:spPr>
          <a:xfrm>
            <a:off x="6351880" y="3703320"/>
            <a:ext cx="5236312" cy="448056"/>
          </a:xfrm>
          <a:prstGeom prst="rect">
            <a:avLst/>
          </a:prstGeom>
          <a:noFill/>
          <a:ln/>
        </p:spPr>
        <p:txBody>
          <a:bodyPr wrap="square" lIns="0" tIns="0" rIns="0" bIns="0" rtlCol="0" anchor="t"/>
          <a:lstStyle/>
          <a:p>
            <a:pPr indent="0" marL="0">
              <a:buNone/>
            </a:pPr>
            <a:r>
              <a:rPr lang="en-US" sz="1100" dirty="0">
                <a:solidFill>
                  <a:srgbClr val="1A1F2B"/>
                </a:solidFill>
              </a:rPr>
              <a:t>For a merchant without an order management system the Order lifecycle is ours to define. For one who has an OMS it is theirs, and we must not impose a fulfilment machine. The Order resource is not yet specified to behave differently on the two branches.</a:t>
            </a:r>
            <a:endParaRPr lang="en-US" sz="1100" dirty="0"/>
          </a:p>
        </p:txBody>
      </p:sp>
      <p:sp>
        <p:nvSpPr>
          <p:cNvPr id="26" name="card-Not established here"/>
          <p:cNvSpPr/>
          <p:nvPr/>
        </p:nvSpPr>
        <p:spPr>
          <a:xfrm>
            <a:off x="6223864" y="4352544"/>
            <a:ext cx="5492344" cy="1115568"/>
          </a:xfrm>
          <a:prstGeom prst="rect">
            <a:avLst/>
          </a:prstGeom>
          <a:solidFill>
            <a:srgbClr val="FBFAF7"/>
          </a:solidFill>
          <a:ln w="6350">
            <a:solidFill>
              <a:srgbClr val="DCD7CB"/>
            </a:solidFill>
            <a:prstDash val="solid"/>
          </a:ln>
        </p:spPr>
      </p:sp>
      <p:sp>
        <p:nvSpPr>
          <p:cNvPr id="27" name="Text 25"/>
          <p:cNvSpPr txBox="1"/>
          <p:nvPr/>
        </p:nvSpPr>
        <p:spPr>
          <a:xfrm>
            <a:off x="6351880" y="4453128"/>
            <a:ext cx="5236312" cy="182880"/>
          </a:xfrm>
          <a:prstGeom prst="rect">
            <a:avLst/>
          </a:prstGeom>
          <a:noFill/>
          <a:ln/>
        </p:spPr>
        <p:txBody>
          <a:bodyPr wrap="square" lIns="0" tIns="0" rIns="0" bIns="0" rtlCol="0" anchor="ctr"/>
          <a:lstStyle/>
          <a:p>
            <a:pPr indent="0" marL="0">
              <a:buNone/>
            </a:pPr>
            <a:r>
              <a:rPr lang="en-US" sz="900" spc="140" kern="0" dirty="0">
                <a:solidFill>
                  <a:srgbClr val="26706A"/>
                </a:solidFill>
                <a:latin typeface="Consolas" pitchFamily="34" charset="0"/>
                <a:ea typeface="Consolas" pitchFamily="34" charset="-122"/>
                <a:cs typeface="Consolas" pitchFamily="34" charset="-120"/>
              </a:rPr>
              <a:t>CONFIRM BEFORE BUILD</a:t>
            </a:r>
            <a:endParaRPr lang="en-US" sz="900" dirty="0"/>
          </a:p>
        </p:txBody>
      </p:sp>
      <p:sp>
        <p:nvSpPr>
          <p:cNvPr id="28" name="Text 26"/>
          <p:cNvSpPr txBox="1"/>
          <p:nvPr/>
        </p:nvSpPr>
        <p:spPr>
          <a:xfrm>
            <a:off x="6351880" y="4645152"/>
            <a:ext cx="5236312" cy="256032"/>
          </a:xfrm>
          <a:prstGeom prst="rect">
            <a:avLst/>
          </a:prstGeom>
          <a:noFill/>
          <a:ln/>
        </p:spPr>
        <p:txBody>
          <a:bodyPr wrap="square" lIns="0" tIns="0" rIns="0" bIns="0" rtlCol="0" anchor="ctr"/>
          <a:lstStyle/>
          <a:p>
            <a:pPr indent="0" marL="0">
              <a:buNone/>
            </a:pPr>
            <a:r>
              <a:rPr lang="en-US" sz="1450" b="1" dirty="0">
                <a:solidFill>
                  <a:srgbClr val="0F1A2B"/>
                </a:solidFill>
                <a:latin typeface="Cambria" pitchFamily="34" charset="0"/>
                <a:ea typeface="Cambria" pitchFamily="34" charset="-122"/>
                <a:cs typeface="Cambria" pitchFamily="34" charset="-120"/>
              </a:rPr>
              <a:t>Not established here</a:t>
            </a:r>
            <a:endParaRPr lang="en-US" sz="1450" dirty="0"/>
          </a:p>
        </p:txBody>
      </p:sp>
      <p:sp>
        <p:nvSpPr>
          <p:cNvPr id="29" name="Text 27"/>
          <p:cNvSpPr txBox="1"/>
          <p:nvPr/>
        </p:nvSpPr>
        <p:spPr>
          <a:xfrm>
            <a:off x="6351880" y="4928616"/>
            <a:ext cx="5236312" cy="448056"/>
          </a:xfrm>
          <a:prstGeom prst="rect">
            <a:avLst/>
          </a:prstGeom>
          <a:noFill/>
          <a:ln/>
        </p:spPr>
        <p:txBody>
          <a:bodyPr wrap="square" lIns="0" tIns="0" rIns="0" bIns="0" rtlCol="0" anchor="t"/>
          <a:lstStyle/>
          <a:p>
            <a:pPr indent="0" marL="0">
              <a:buNone/>
            </a:pPr>
            <a:r>
              <a:rPr lang="en-US" sz="1100" dirty="0">
                <a:solidFill>
                  <a:srgbClr val="1A1F2B"/>
                </a:solidFill>
              </a:rPr>
              <a:t>Response and merchant advice code semantics per network and version; debit routing eligibility and regulatory constraints per rail; authorization validity windows by scheme and product; which rails support multiple partial captures; NACHA limits after a return.</a:t>
            </a:r>
            <a:endParaRPr lang="en-US" sz="1100" dirty="0"/>
          </a:p>
        </p:txBody>
      </p:sp>
      <p:sp>
        <p:nvSpPr>
          <p:cNvPr id="25" name="Slide Number Placeholder 0"/>
          <p:cNvSpPr>
            <a:spLocks noGrp="1"/>
          </p:cNvSpPr>
          <p:nvPr>
            <p:ph type="sldNum" sz="quarter" idx="4294967295"/>
          </p:nvPr>
        </p:nvSpPr>
        <p:spPr>
          <a:xfrm>
            <a:off x="11430000" y="6419088"/>
            <a:ext cx="36576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9AA2AE"/>
                </a:solidFill>
                <a:latin typeface="Consolas"/>
                <a:ea typeface="Consolas"/>
                <a:cs typeface="Consolas"/>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475488" y="310896"/>
            <a:ext cx="11240719" cy="219456"/>
          </a:xfrm>
          <a:prstGeom prst="rect">
            <a:avLst/>
          </a:prstGeom>
          <a:noFill/>
          <a:ln/>
        </p:spPr>
        <p:txBody>
          <a:bodyPr wrap="square" lIns="0" tIns="0" rIns="0" bIns="0" rtlCol="0" anchor="ctr"/>
          <a:lstStyle/>
          <a:p>
            <a:pPr indent="0" marL="0">
              <a:buNone/>
            </a:pPr>
            <a:r>
              <a:rPr lang="en-US" sz="1050" spc="240" kern="0" dirty="0">
                <a:solidFill>
                  <a:srgbClr val="B8892F"/>
                </a:solidFill>
                <a:latin typeface="Consolas" pitchFamily="34" charset="0"/>
                <a:ea typeface="Consolas" pitchFamily="34" charset="-122"/>
                <a:cs typeface="Consolas" pitchFamily="34" charset="-120"/>
              </a:rPr>
              <a:t>THE RECOMMENDATION</a:t>
            </a:r>
            <a:endParaRPr lang="en-US" sz="1050" dirty="0"/>
          </a:p>
        </p:txBody>
      </p:sp>
      <p:sp>
        <p:nvSpPr>
          <p:cNvPr id="3" name="Text 1"/>
          <p:cNvSpPr txBox="1"/>
          <p:nvPr/>
        </p:nvSpPr>
        <p:spPr>
          <a:xfrm>
            <a:off x="475488" y="548640"/>
            <a:ext cx="11240719" cy="566928"/>
          </a:xfrm>
          <a:prstGeom prst="rect">
            <a:avLst/>
          </a:prstGeom>
          <a:noFill/>
          <a:ln/>
        </p:spPr>
        <p:txBody>
          <a:bodyPr wrap="square" lIns="0" tIns="0" rIns="0" bIns="0" rtlCol="0" anchor="t"/>
          <a:lstStyle/>
          <a:p>
            <a:pPr indent="0" marL="0">
              <a:buNone/>
            </a:pPr>
            <a:r>
              <a:rPr lang="en-US" sz="3000" b="1" dirty="0">
                <a:solidFill>
                  <a:srgbClr val="0F1A2B"/>
                </a:solidFill>
                <a:latin typeface="Cambria" pitchFamily="34" charset="0"/>
                <a:ea typeface="Cambria" pitchFamily="34" charset="-122"/>
                <a:cs typeface="Cambria" pitchFamily="34" charset="-120"/>
              </a:rPr>
              <a:t>Four layers, and an Order that is preferred rather than mandated</a:t>
            </a:r>
            <a:endParaRPr lang="en-US" sz="3000" dirty="0"/>
          </a:p>
        </p:txBody>
      </p:sp>
      <p:sp>
        <p:nvSpPr>
          <p:cNvPr id="4" name="Text 2"/>
          <p:cNvSpPr txBox="1"/>
          <p:nvPr/>
        </p:nvSpPr>
        <p:spPr>
          <a:xfrm>
            <a:off x="475488" y="1188720"/>
            <a:ext cx="11240719" cy="475488"/>
          </a:xfrm>
          <a:prstGeom prst="rect">
            <a:avLst/>
          </a:prstGeom>
          <a:noFill/>
          <a:ln/>
        </p:spPr>
        <p:txBody>
          <a:bodyPr wrap="square" lIns="0" tIns="0" rIns="0" bIns="0" rtlCol="0" anchor="t"/>
          <a:lstStyle/>
          <a:p>
            <a:pPr indent="0" marL="0">
              <a:buNone/>
            </a:pPr>
            <a:r>
              <a:rPr lang="en-US" sz="1250" dirty="0">
                <a:solidFill>
                  <a:srgbClr val="414A5C"/>
                </a:solidFill>
              </a:rPr>
              <a:t>The merchant owns the commercial truth. The PSP owns the payment execution truth. The PSP Order coordinates the two where that coordination adds value — and only there.</a:t>
            </a:r>
            <a:endParaRPr lang="en-US" sz="1250" dirty="0"/>
          </a:p>
        </p:txBody>
      </p:sp>
      <p:sp>
        <p:nvSpPr>
          <p:cNvPr id="5" name="Shape 3"/>
          <p:cNvSpPr/>
          <p:nvPr/>
        </p:nvSpPr>
        <p:spPr>
          <a:xfrm>
            <a:off x="475488" y="1737360"/>
            <a:ext cx="11240719" cy="22860"/>
          </a:xfrm>
          <a:prstGeom prst="rect">
            <a:avLst/>
          </a:prstGeom>
          <a:solidFill>
            <a:srgbClr val="B8892F"/>
          </a:solidFill>
          <a:ln w="12700">
            <a:solidFill>
              <a:srgbClr val="B8892F"/>
            </a:solidFill>
            <a:prstDash val="solid"/>
          </a:ln>
        </p:spPr>
      </p:sp>
      <p:graphicFrame>
        <p:nvGraphicFramePr>
          <p:cNvPr id="21" name="recommendation-table"/>
          <p:cNvGraphicFramePr>
            <a:graphicFrameLocks noGrp="1"/>
          </p:cNvGraphicFramePr>
          <p:nvPr>
            <p:extLst>
              <p:ext uri="{D42A27DB-BD31-4B8C-83A1-F6EECF244321}">
                <p14:modId xmlns:p14="http://schemas.microsoft.com/office/powerpoint/2010/main" val="1579011935"/>
              </p:ext>
            </p:extLst>
          </p:nvPr>
        </p:nvGraphicFramePr>
        <p:xfrm>
          <a:off x="475488" y="1901952"/>
          <a:ext cx="11240719" cy="914400"/>
        </p:xfrm>
        <a:graphic>
          <a:graphicData uri="http://schemas.openxmlformats.org/drawingml/2006/table">
            <a:tbl>
              <a:tblPr/>
              <a:tblGrid>
                <a:gridCol w="2377440"/>
                <a:gridCol w="6172200"/>
                <a:gridCol w="2691079"/>
              </a:tblGrid>
              <a:tr h="292608">
                <a:tc>
                  <a:txBody>
                    <a:bodyPr/>
                    <a:lstStyle/>
                    <a:p>
                      <a:pPr indent="0" marL="0">
                        <a:buNone/>
                      </a:pPr>
                      <a:r>
                        <a:rPr lang="en-US" sz="950" b="1" spc="60" kern="0" dirty="0">
                          <a:solidFill>
                            <a:srgbClr val="F2EEE4"/>
                          </a:solidFill>
                          <a:latin typeface="Calibri" pitchFamily="34" charset="0"/>
                          <a:ea typeface="Calibri" pitchFamily="34" charset="-122"/>
                          <a:cs typeface="Calibri" pitchFamily="34" charset="-120"/>
                        </a:rPr>
                        <a:t>LAYER</a:t>
                      </a:r>
                      <a:endParaRPr lang="en-US" sz="950" dirty="0">
                        <a:latin typeface="Calibri" charset="0"/>
                        <a:ea typeface="Calibri" charset="0"/>
                        <a:cs typeface="Calibri" charset="0"/>
                      </a:endParaRPr>
                    </a:p>
                  </a:txBody>
                  <a:tcPr marL="91440" marR="91440" marT="45720" marB="45720" anchor="ctr">
                    <a:lnL w="6350" cap="flat" cmpd="sng" algn="ctr">
                      <a:solidFill>
                        <a:srgbClr val="EAE6DC"/>
                      </a:solidFill>
                      <a:prstDash val="solid"/>
                      <a:round/>
                      <a:headEnd type="none" w="med" len="med"/>
                      <a:tailEnd type="none" w="med" len="med"/>
                    </a:lnL>
                    <a:lnR w="6350" cap="flat" cmpd="sng" algn="ctr">
                      <a:solidFill>
                        <a:srgbClr val="EAE6DC"/>
                      </a:solidFill>
                      <a:prstDash val="solid"/>
                      <a:round/>
                      <a:headEnd type="none" w="med" len="med"/>
                      <a:tailEnd type="none" w="med" len="med"/>
                    </a:lnR>
                    <a:lnT w="6350" cap="flat" cmpd="sng" algn="ctr">
                      <a:solidFill>
                        <a:srgbClr val="EAE6DC"/>
                      </a:solidFill>
                      <a:prstDash val="solid"/>
                      <a:round/>
                      <a:headEnd type="none" w="med" len="med"/>
                      <a:tailEnd type="none" w="med" len="med"/>
                    </a:lnT>
                    <a:lnB w="6350" cap="flat" cmpd="sng" algn="ctr">
                      <a:solidFill>
                        <a:srgbClr val="EAE6DC"/>
                      </a:solidFill>
                      <a:prstDash val="solid"/>
                      <a:round/>
                      <a:headEnd type="none" w="med" len="med"/>
                      <a:tailEnd type="none" w="med" len="med"/>
                    </a:lnB>
                    <a:solidFill>
                      <a:srgbClr val="0F1A2B"/>
                    </a:solidFill>
                  </a:tcPr>
                </a:tc>
                <a:tc>
                  <a:txBody>
                    <a:bodyPr/>
                    <a:lstStyle/>
                    <a:p>
                      <a:pPr indent="0" marL="0">
                        <a:buNone/>
                      </a:pPr>
                      <a:r>
                        <a:rPr lang="en-US" sz="950" b="1" spc="60" kern="0" dirty="0">
                          <a:solidFill>
                            <a:srgbClr val="F2EEE4"/>
                          </a:solidFill>
                          <a:latin typeface="Calibri" pitchFamily="34" charset="0"/>
                          <a:ea typeface="Calibri" pitchFamily="34" charset="-122"/>
                          <a:cs typeface="Calibri" pitchFamily="34" charset="-120"/>
                        </a:rPr>
                        <a:t>WHAT IT OWNS</a:t>
                      </a:r>
                      <a:endParaRPr lang="en-US" sz="950" dirty="0">
                        <a:latin typeface="Calibri" charset="0"/>
                        <a:ea typeface="Calibri" charset="0"/>
                        <a:cs typeface="Calibri" charset="0"/>
                      </a:endParaRPr>
                    </a:p>
                  </a:txBody>
                  <a:tcPr marL="91440" marR="91440" marT="45720" marB="45720" anchor="ctr">
                    <a:lnL w="6350" cap="flat" cmpd="sng" algn="ctr">
                      <a:solidFill>
                        <a:srgbClr val="EAE6DC"/>
                      </a:solidFill>
                      <a:prstDash val="solid"/>
                      <a:round/>
                      <a:headEnd type="none" w="med" len="med"/>
                      <a:tailEnd type="none" w="med" len="med"/>
                    </a:lnL>
                    <a:lnR w="6350" cap="flat" cmpd="sng" algn="ctr">
                      <a:solidFill>
                        <a:srgbClr val="EAE6DC"/>
                      </a:solidFill>
                      <a:prstDash val="solid"/>
                      <a:round/>
                      <a:headEnd type="none" w="med" len="med"/>
                      <a:tailEnd type="none" w="med" len="med"/>
                    </a:lnR>
                    <a:lnT w="6350" cap="flat" cmpd="sng" algn="ctr">
                      <a:solidFill>
                        <a:srgbClr val="EAE6DC"/>
                      </a:solidFill>
                      <a:prstDash val="solid"/>
                      <a:round/>
                      <a:headEnd type="none" w="med" len="med"/>
                      <a:tailEnd type="none" w="med" len="med"/>
                    </a:lnT>
                    <a:lnB w="6350" cap="flat" cmpd="sng" algn="ctr">
                      <a:solidFill>
                        <a:srgbClr val="EAE6DC"/>
                      </a:solidFill>
                      <a:prstDash val="solid"/>
                      <a:round/>
                      <a:headEnd type="none" w="med" len="med"/>
                      <a:tailEnd type="none" w="med" len="med"/>
                    </a:lnB>
                    <a:solidFill>
                      <a:srgbClr val="0F1A2B"/>
                    </a:solidFill>
                  </a:tcPr>
                </a:tc>
                <a:tc>
                  <a:txBody>
                    <a:bodyPr/>
                    <a:lstStyle/>
                    <a:p>
                      <a:pPr indent="0" marL="0">
                        <a:buNone/>
                      </a:pPr>
                      <a:r>
                        <a:rPr lang="en-US" sz="950" b="1" spc="60" kern="0" dirty="0">
                          <a:solidFill>
                            <a:srgbClr val="F2EEE4"/>
                          </a:solidFill>
                          <a:latin typeface="Calibri" pitchFamily="34" charset="0"/>
                          <a:ea typeface="Calibri" pitchFamily="34" charset="-122"/>
                          <a:cs typeface="Calibri" pitchFamily="34" charset="-120"/>
                        </a:rPr>
                        <a:t>SYSTEM OF RECORD</a:t>
                      </a:r>
                      <a:endParaRPr lang="en-US" sz="950" dirty="0">
                        <a:latin typeface="Calibri" charset="0"/>
                        <a:ea typeface="Calibri" charset="0"/>
                        <a:cs typeface="Calibri" charset="0"/>
                      </a:endParaRPr>
                    </a:p>
                  </a:txBody>
                  <a:tcPr marL="91440" marR="91440" marT="45720" marB="45720" anchor="ctr">
                    <a:lnL w="6350" cap="flat" cmpd="sng" algn="ctr">
                      <a:solidFill>
                        <a:srgbClr val="EAE6DC"/>
                      </a:solidFill>
                      <a:prstDash val="solid"/>
                      <a:round/>
                      <a:headEnd type="none" w="med" len="med"/>
                      <a:tailEnd type="none" w="med" len="med"/>
                    </a:lnL>
                    <a:lnR w="6350" cap="flat" cmpd="sng" algn="ctr">
                      <a:solidFill>
                        <a:srgbClr val="EAE6DC"/>
                      </a:solidFill>
                      <a:prstDash val="solid"/>
                      <a:round/>
                      <a:headEnd type="none" w="med" len="med"/>
                      <a:tailEnd type="none" w="med" len="med"/>
                    </a:lnR>
                    <a:lnT w="6350" cap="flat" cmpd="sng" algn="ctr">
                      <a:solidFill>
                        <a:srgbClr val="EAE6DC"/>
                      </a:solidFill>
                      <a:prstDash val="solid"/>
                      <a:round/>
                      <a:headEnd type="none" w="med" len="med"/>
                      <a:tailEnd type="none" w="med" len="med"/>
                    </a:lnT>
                    <a:lnB w="6350" cap="flat" cmpd="sng" algn="ctr">
                      <a:solidFill>
                        <a:srgbClr val="EAE6DC"/>
                      </a:solidFill>
                      <a:prstDash val="solid"/>
                      <a:round/>
                      <a:headEnd type="none" w="med" len="med"/>
                      <a:tailEnd type="none" w="med" len="med"/>
                    </a:lnB>
                    <a:solidFill>
                      <a:srgbClr val="0F1A2B"/>
                    </a:solidFill>
                  </a:tcPr>
                </a:tc>
              </a:tr>
              <a:tr h="292608">
                <a:tc>
                  <a:txBody>
                    <a:bodyPr/>
                    <a:lstStyle/>
                    <a:p>
                      <a:pPr indent="0" marL="0">
                        <a:buNone/>
                      </a:pPr>
                      <a:r>
                        <a:rPr lang="en-US" sz="1050" b="1" dirty="0">
                          <a:solidFill>
                            <a:srgbClr val="1A1F2B"/>
                          </a:solidFill>
                          <a:latin typeface="Calibri" pitchFamily="34" charset="0"/>
                          <a:ea typeface="Calibri" pitchFamily="34" charset="-122"/>
                          <a:cs typeface="Calibri" pitchFamily="34" charset="-120"/>
                        </a:rPr>
                        <a:t>Merchant order / OMS</a:t>
                      </a:r>
                      <a:endParaRPr lang="en-US" sz="1050" dirty="0">
                        <a:latin typeface="Calibri" charset="0"/>
                        <a:ea typeface="Calibri" charset="0"/>
                        <a:cs typeface="Calibri" charset="0"/>
                      </a:endParaRPr>
                    </a:p>
                  </a:txBody>
                  <a:tcPr marL="91440" marR="91440" marT="45720" marB="45720" anchor="t">
                    <a:lnL w="6350" cap="flat" cmpd="sng" algn="ctr">
                      <a:solidFill>
                        <a:srgbClr val="EAE6DC"/>
                      </a:solidFill>
                      <a:prstDash val="solid"/>
                      <a:round/>
                      <a:headEnd type="none" w="med" len="med"/>
                      <a:tailEnd type="none" w="med" len="med"/>
                    </a:lnL>
                    <a:lnR w="6350" cap="flat" cmpd="sng" algn="ctr">
                      <a:solidFill>
                        <a:srgbClr val="EAE6DC"/>
                      </a:solidFill>
                      <a:prstDash val="solid"/>
                      <a:round/>
                      <a:headEnd type="none" w="med" len="med"/>
                      <a:tailEnd type="none" w="med" len="med"/>
                    </a:lnR>
                    <a:lnT w="6350" cap="flat" cmpd="sng" algn="ctr">
                      <a:solidFill>
                        <a:srgbClr val="EAE6DC"/>
                      </a:solidFill>
                      <a:prstDash val="solid"/>
                      <a:round/>
                      <a:headEnd type="none" w="med" len="med"/>
                      <a:tailEnd type="none" w="med" len="med"/>
                    </a:lnT>
                    <a:lnB w="6350" cap="flat" cmpd="sng" algn="ctr">
                      <a:solidFill>
                        <a:srgbClr val="EAE6DC"/>
                      </a:solidFill>
                      <a:prstDash val="solid"/>
                      <a:round/>
                      <a:headEnd type="none" w="med" len="med"/>
                      <a:tailEnd type="none" w="med" len="med"/>
                    </a:lnB>
                  </a:tcPr>
                </a:tc>
                <a:tc>
                  <a:txBody>
                    <a:bodyPr/>
                    <a:lstStyle/>
                    <a:p>
                      <a:pPr indent="0" marL="0">
                        <a:buNone/>
                      </a:pPr>
                      <a:r>
                        <a:rPr lang="en-US" sz="1050" dirty="0">
                          <a:solidFill>
                            <a:srgbClr val="1A1F2B"/>
                          </a:solidFill>
                          <a:latin typeface="Calibri" pitchFamily="34" charset="0"/>
                          <a:ea typeface="Calibri" pitchFamily="34" charset="-122"/>
                          <a:cs typeface="Calibri" pitchFamily="34" charset="-120"/>
                        </a:rPr>
                        <a:t>Items, quantities, tax, shipping, fulfilment, cancellations, the amount owed</a:t>
                      </a:r>
                      <a:endParaRPr lang="en-US" sz="1050" dirty="0">
                        <a:latin typeface="Calibri" charset="0"/>
                        <a:ea typeface="Calibri" charset="0"/>
                        <a:cs typeface="Calibri" charset="0"/>
                      </a:endParaRPr>
                    </a:p>
                  </a:txBody>
                  <a:tcPr marL="91440" marR="91440" marT="45720" marB="45720" anchor="t">
                    <a:lnL w="6350" cap="flat" cmpd="sng" algn="ctr">
                      <a:solidFill>
                        <a:srgbClr val="EAE6DC"/>
                      </a:solidFill>
                      <a:prstDash val="solid"/>
                      <a:round/>
                      <a:headEnd type="none" w="med" len="med"/>
                      <a:tailEnd type="none" w="med" len="med"/>
                    </a:lnL>
                    <a:lnR w="6350" cap="flat" cmpd="sng" algn="ctr">
                      <a:solidFill>
                        <a:srgbClr val="EAE6DC"/>
                      </a:solidFill>
                      <a:prstDash val="solid"/>
                      <a:round/>
                      <a:headEnd type="none" w="med" len="med"/>
                      <a:tailEnd type="none" w="med" len="med"/>
                    </a:lnR>
                    <a:lnT w="6350" cap="flat" cmpd="sng" algn="ctr">
                      <a:solidFill>
                        <a:srgbClr val="EAE6DC"/>
                      </a:solidFill>
                      <a:prstDash val="solid"/>
                      <a:round/>
                      <a:headEnd type="none" w="med" len="med"/>
                      <a:tailEnd type="none" w="med" len="med"/>
                    </a:lnT>
                    <a:lnB w="6350" cap="flat" cmpd="sng" algn="ctr">
                      <a:solidFill>
                        <a:srgbClr val="EAE6DC"/>
                      </a:solidFill>
                      <a:prstDash val="solid"/>
                      <a:round/>
                      <a:headEnd type="none" w="med" len="med"/>
                      <a:tailEnd type="none" w="med" len="med"/>
                    </a:lnB>
                  </a:tcPr>
                </a:tc>
                <a:tc>
                  <a:txBody>
                    <a:bodyPr/>
                    <a:lstStyle/>
                    <a:p>
                      <a:pPr indent="0" marL="0">
                        <a:buNone/>
                      </a:pPr>
                      <a:r>
                        <a:rPr lang="en-US" sz="1050" b="1" dirty="0">
                          <a:solidFill>
                            <a:srgbClr val="9B2C2C"/>
                          </a:solidFill>
                          <a:latin typeface="Calibri" pitchFamily="34" charset="0"/>
                          <a:ea typeface="Calibri" pitchFamily="34" charset="-122"/>
                          <a:cs typeface="Calibri" pitchFamily="34" charset="-120"/>
                        </a:rPr>
                        <a:t>The merchant — always</a:t>
                      </a:r>
                      <a:endParaRPr lang="en-US" sz="1050" dirty="0">
                        <a:latin typeface="Calibri" charset="0"/>
                        <a:ea typeface="Calibri" charset="0"/>
                        <a:cs typeface="Calibri" charset="0"/>
                      </a:endParaRPr>
                    </a:p>
                  </a:txBody>
                  <a:tcPr marL="91440" marR="91440" marT="45720" marB="45720" anchor="t">
                    <a:lnL w="6350" cap="flat" cmpd="sng" algn="ctr">
                      <a:solidFill>
                        <a:srgbClr val="EAE6DC"/>
                      </a:solidFill>
                      <a:prstDash val="solid"/>
                      <a:round/>
                      <a:headEnd type="none" w="med" len="med"/>
                      <a:tailEnd type="none" w="med" len="med"/>
                    </a:lnL>
                    <a:lnR w="6350" cap="flat" cmpd="sng" algn="ctr">
                      <a:solidFill>
                        <a:srgbClr val="EAE6DC"/>
                      </a:solidFill>
                      <a:prstDash val="solid"/>
                      <a:round/>
                      <a:headEnd type="none" w="med" len="med"/>
                      <a:tailEnd type="none" w="med" len="med"/>
                    </a:lnR>
                    <a:lnT w="6350" cap="flat" cmpd="sng" algn="ctr">
                      <a:solidFill>
                        <a:srgbClr val="EAE6DC"/>
                      </a:solidFill>
                      <a:prstDash val="solid"/>
                      <a:round/>
                      <a:headEnd type="none" w="med" len="med"/>
                      <a:tailEnd type="none" w="med" len="med"/>
                    </a:lnT>
                    <a:lnB w="6350" cap="flat" cmpd="sng" algn="ctr">
                      <a:solidFill>
                        <a:srgbClr val="EAE6DC"/>
                      </a:solidFill>
                      <a:prstDash val="solid"/>
                      <a:round/>
                      <a:headEnd type="none" w="med" len="med"/>
                      <a:tailEnd type="none" w="med" len="med"/>
                    </a:lnB>
                  </a:tcPr>
                </a:tc>
              </a:tr>
              <a:tr h="292608">
                <a:tc>
                  <a:txBody>
                    <a:bodyPr/>
                    <a:lstStyle/>
                    <a:p>
                      <a:pPr indent="0" marL="0">
                        <a:buNone/>
                      </a:pPr>
                      <a:r>
                        <a:rPr lang="en-US" sz="1050" b="1" dirty="0">
                          <a:solidFill>
                            <a:srgbClr val="1A1F2B"/>
                          </a:solidFill>
                          <a:latin typeface="Calibri" pitchFamily="34" charset="0"/>
                          <a:ea typeface="Calibri" pitchFamily="34" charset="-122"/>
                          <a:cs typeface="Calibri" pitchFamily="34" charset="-120"/>
                        </a:rPr>
                        <a:t>PSP Order</a:t>
                      </a:r>
                      <a:endParaRPr lang="en-US" sz="1050" dirty="0">
                        <a:latin typeface="Calibri" charset="0"/>
                        <a:ea typeface="Calibri" charset="0"/>
                        <a:cs typeface="Calibri" charset="0"/>
                      </a:endParaRPr>
                    </a:p>
                  </a:txBody>
                  <a:tcPr marL="91440" marR="91440" marT="45720" marB="45720" anchor="t">
                    <a:lnL w="6350" cap="flat" cmpd="sng" algn="ctr">
                      <a:solidFill>
                        <a:srgbClr val="EAE6DC"/>
                      </a:solidFill>
                      <a:prstDash val="solid"/>
                      <a:round/>
                      <a:headEnd type="none" w="med" len="med"/>
                      <a:tailEnd type="none" w="med" len="med"/>
                    </a:lnL>
                    <a:lnR w="6350" cap="flat" cmpd="sng" algn="ctr">
                      <a:solidFill>
                        <a:srgbClr val="EAE6DC"/>
                      </a:solidFill>
                      <a:prstDash val="solid"/>
                      <a:round/>
                      <a:headEnd type="none" w="med" len="med"/>
                      <a:tailEnd type="none" w="med" len="med"/>
                    </a:lnR>
                    <a:lnT w="6350" cap="flat" cmpd="sng" algn="ctr">
                      <a:solidFill>
                        <a:srgbClr val="EAE6DC"/>
                      </a:solidFill>
                      <a:prstDash val="solid"/>
                      <a:round/>
                      <a:headEnd type="none" w="med" len="med"/>
                      <a:tailEnd type="none" w="med" len="med"/>
                    </a:lnT>
                    <a:lnB w="6350" cap="flat" cmpd="sng" algn="ctr">
                      <a:solidFill>
                        <a:srgbClr val="EAE6DC"/>
                      </a:solidFill>
                      <a:prstDash val="solid"/>
                      <a:round/>
                      <a:headEnd type="none" w="med" len="med"/>
                      <a:tailEnd type="none" w="med" len="med"/>
                    </a:lnB>
                  </a:tcPr>
                </a:tc>
                <a:tc>
                  <a:txBody>
                    <a:bodyPr/>
                    <a:lstStyle/>
                    <a:p>
                      <a:pPr indent="0" marL="0">
                        <a:buNone/>
                      </a:pPr>
                      <a:r>
                        <a:rPr lang="en-US" sz="1050" dirty="0">
                          <a:solidFill>
                            <a:srgbClr val="1A1F2B"/>
                          </a:solidFill>
                          <a:latin typeface="Calibri" pitchFamily="34" charset="0"/>
                          <a:ea typeface="Calibri" pitchFamily="34" charset="-122"/>
                          <a:cs typeface="Calibri" pitchFamily="34" charset="-120"/>
                        </a:rPr>
                        <a:t>Commercial reference, amount to collect, collection status, allocation across Intents</a:t>
                      </a:r>
                      <a:endParaRPr lang="en-US" sz="1050" dirty="0">
                        <a:latin typeface="Calibri" charset="0"/>
                        <a:ea typeface="Calibri" charset="0"/>
                        <a:cs typeface="Calibri" charset="0"/>
                      </a:endParaRPr>
                    </a:p>
                  </a:txBody>
                  <a:tcPr marL="91440" marR="91440" marT="45720" marB="45720" anchor="t">
                    <a:lnL w="6350" cap="flat" cmpd="sng" algn="ctr">
                      <a:solidFill>
                        <a:srgbClr val="EAE6DC"/>
                      </a:solidFill>
                      <a:prstDash val="solid"/>
                      <a:round/>
                      <a:headEnd type="none" w="med" len="med"/>
                      <a:tailEnd type="none" w="med" len="med"/>
                    </a:lnL>
                    <a:lnR w="6350" cap="flat" cmpd="sng" algn="ctr">
                      <a:solidFill>
                        <a:srgbClr val="EAE6DC"/>
                      </a:solidFill>
                      <a:prstDash val="solid"/>
                      <a:round/>
                      <a:headEnd type="none" w="med" len="med"/>
                      <a:tailEnd type="none" w="med" len="med"/>
                    </a:lnR>
                    <a:lnT w="6350" cap="flat" cmpd="sng" algn="ctr">
                      <a:solidFill>
                        <a:srgbClr val="EAE6DC"/>
                      </a:solidFill>
                      <a:prstDash val="solid"/>
                      <a:round/>
                      <a:headEnd type="none" w="med" len="med"/>
                      <a:tailEnd type="none" w="med" len="med"/>
                    </a:lnT>
                    <a:lnB w="6350" cap="flat" cmpd="sng" algn="ctr">
                      <a:solidFill>
                        <a:srgbClr val="EAE6DC"/>
                      </a:solidFill>
                      <a:prstDash val="solid"/>
                      <a:round/>
                      <a:headEnd type="none" w="med" len="med"/>
                      <a:tailEnd type="none" w="med" len="med"/>
                    </a:lnB>
                  </a:tcPr>
                </a:tc>
                <a:tc>
                  <a:txBody>
                    <a:bodyPr/>
                    <a:lstStyle/>
                    <a:p>
                      <a:pPr indent="0" marL="0">
                        <a:buNone/>
                      </a:pPr>
                      <a:r>
                        <a:rPr lang="en-US" sz="1050" b="1" dirty="0">
                          <a:solidFill>
                            <a:srgbClr val="B8892F"/>
                          </a:solidFill>
                          <a:latin typeface="Calibri" pitchFamily="34" charset="0"/>
                          <a:ea typeface="Calibri" pitchFamily="34" charset="-122"/>
                          <a:cs typeface="Calibri" pitchFamily="34" charset="-120"/>
                        </a:rPr>
                        <a:t>PSP, for collection state only</a:t>
                      </a:r>
                      <a:endParaRPr lang="en-US" sz="1050" dirty="0">
                        <a:latin typeface="Calibri" charset="0"/>
                        <a:ea typeface="Calibri" charset="0"/>
                        <a:cs typeface="Calibri" charset="0"/>
                      </a:endParaRPr>
                    </a:p>
                  </a:txBody>
                  <a:tcPr marL="91440" marR="91440" marT="45720" marB="45720" anchor="t">
                    <a:lnL w="6350" cap="flat" cmpd="sng" algn="ctr">
                      <a:solidFill>
                        <a:srgbClr val="EAE6DC"/>
                      </a:solidFill>
                      <a:prstDash val="solid"/>
                      <a:round/>
                      <a:headEnd type="none" w="med" len="med"/>
                      <a:tailEnd type="none" w="med" len="med"/>
                    </a:lnL>
                    <a:lnR w="6350" cap="flat" cmpd="sng" algn="ctr">
                      <a:solidFill>
                        <a:srgbClr val="EAE6DC"/>
                      </a:solidFill>
                      <a:prstDash val="solid"/>
                      <a:round/>
                      <a:headEnd type="none" w="med" len="med"/>
                      <a:tailEnd type="none" w="med" len="med"/>
                    </a:lnR>
                    <a:lnT w="6350" cap="flat" cmpd="sng" algn="ctr">
                      <a:solidFill>
                        <a:srgbClr val="EAE6DC"/>
                      </a:solidFill>
                      <a:prstDash val="solid"/>
                      <a:round/>
                      <a:headEnd type="none" w="med" len="med"/>
                      <a:tailEnd type="none" w="med" len="med"/>
                    </a:lnT>
                    <a:lnB w="6350" cap="flat" cmpd="sng" algn="ctr">
                      <a:solidFill>
                        <a:srgbClr val="EAE6DC"/>
                      </a:solidFill>
                      <a:prstDash val="solid"/>
                      <a:round/>
                      <a:headEnd type="none" w="med" len="med"/>
                      <a:tailEnd type="none" w="med" len="med"/>
                    </a:lnB>
                  </a:tcPr>
                </a:tc>
              </a:tr>
              <a:tr h="292608">
                <a:tc>
                  <a:txBody>
                    <a:bodyPr/>
                    <a:lstStyle/>
                    <a:p>
                      <a:pPr indent="0" marL="0">
                        <a:buNone/>
                      </a:pPr>
                      <a:r>
                        <a:rPr lang="en-US" sz="1050" b="1" dirty="0">
                          <a:solidFill>
                            <a:srgbClr val="1A1F2B"/>
                          </a:solidFill>
                          <a:latin typeface="Calibri" pitchFamily="34" charset="0"/>
                          <a:ea typeface="Calibri" pitchFamily="34" charset="-122"/>
                          <a:cs typeface="Calibri" pitchFamily="34" charset="-120"/>
                        </a:rPr>
                        <a:t>Payment Intent</a:t>
                      </a:r>
                      <a:endParaRPr lang="en-US" sz="1050" dirty="0">
                        <a:latin typeface="Calibri" charset="0"/>
                        <a:ea typeface="Calibri" charset="0"/>
                        <a:cs typeface="Calibri" charset="0"/>
                      </a:endParaRPr>
                    </a:p>
                  </a:txBody>
                  <a:tcPr marL="91440" marR="91440" marT="45720" marB="45720" anchor="t">
                    <a:lnL w="6350" cap="flat" cmpd="sng" algn="ctr">
                      <a:solidFill>
                        <a:srgbClr val="EAE6DC"/>
                      </a:solidFill>
                      <a:prstDash val="solid"/>
                      <a:round/>
                      <a:headEnd type="none" w="med" len="med"/>
                      <a:tailEnd type="none" w="med" len="med"/>
                    </a:lnL>
                    <a:lnR w="6350" cap="flat" cmpd="sng" algn="ctr">
                      <a:solidFill>
                        <a:srgbClr val="EAE6DC"/>
                      </a:solidFill>
                      <a:prstDash val="solid"/>
                      <a:round/>
                      <a:headEnd type="none" w="med" len="med"/>
                      <a:tailEnd type="none" w="med" len="med"/>
                    </a:lnR>
                    <a:lnT w="6350" cap="flat" cmpd="sng" algn="ctr">
                      <a:solidFill>
                        <a:srgbClr val="EAE6DC"/>
                      </a:solidFill>
                      <a:prstDash val="solid"/>
                      <a:round/>
                      <a:headEnd type="none" w="med" len="med"/>
                      <a:tailEnd type="none" w="med" len="med"/>
                    </a:lnT>
                    <a:lnB w="6350" cap="flat" cmpd="sng" algn="ctr">
                      <a:solidFill>
                        <a:srgbClr val="EAE6DC"/>
                      </a:solidFill>
                      <a:prstDash val="solid"/>
                      <a:round/>
                      <a:headEnd type="none" w="med" len="med"/>
                      <a:tailEnd type="none" w="med" len="med"/>
                    </a:lnB>
                  </a:tcPr>
                </a:tc>
                <a:tc>
                  <a:txBody>
                    <a:bodyPr/>
                    <a:lstStyle/>
                    <a:p>
                      <a:pPr indent="0" marL="0">
                        <a:buNone/>
                      </a:pPr>
                      <a:r>
                        <a:rPr lang="en-US" sz="1050" dirty="0">
                          <a:solidFill>
                            <a:srgbClr val="1A1F2B"/>
                          </a:solidFill>
                          <a:latin typeface="Calibri" pitchFamily="34" charset="0"/>
                          <a:ea typeface="Calibri" pitchFamily="34" charset="-122"/>
                          <a:cs typeface="Calibri" pitchFamily="34" charset="-120"/>
                        </a:rPr>
                        <a:t>Amount and constraints, policy context, authentication state, retry progress, remainder</a:t>
                      </a:r>
                      <a:endParaRPr lang="en-US" sz="1050" dirty="0">
                        <a:latin typeface="Calibri" charset="0"/>
                        <a:ea typeface="Calibri" charset="0"/>
                        <a:cs typeface="Calibri" charset="0"/>
                      </a:endParaRPr>
                    </a:p>
                  </a:txBody>
                  <a:tcPr marL="91440" marR="91440" marT="45720" marB="45720" anchor="t">
                    <a:lnL w="6350" cap="flat" cmpd="sng" algn="ctr">
                      <a:solidFill>
                        <a:srgbClr val="EAE6DC"/>
                      </a:solidFill>
                      <a:prstDash val="solid"/>
                      <a:round/>
                      <a:headEnd type="none" w="med" len="med"/>
                      <a:tailEnd type="none" w="med" len="med"/>
                    </a:lnL>
                    <a:lnR w="6350" cap="flat" cmpd="sng" algn="ctr">
                      <a:solidFill>
                        <a:srgbClr val="EAE6DC"/>
                      </a:solidFill>
                      <a:prstDash val="solid"/>
                      <a:round/>
                      <a:headEnd type="none" w="med" len="med"/>
                      <a:tailEnd type="none" w="med" len="med"/>
                    </a:lnR>
                    <a:lnT w="6350" cap="flat" cmpd="sng" algn="ctr">
                      <a:solidFill>
                        <a:srgbClr val="EAE6DC"/>
                      </a:solidFill>
                      <a:prstDash val="solid"/>
                      <a:round/>
                      <a:headEnd type="none" w="med" len="med"/>
                      <a:tailEnd type="none" w="med" len="med"/>
                    </a:lnT>
                    <a:lnB w="6350" cap="flat" cmpd="sng" algn="ctr">
                      <a:solidFill>
                        <a:srgbClr val="EAE6DC"/>
                      </a:solidFill>
                      <a:prstDash val="solid"/>
                      <a:round/>
                      <a:headEnd type="none" w="med" len="med"/>
                      <a:tailEnd type="none" w="med" len="med"/>
                    </a:lnB>
                  </a:tcPr>
                </a:tc>
                <a:tc>
                  <a:txBody>
                    <a:bodyPr/>
                    <a:lstStyle/>
                    <a:p>
                      <a:pPr indent="0" marL="0">
                        <a:buNone/>
                      </a:pPr>
                      <a:r>
                        <a:rPr lang="en-US" sz="1050" b="1" dirty="0">
                          <a:solidFill>
                            <a:srgbClr val="26706A"/>
                          </a:solidFill>
                          <a:latin typeface="Calibri" pitchFamily="34" charset="0"/>
                          <a:ea typeface="Calibri" pitchFamily="34" charset="-122"/>
                          <a:cs typeface="Calibri" pitchFamily="34" charset="-120"/>
                        </a:rPr>
                        <a:t>PSP</a:t>
                      </a:r>
                      <a:endParaRPr lang="en-US" sz="1050" dirty="0">
                        <a:latin typeface="Calibri" charset="0"/>
                        <a:ea typeface="Calibri" charset="0"/>
                        <a:cs typeface="Calibri" charset="0"/>
                      </a:endParaRPr>
                    </a:p>
                  </a:txBody>
                  <a:tcPr marL="91440" marR="91440" marT="45720" marB="45720" anchor="t">
                    <a:lnL w="6350" cap="flat" cmpd="sng" algn="ctr">
                      <a:solidFill>
                        <a:srgbClr val="EAE6DC"/>
                      </a:solidFill>
                      <a:prstDash val="solid"/>
                      <a:round/>
                      <a:headEnd type="none" w="med" len="med"/>
                      <a:tailEnd type="none" w="med" len="med"/>
                    </a:lnL>
                    <a:lnR w="6350" cap="flat" cmpd="sng" algn="ctr">
                      <a:solidFill>
                        <a:srgbClr val="EAE6DC"/>
                      </a:solidFill>
                      <a:prstDash val="solid"/>
                      <a:round/>
                      <a:headEnd type="none" w="med" len="med"/>
                      <a:tailEnd type="none" w="med" len="med"/>
                    </a:lnR>
                    <a:lnT w="6350" cap="flat" cmpd="sng" algn="ctr">
                      <a:solidFill>
                        <a:srgbClr val="EAE6DC"/>
                      </a:solidFill>
                      <a:prstDash val="solid"/>
                      <a:round/>
                      <a:headEnd type="none" w="med" len="med"/>
                      <a:tailEnd type="none" w="med" len="med"/>
                    </a:lnT>
                    <a:lnB w="6350" cap="flat" cmpd="sng" algn="ctr">
                      <a:solidFill>
                        <a:srgbClr val="EAE6DC"/>
                      </a:solidFill>
                      <a:prstDash val="solid"/>
                      <a:round/>
                      <a:headEnd type="none" w="med" len="med"/>
                      <a:tailEnd type="none" w="med" len="med"/>
                    </a:lnB>
                  </a:tcPr>
                </a:tc>
              </a:tr>
              <a:tr h="292608">
                <a:tc>
                  <a:txBody>
                    <a:bodyPr/>
                    <a:lstStyle/>
                    <a:p>
                      <a:pPr indent="0" marL="0">
                        <a:buNone/>
                      </a:pPr>
                      <a:r>
                        <a:rPr lang="en-US" sz="1050" b="1" dirty="0">
                          <a:solidFill>
                            <a:srgbClr val="1A1F2B"/>
                          </a:solidFill>
                          <a:latin typeface="Calibri" pitchFamily="34" charset="0"/>
                          <a:ea typeface="Calibri" pitchFamily="34" charset="-122"/>
                          <a:cs typeface="Calibri" pitchFamily="34" charset="-120"/>
                        </a:rPr>
                        <a:t>Payment Attempt</a:t>
                      </a:r>
                      <a:endParaRPr lang="en-US" sz="1050" dirty="0">
                        <a:latin typeface="Calibri" charset="0"/>
                        <a:ea typeface="Calibri" charset="0"/>
                        <a:cs typeface="Calibri" charset="0"/>
                      </a:endParaRPr>
                    </a:p>
                  </a:txBody>
                  <a:tcPr marL="91440" marR="91440" marT="45720" marB="45720" anchor="t">
                    <a:lnL w="6350" cap="flat" cmpd="sng" algn="ctr">
                      <a:solidFill>
                        <a:srgbClr val="EAE6DC"/>
                      </a:solidFill>
                      <a:prstDash val="solid"/>
                      <a:round/>
                      <a:headEnd type="none" w="med" len="med"/>
                      <a:tailEnd type="none" w="med" len="med"/>
                    </a:lnL>
                    <a:lnR w="6350" cap="flat" cmpd="sng" algn="ctr">
                      <a:solidFill>
                        <a:srgbClr val="EAE6DC"/>
                      </a:solidFill>
                      <a:prstDash val="solid"/>
                      <a:round/>
                      <a:headEnd type="none" w="med" len="med"/>
                      <a:tailEnd type="none" w="med" len="med"/>
                    </a:lnR>
                    <a:lnT w="6350" cap="flat" cmpd="sng" algn="ctr">
                      <a:solidFill>
                        <a:srgbClr val="EAE6DC"/>
                      </a:solidFill>
                      <a:prstDash val="solid"/>
                      <a:round/>
                      <a:headEnd type="none" w="med" len="med"/>
                      <a:tailEnd type="none" w="med" len="med"/>
                    </a:lnT>
                    <a:lnB w="6350" cap="flat" cmpd="sng" algn="ctr">
                      <a:solidFill>
                        <a:srgbClr val="EAE6DC"/>
                      </a:solidFill>
                      <a:prstDash val="solid"/>
                      <a:round/>
                      <a:headEnd type="none" w="med" len="med"/>
                      <a:tailEnd type="none" w="med" len="med"/>
                    </a:lnB>
                  </a:tcPr>
                </a:tc>
                <a:tc>
                  <a:txBody>
                    <a:bodyPr/>
                    <a:lstStyle/>
                    <a:p>
                      <a:pPr indent="0" marL="0">
                        <a:buNone/>
                      </a:pPr>
                      <a:r>
                        <a:rPr lang="en-US" sz="1050" dirty="0">
                          <a:solidFill>
                            <a:srgbClr val="1A1F2B"/>
                          </a:solidFill>
                          <a:latin typeface="Calibri" pitchFamily="34" charset="0"/>
                          <a:ea typeface="Calibri" pitchFamily="34" charset="-122"/>
                          <a:cs typeface="Calibri" pitchFamily="34" charset="-120"/>
                        </a:rPr>
                        <a:t>Credential, rail and route, authentication evidence, request and response, outcome</a:t>
                      </a:r>
                      <a:endParaRPr lang="en-US" sz="1050" dirty="0">
                        <a:latin typeface="Calibri" charset="0"/>
                        <a:ea typeface="Calibri" charset="0"/>
                        <a:cs typeface="Calibri" charset="0"/>
                      </a:endParaRPr>
                    </a:p>
                  </a:txBody>
                  <a:tcPr marL="91440" marR="91440" marT="45720" marB="45720" anchor="t">
                    <a:lnL w="6350" cap="flat" cmpd="sng" algn="ctr">
                      <a:solidFill>
                        <a:srgbClr val="EAE6DC"/>
                      </a:solidFill>
                      <a:prstDash val="solid"/>
                      <a:round/>
                      <a:headEnd type="none" w="med" len="med"/>
                      <a:tailEnd type="none" w="med" len="med"/>
                    </a:lnL>
                    <a:lnR w="6350" cap="flat" cmpd="sng" algn="ctr">
                      <a:solidFill>
                        <a:srgbClr val="EAE6DC"/>
                      </a:solidFill>
                      <a:prstDash val="solid"/>
                      <a:round/>
                      <a:headEnd type="none" w="med" len="med"/>
                      <a:tailEnd type="none" w="med" len="med"/>
                    </a:lnR>
                    <a:lnT w="6350" cap="flat" cmpd="sng" algn="ctr">
                      <a:solidFill>
                        <a:srgbClr val="EAE6DC"/>
                      </a:solidFill>
                      <a:prstDash val="solid"/>
                      <a:round/>
                      <a:headEnd type="none" w="med" len="med"/>
                      <a:tailEnd type="none" w="med" len="med"/>
                    </a:lnT>
                    <a:lnB w="6350" cap="flat" cmpd="sng" algn="ctr">
                      <a:solidFill>
                        <a:srgbClr val="EAE6DC"/>
                      </a:solidFill>
                      <a:prstDash val="solid"/>
                      <a:round/>
                      <a:headEnd type="none" w="med" len="med"/>
                      <a:tailEnd type="none" w="med" len="med"/>
                    </a:lnB>
                  </a:tcPr>
                </a:tc>
                <a:tc>
                  <a:txBody>
                    <a:bodyPr/>
                    <a:lstStyle/>
                    <a:p>
                      <a:pPr indent="0" marL="0">
                        <a:buNone/>
                      </a:pPr>
                      <a:r>
                        <a:rPr lang="en-US" sz="1050" b="1" dirty="0">
                          <a:solidFill>
                            <a:srgbClr val="26706A"/>
                          </a:solidFill>
                          <a:latin typeface="Calibri" pitchFamily="34" charset="0"/>
                          <a:ea typeface="Calibri" pitchFamily="34" charset="-122"/>
                          <a:cs typeface="Calibri" pitchFamily="34" charset="-120"/>
                        </a:rPr>
                        <a:t>PSP</a:t>
                      </a:r>
                      <a:endParaRPr lang="en-US" sz="1050" dirty="0">
                        <a:latin typeface="Calibri" charset="0"/>
                        <a:ea typeface="Calibri" charset="0"/>
                        <a:cs typeface="Calibri" charset="0"/>
                      </a:endParaRPr>
                    </a:p>
                  </a:txBody>
                  <a:tcPr marL="91440" marR="91440" marT="45720" marB="45720" anchor="t">
                    <a:lnL w="6350" cap="flat" cmpd="sng" algn="ctr">
                      <a:solidFill>
                        <a:srgbClr val="EAE6DC"/>
                      </a:solidFill>
                      <a:prstDash val="solid"/>
                      <a:round/>
                      <a:headEnd type="none" w="med" len="med"/>
                      <a:tailEnd type="none" w="med" len="med"/>
                    </a:lnL>
                    <a:lnR w="6350" cap="flat" cmpd="sng" algn="ctr">
                      <a:solidFill>
                        <a:srgbClr val="EAE6DC"/>
                      </a:solidFill>
                      <a:prstDash val="solid"/>
                      <a:round/>
                      <a:headEnd type="none" w="med" len="med"/>
                      <a:tailEnd type="none" w="med" len="med"/>
                    </a:lnR>
                    <a:lnT w="6350" cap="flat" cmpd="sng" algn="ctr">
                      <a:solidFill>
                        <a:srgbClr val="EAE6DC"/>
                      </a:solidFill>
                      <a:prstDash val="solid"/>
                      <a:round/>
                      <a:headEnd type="none" w="med" len="med"/>
                      <a:tailEnd type="none" w="med" len="med"/>
                    </a:lnT>
                    <a:lnB w="6350" cap="flat" cmpd="sng" algn="ctr">
                      <a:solidFill>
                        <a:srgbClr val="EAE6DC"/>
                      </a:solidFill>
                      <a:prstDash val="solid"/>
                      <a:round/>
                      <a:headEnd type="none" w="med" len="med"/>
                      <a:tailEnd type="none" w="med" len="med"/>
                    </a:lnB>
                  </a:tcPr>
                </a:tc>
              </a:tr>
              <a:tr h="292608">
                <a:tc>
                  <a:txBody>
                    <a:bodyPr/>
                    <a:lstStyle/>
                    <a:p>
                      <a:pPr indent="0" marL="0">
                        <a:buNone/>
                      </a:pPr>
                      <a:r>
                        <a:rPr lang="en-US" sz="1050" b="1" dirty="0">
                          <a:solidFill>
                            <a:srgbClr val="1A1F2B"/>
                          </a:solidFill>
                          <a:latin typeface="Calibri" pitchFamily="34" charset="0"/>
                          <a:ea typeface="Calibri" pitchFamily="34" charset="-122"/>
                          <a:cs typeface="Calibri" pitchFamily="34" charset="-120"/>
                        </a:rPr>
                        <a:t>Authorization · Capture · Refund</a:t>
                      </a:r>
                      <a:endParaRPr lang="en-US" sz="1050" dirty="0">
                        <a:latin typeface="Calibri" charset="0"/>
                        <a:ea typeface="Calibri" charset="0"/>
                        <a:cs typeface="Calibri" charset="0"/>
                      </a:endParaRPr>
                    </a:p>
                  </a:txBody>
                  <a:tcPr marL="91440" marR="91440" marT="45720" marB="45720" anchor="t">
                    <a:lnL w="6350" cap="flat" cmpd="sng" algn="ctr">
                      <a:solidFill>
                        <a:srgbClr val="EAE6DC"/>
                      </a:solidFill>
                      <a:prstDash val="solid"/>
                      <a:round/>
                      <a:headEnd type="none" w="med" len="med"/>
                      <a:tailEnd type="none" w="med" len="med"/>
                    </a:lnL>
                    <a:lnR w="6350" cap="flat" cmpd="sng" algn="ctr">
                      <a:solidFill>
                        <a:srgbClr val="EAE6DC"/>
                      </a:solidFill>
                      <a:prstDash val="solid"/>
                      <a:round/>
                      <a:headEnd type="none" w="med" len="med"/>
                      <a:tailEnd type="none" w="med" len="med"/>
                    </a:lnR>
                    <a:lnT w="6350" cap="flat" cmpd="sng" algn="ctr">
                      <a:solidFill>
                        <a:srgbClr val="EAE6DC"/>
                      </a:solidFill>
                      <a:prstDash val="solid"/>
                      <a:round/>
                      <a:headEnd type="none" w="med" len="med"/>
                      <a:tailEnd type="none" w="med" len="med"/>
                    </a:lnT>
                    <a:lnB w="6350" cap="flat" cmpd="sng" algn="ctr">
                      <a:solidFill>
                        <a:srgbClr val="EAE6DC"/>
                      </a:solidFill>
                      <a:prstDash val="solid"/>
                      <a:round/>
                      <a:headEnd type="none" w="med" len="med"/>
                      <a:tailEnd type="none" w="med" len="med"/>
                    </a:lnB>
                  </a:tcPr>
                </a:tc>
                <a:tc>
                  <a:txBody>
                    <a:bodyPr/>
                    <a:lstStyle/>
                    <a:p>
                      <a:pPr indent="0" marL="0">
                        <a:buNone/>
                      </a:pPr>
                      <a:r>
                        <a:rPr lang="en-US" sz="1050" dirty="0">
                          <a:solidFill>
                            <a:srgbClr val="1A1F2B"/>
                          </a:solidFill>
                          <a:latin typeface="Calibri" pitchFamily="34" charset="0"/>
                          <a:ea typeface="Calibri" pitchFamily="34" charset="-122"/>
                          <a:cs typeface="Calibri" pitchFamily="34" charset="-120"/>
                        </a:rPr>
                        <a:t>Each operation with its own amount, reference, idempotency key and status</a:t>
                      </a:r>
                      <a:endParaRPr lang="en-US" sz="1050" dirty="0">
                        <a:latin typeface="Calibri" charset="0"/>
                        <a:ea typeface="Calibri" charset="0"/>
                        <a:cs typeface="Calibri" charset="0"/>
                      </a:endParaRPr>
                    </a:p>
                  </a:txBody>
                  <a:tcPr marL="91440" marR="91440" marT="45720" marB="45720" anchor="t">
                    <a:lnL w="6350" cap="flat" cmpd="sng" algn="ctr">
                      <a:solidFill>
                        <a:srgbClr val="EAE6DC"/>
                      </a:solidFill>
                      <a:prstDash val="solid"/>
                      <a:round/>
                      <a:headEnd type="none" w="med" len="med"/>
                      <a:tailEnd type="none" w="med" len="med"/>
                    </a:lnL>
                    <a:lnR w="6350" cap="flat" cmpd="sng" algn="ctr">
                      <a:solidFill>
                        <a:srgbClr val="EAE6DC"/>
                      </a:solidFill>
                      <a:prstDash val="solid"/>
                      <a:round/>
                      <a:headEnd type="none" w="med" len="med"/>
                      <a:tailEnd type="none" w="med" len="med"/>
                    </a:lnR>
                    <a:lnT w="6350" cap="flat" cmpd="sng" algn="ctr">
                      <a:solidFill>
                        <a:srgbClr val="EAE6DC"/>
                      </a:solidFill>
                      <a:prstDash val="solid"/>
                      <a:round/>
                      <a:headEnd type="none" w="med" len="med"/>
                      <a:tailEnd type="none" w="med" len="med"/>
                    </a:lnT>
                    <a:lnB w="6350" cap="flat" cmpd="sng" algn="ctr">
                      <a:solidFill>
                        <a:srgbClr val="EAE6DC"/>
                      </a:solidFill>
                      <a:prstDash val="solid"/>
                      <a:round/>
                      <a:headEnd type="none" w="med" len="med"/>
                      <a:tailEnd type="none" w="med" len="med"/>
                    </a:lnB>
                  </a:tcPr>
                </a:tc>
                <a:tc>
                  <a:txBody>
                    <a:bodyPr/>
                    <a:lstStyle/>
                    <a:p>
                      <a:pPr indent="0" marL="0">
                        <a:buNone/>
                      </a:pPr>
                      <a:r>
                        <a:rPr lang="en-US" sz="1050" b="1" dirty="0">
                          <a:solidFill>
                            <a:srgbClr val="26706A"/>
                          </a:solidFill>
                          <a:latin typeface="Calibri" pitchFamily="34" charset="0"/>
                          <a:ea typeface="Calibri" pitchFamily="34" charset="-122"/>
                          <a:cs typeface="Calibri" pitchFamily="34" charset="-120"/>
                        </a:rPr>
                        <a:t>PSP</a:t>
                      </a:r>
                      <a:endParaRPr lang="en-US" sz="1050" dirty="0">
                        <a:latin typeface="Calibri" charset="0"/>
                        <a:ea typeface="Calibri" charset="0"/>
                        <a:cs typeface="Calibri" charset="0"/>
                      </a:endParaRPr>
                    </a:p>
                  </a:txBody>
                  <a:tcPr marL="91440" marR="91440" marT="45720" marB="45720" anchor="t">
                    <a:lnL w="6350" cap="flat" cmpd="sng" algn="ctr">
                      <a:solidFill>
                        <a:srgbClr val="EAE6DC"/>
                      </a:solidFill>
                      <a:prstDash val="solid"/>
                      <a:round/>
                      <a:headEnd type="none" w="med" len="med"/>
                      <a:tailEnd type="none" w="med" len="med"/>
                    </a:lnL>
                    <a:lnR w="6350" cap="flat" cmpd="sng" algn="ctr">
                      <a:solidFill>
                        <a:srgbClr val="EAE6DC"/>
                      </a:solidFill>
                      <a:prstDash val="solid"/>
                      <a:round/>
                      <a:headEnd type="none" w="med" len="med"/>
                      <a:tailEnd type="none" w="med" len="med"/>
                    </a:lnR>
                    <a:lnT w="6350" cap="flat" cmpd="sng" algn="ctr">
                      <a:solidFill>
                        <a:srgbClr val="EAE6DC"/>
                      </a:solidFill>
                      <a:prstDash val="solid"/>
                      <a:round/>
                      <a:headEnd type="none" w="med" len="med"/>
                      <a:tailEnd type="none" w="med" len="med"/>
                    </a:lnT>
                    <a:lnB w="6350" cap="flat" cmpd="sng" algn="ctr">
                      <a:solidFill>
                        <a:srgbClr val="EAE6DC"/>
                      </a:solidFill>
                      <a:prstDash val="solid"/>
                      <a:round/>
                      <a:headEnd type="none" w="med" len="med"/>
                      <a:tailEnd type="none" w="med" len="med"/>
                    </a:lnB>
                  </a:tcPr>
                </a:tc>
              </a:tr>
            </a:tbl>
          </a:graphicData>
        </a:graphic>
      </p:graphicFrame>
      <p:sp>
        <p:nvSpPr>
          <p:cNvPr id="7" name="card-Order-led"/>
          <p:cNvSpPr/>
          <p:nvPr/>
        </p:nvSpPr>
        <p:spPr>
          <a:xfrm>
            <a:off x="475488" y="4133088"/>
            <a:ext cx="3637178" cy="1298448"/>
          </a:xfrm>
          <a:prstGeom prst="rect">
            <a:avLst/>
          </a:prstGeom>
          <a:solidFill>
            <a:srgbClr val="FBFAF7"/>
          </a:solidFill>
          <a:ln w="6350">
            <a:solidFill>
              <a:srgbClr val="DCD7CB"/>
            </a:solidFill>
            <a:prstDash val="solid"/>
          </a:ln>
        </p:spPr>
      </p:sp>
      <p:sp>
        <p:nvSpPr>
          <p:cNvPr id="8" name="Text 5"/>
          <p:cNvSpPr txBox="1"/>
          <p:nvPr/>
        </p:nvSpPr>
        <p:spPr>
          <a:xfrm>
            <a:off x="603504" y="4233672"/>
            <a:ext cx="3381146" cy="182880"/>
          </a:xfrm>
          <a:prstGeom prst="rect">
            <a:avLst/>
          </a:prstGeom>
          <a:noFill/>
          <a:ln/>
        </p:spPr>
        <p:txBody>
          <a:bodyPr wrap="square" lIns="0" tIns="0" rIns="0" bIns="0" rtlCol="0" anchor="ctr"/>
          <a:lstStyle/>
          <a:p>
            <a:pPr indent="0" marL="0">
              <a:buNone/>
            </a:pPr>
            <a:r>
              <a:rPr lang="en-US" sz="900" spc="140" kern="0" dirty="0">
                <a:solidFill>
                  <a:srgbClr val="26706A"/>
                </a:solidFill>
                <a:latin typeface="Consolas" pitchFamily="34" charset="0"/>
                <a:ea typeface="Consolas" pitchFamily="34" charset="-122"/>
                <a:cs typeface="Consolas" pitchFamily="34" charset="-120"/>
              </a:rPr>
              <a:t>PATTERN A — PREFERRED</a:t>
            </a:r>
            <a:endParaRPr lang="en-US" sz="900" dirty="0"/>
          </a:p>
        </p:txBody>
      </p:sp>
      <p:sp>
        <p:nvSpPr>
          <p:cNvPr id="9" name="Text 6"/>
          <p:cNvSpPr txBox="1"/>
          <p:nvPr/>
        </p:nvSpPr>
        <p:spPr>
          <a:xfrm>
            <a:off x="603504" y="4425696"/>
            <a:ext cx="3381146" cy="256032"/>
          </a:xfrm>
          <a:prstGeom prst="rect">
            <a:avLst/>
          </a:prstGeom>
          <a:noFill/>
          <a:ln/>
        </p:spPr>
        <p:txBody>
          <a:bodyPr wrap="square" lIns="0" tIns="0" rIns="0" bIns="0" rtlCol="0" anchor="ctr"/>
          <a:lstStyle/>
          <a:p>
            <a:pPr indent="0" marL="0">
              <a:buNone/>
            </a:pPr>
            <a:r>
              <a:rPr lang="en-US" sz="1450" b="1" dirty="0">
                <a:solidFill>
                  <a:srgbClr val="0F1A2B"/>
                </a:solidFill>
                <a:latin typeface="Cambria" pitchFamily="34" charset="0"/>
                <a:ea typeface="Cambria" pitchFamily="34" charset="-122"/>
                <a:cs typeface="Cambria" pitchFamily="34" charset="-120"/>
              </a:rPr>
              <a:t>Order-led</a:t>
            </a:r>
            <a:endParaRPr lang="en-US" sz="1450" dirty="0"/>
          </a:p>
        </p:txBody>
      </p:sp>
      <p:sp>
        <p:nvSpPr>
          <p:cNvPr id="10" name="Text 7"/>
          <p:cNvSpPr txBox="1"/>
          <p:nvPr/>
        </p:nvSpPr>
        <p:spPr>
          <a:xfrm>
            <a:off x="603504" y="4709160"/>
            <a:ext cx="3381146" cy="630936"/>
          </a:xfrm>
          <a:prstGeom prst="rect">
            <a:avLst/>
          </a:prstGeom>
          <a:noFill/>
          <a:ln/>
        </p:spPr>
        <p:txBody>
          <a:bodyPr wrap="square" lIns="0" tIns="0" rIns="0" bIns="0" rtlCol="0" anchor="t"/>
          <a:lstStyle/>
          <a:p>
            <a:pPr indent="0" marL="0">
              <a:buNone/>
            </a:pPr>
            <a:r>
              <a:rPr lang="en-US" sz="1100" dirty="0">
                <a:solidFill>
                  <a:srgbClr val="1A1F2B"/>
                </a:solidFill>
              </a:rPr>
              <a:t>Order → Intent → Attempts. For marketplaces, multi-tender, omnichannel, split shipments, deposits and enterprise commerce — slide 11.</a:t>
            </a:r>
            <a:endParaRPr lang="en-US" sz="1100" dirty="0"/>
          </a:p>
        </p:txBody>
      </p:sp>
      <p:sp>
        <p:nvSpPr>
          <p:cNvPr id="11" name="card-Payment-led"/>
          <p:cNvSpPr/>
          <p:nvPr/>
        </p:nvSpPr>
        <p:spPr>
          <a:xfrm>
            <a:off x="4277258" y="4133088"/>
            <a:ext cx="3637178" cy="1298448"/>
          </a:xfrm>
          <a:prstGeom prst="rect">
            <a:avLst/>
          </a:prstGeom>
          <a:solidFill>
            <a:srgbClr val="FAF4E6"/>
          </a:solidFill>
          <a:ln w="6350">
            <a:solidFill>
              <a:srgbClr val="DCD7CB"/>
            </a:solidFill>
            <a:prstDash val="solid"/>
          </a:ln>
        </p:spPr>
      </p:sp>
      <p:sp>
        <p:nvSpPr>
          <p:cNvPr id="12" name="Text 9"/>
          <p:cNvSpPr txBox="1"/>
          <p:nvPr/>
        </p:nvSpPr>
        <p:spPr>
          <a:xfrm>
            <a:off x="4405274" y="4233672"/>
            <a:ext cx="3381146" cy="182880"/>
          </a:xfrm>
          <a:prstGeom prst="rect">
            <a:avLst/>
          </a:prstGeom>
          <a:noFill/>
          <a:ln/>
        </p:spPr>
        <p:txBody>
          <a:bodyPr wrap="square" lIns="0" tIns="0" rIns="0" bIns="0" rtlCol="0" anchor="ctr"/>
          <a:lstStyle/>
          <a:p>
            <a:pPr indent="0" marL="0">
              <a:buNone/>
            </a:pPr>
            <a:r>
              <a:rPr lang="en-US" sz="900" spc="140" kern="0" dirty="0">
                <a:solidFill>
                  <a:srgbClr val="B8892F"/>
                </a:solidFill>
                <a:latin typeface="Consolas" pitchFamily="34" charset="0"/>
                <a:ea typeface="Consolas" pitchFamily="34" charset="-122"/>
                <a:cs typeface="Consolas" pitchFamily="34" charset="-120"/>
              </a:rPr>
              <a:t>PATTERN B — SUPPORTED, NOT SECOND-CLASS</a:t>
            </a:r>
            <a:endParaRPr lang="en-US" sz="900" dirty="0"/>
          </a:p>
        </p:txBody>
      </p:sp>
      <p:sp>
        <p:nvSpPr>
          <p:cNvPr id="13" name="Text 10"/>
          <p:cNvSpPr txBox="1"/>
          <p:nvPr/>
        </p:nvSpPr>
        <p:spPr>
          <a:xfrm>
            <a:off x="4405274" y="4425696"/>
            <a:ext cx="3381146" cy="256032"/>
          </a:xfrm>
          <a:prstGeom prst="rect">
            <a:avLst/>
          </a:prstGeom>
          <a:noFill/>
          <a:ln/>
        </p:spPr>
        <p:txBody>
          <a:bodyPr wrap="square" lIns="0" tIns="0" rIns="0" bIns="0" rtlCol="0" anchor="ctr"/>
          <a:lstStyle/>
          <a:p>
            <a:pPr indent="0" marL="0">
              <a:buNone/>
            </a:pPr>
            <a:r>
              <a:rPr lang="en-US" sz="1450" b="1" dirty="0">
                <a:solidFill>
                  <a:srgbClr val="0F1A2B"/>
                </a:solidFill>
                <a:latin typeface="Cambria" pitchFamily="34" charset="0"/>
                <a:ea typeface="Cambria" pitchFamily="34" charset="-122"/>
                <a:cs typeface="Cambria" pitchFamily="34" charset="-120"/>
              </a:rPr>
              <a:t>Payment-led</a:t>
            </a:r>
            <a:endParaRPr lang="en-US" sz="1450" dirty="0"/>
          </a:p>
        </p:txBody>
      </p:sp>
      <p:sp>
        <p:nvSpPr>
          <p:cNvPr id="14" name="Text 11"/>
          <p:cNvSpPr txBox="1"/>
          <p:nvPr/>
        </p:nvSpPr>
        <p:spPr>
          <a:xfrm>
            <a:off x="4405274" y="4709160"/>
            <a:ext cx="3381146" cy="630936"/>
          </a:xfrm>
          <a:prstGeom prst="rect">
            <a:avLst/>
          </a:prstGeom>
          <a:noFill/>
          <a:ln/>
        </p:spPr>
        <p:txBody>
          <a:bodyPr wrap="square" lIns="0" tIns="0" rIns="0" bIns="0" rtlCol="0" anchor="t"/>
          <a:lstStyle/>
          <a:p>
            <a:pPr indent="0" marL="0">
              <a:buNone/>
            </a:pPr>
            <a:r>
              <a:rPr lang="en-US" sz="1100" dirty="0">
                <a:solidFill>
                  <a:srgbClr val="1A1F2B"/>
                </a:solidFill>
              </a:rPr>
              <a:t>Intent with a merchant_order_id, no PSP Order. For straightforward ecommerce, high throughput, recurring MIT and merchants with their own orchestration.</a:t>
            </a:r>
            <a:endParaRPr lang="en-US" sz="1100" dirty="0"/>
          </a:p>
        </p:txBody>
      </p:sp>
      <p:sp>
        <p:nvSpPr>
          <p:cNvPr id="15" name="card-Progressive adoption"/>
          <p:cNvSpPr/>
          <p:nvPr/>
        </p:nvSpPr>
        <p:spPr>
          <a:xfrm>
            <a:off x="8079029" y="4133088"/>
            <a:ext cx="3637178" cy="1298448"/>
          </a:xfrm>
          <a:prstGeom prst="rect">
            <a:avLst/>
          </a:prstGeom>
          <a:solidFill>
            <a:srgbClr val="FBFAF7"/>
          </a:solidFill>
          <a:ln w="6350">
            <a:solidFill>
              <a:srgbClr val="DCD7CB"/>
            </a:solidFill>
            <a:prstDash val="solid"/>
          </a:ln>
        </p:spPr>
      </p:sp>
      <p:sp>
        <p:nvSpPr>
          <p:cNvPr id="16" name="Text 13"/>
          <p:cNvSpPr txBox="1"/>
          <p:nvPr/>
        </p:nvSpPr>
        <p:spPr>
          <a:xfrm>
            <a:off x="8207045" y="4233672"/>
            <a:ext cx="3381146" cy="182880"/>
          </a:xfrm>
          <a:prstGeom prst="rect">
            <a:avLst/>
          </a:prstGeom>
          <a:noFill/>
          <a:ln/>
        </p:spPr>
        <p:txBody>
          <a:bodyPr wrap="square" lIns="0" tIns="0" rIns="0" bIns="0" rtlCol="0" anchor="ctr"/>
          <a:lstStyle/>
          <a:p>
            <a:pPr indent="0" marL="0">
              <a:buNone/>
            </a:pPr>
            <a:r>
              <a:rPr lang="en-US" sz="900" spc="140" kern="0" dirty="0">
                <a:solidFill>
                  <a:srgbClr val="26706A"/>
                </a:solidFill>
                <a:latin typeface="Consolas" pitchFamily="34" charset="0"/>
                <a:ea typeface="Consolas" pitchFamily="34" charset="-122"/>
                <a:cs typeface="Consolas" pitchFamily="34" charset="-120"/>
              </a:rPr>
              <a:t>PATTERN C</a:t>
            </a:r>
            <a:endParaRPr lang="en-US" sz="900" dirty="0"/>
          </a:p>
        </p:txBody>
      </p:sp>
      <p:sp>
        <p:nvSpPr>
          <p:cNvPr id="17" name="Text 14"/>
          <p:cNvSpPr txBox="1"/>
          <p:nvPr/>
        </p:nvSpPr>
        <p:spPr>
          <a:xfrm>
            <a:off x="8207045" y="4425696"/>
            <a:ext cx="3381146" cy="256032"/>
          </a:xfrm>
          <a:prstGeom prst="rect">
            <a:avLst/>
          </a:prstGeom>
          <a:noFill/>
          <a:ln/>
        </p:spPr>
        <p:txBody>
          <a:bodyPr wrap="square" lIns="0" tIns="0" rIns="0" bIns="0" rtlCol="0" anchor="ctr"/>
          <a:lstStyle/>
          <a:p>
            <a:pPr indent="0" marL="0">
              <a:buNone/>
            </a:pPr>
            <a:r>
              <a:rPr lang="en-US" sz="1450" b="1" dirty="0">
                <a:solidFill>
                  <a:srgbClr val="0F1A2B"/>
                </a:solidFill>
                <a:latin typeface="Cambria" pitchFamily="34" charset="0"/>
                <a:ea typeface="Cambria" pitchFamily="34" charset="-122"/>
                <a:cs typeface="Cambria" pitchFamily="34" charset="-120"/>
              </a:rPr>
              <a:t>Progressive adoption</a:t>
            </a:r>
            <a:endParaRPr lang="en-US" sz="1450" dirty="0"/>
          </a:p>
        </p:txBody>
      </p:sp>
      <p:sp>
        <p:nvSpPr>
          <p:cNvPr id="18" name="Text 15"/>
          <p:cNvSpPr txBox="1"/>
          <p:nvPr/>
        </p:nvSpPr>
        <p:spPr>
          <a:xfrm>
            <a:off x="8207045" y="4709160"/>
            <a:ext cx="3381146" cy="630936"/>
          </a:xfrm>
          <a:prstGeom prst="rect">
            <a:avLst/>
          </a:prstGeom>
          <a:noFill/>
          <a:ln/>
        </p:spPr>
        <p:txBody>
          <a:bodyPr wrap="square" lIns="0" tIns="0" rIns="0" bIns="0" rtlCol="0" anchor="t"/>
          <a:lstStyle/>
          <a:p>
            <a:pPr indent="0" marL="0">
              <a:buNone/>
            </a:pPr>
            <a:r>
              <a:rPr lang="en-US" sz="1100" dirty="0">
                <a:solidFill>
                  <a:srgbClr val="1A1F2B"/>
                </a:solidFill>
              </a:rPr>
              <a:t>Start payment-led, associate an Order later. The association must preserve amount, currency, ownership and lifecycle invariants.</a:t>
            </a:r>
            <a:endParaRPr lang="en-US" sz="1100" dirty="0"/>
          </a:p>
        </p:txBody>
      </p:sp>
      <p:sp>
        <p:nvSpPr>
          <p:cNvPr id="19" name="takeaway"/>
          <p:cNvSpPr/>
          <p:nvPr/>
        </p:nvSpPr>
        <p:spPr>
          <a:xfrm>
            <a:off x="475488" y="5541264"/>
            <a:ext cx="11240719" cy="768096"/>
          </a:xfrm>
          <a:prstGeom prst="rect">
            <a:avLst/>
          </a:prstGeom>
          <a:solidFill>
            <a:srgbClr val="0F1A2B"/>
          </a:solidFill>
          <a:ln w="12700">
            <a:solidFill>
              <a:srgbClr val="333333"/>
            </a:solidFill>
            <a:prstDash val="solid"/>
          </a:ln>
        </p:spPr>
      </p:sp>
      <p:sp>
        <p:nvSpPr>
          <p:cNvPr id="20" name="Text 17"/>
          <p:cNvSpPr txBox="1"/>
          <p:nvPr/>
        </p:nvSpPr>
        <p:spPr>
          <a:xfrm>
            <a:off x="640080" y="5623560"/>
            <a:ext cx="10911535" cy="182880"/>
          </a:xfrm>
          <a:prstGeom prst="rect">
            <a:avLst/>
          </a:prstGeom>
          <a:noFill/>
          <a:ln/>
        </p:spPr>
        <p:txBody>
          <a:bodyPr wrap="square" lIns="0" tIns="0" rIns="0" bIns="0" rtlCol="0" anchor="ctr"/>
          <a:lstStyle/>
          <a:p>
            <a:pPr indent="0" marL="0">
              <a:buNone/>
            </a:pPr>
            <a:r>
              <a:rPr lang="en-US" sz="900" spc="160" kern="0" dirty="0">
                <a:solidFill>
                  <a:srgbClr val="D9A03C"/>
                </a:solidFill>
                <a:latin typeface="Consolas" pitchFamily="34" charset="0"/>
                <a:ea typeface="Consolas" pitchFamily="34" charset="-122"/>
                <a:cs typeface="Consolas" pitchFamily="34" charset="-120"/>
              </a:rPr>
              <a:t>THE LEADERSHIP DECISION TO MAKE EXPLICIT</a:t>
            </a:r>
            <a:endParaRPr lang="en-US" sz="900" dirty="0"/>
          </a:p>
        </p:txBody>
      </p:sp>
      <p:sp>
        <p:nvSpPr>
          <p:cNvPr id="21" name="Text 18"/>
          <p:cNvSpPr txBox="1"/>
          <p:nvPr/>
        </p:nvSpPr>
        <p:spPr>
          <a:xfrm>
            <a:off x="640080" y="5815584"/>
            <a:ext cx="10911535" cy="438912"/>
          </a:xfrm>
          <a:prstGeom prst="rect">
            <a:avLst/>
          </a:prstGeom>
          <a:noFill/>
          <a:ln/>
        </p:spPr>
        <p:txBody>
          <a:bodyPr wrap="square" lIns="0" tIns="0" rIns="0" bIns="0" rtlCol="0" anchor="t"/>
          <a:lstStyle/>
          <a:p>
            <a:pPr indent="0" marL="0">
              <a:buNone/>
            </a:pPr>
            <a:r>
              <a:rPr lang="en-US" sz="1150" dirty="0">
                <a:solidFill>
                  <a:srgbClr val="F2EEE4"/>
                </a:solidFill>
              </a:rPr>
              <a:t>Are we building Order because the platform needs a </a:t>
            </a:r>
            <a:pPr indent="0" marL="0">
              <a:buNone/>
            </a:pPr>
            <a:r>
              <a:rPr lang="en-US" sz="1150" b="1" dirty="0">
                <a:solidFill>
                  <a:srgbClr val="E8D9B4"/>
                </a:solidFill>
              </a:rPr>
              <a:t>canonical commerce coordination layer</a:t>
            </a:r>
            <a:pPr indent="0" marL="0">
              <a:buNone/>
            </a:pPr>
            <a:r>
              <a:rPr lang="en-US" sz="1150" dirty="0">
                <a:solidFill>
                  <a:srgbClr val="F2EEE4"/>
                </a:solidFill>
              </a:rPr>
              <a:t>, or because we want to </a:t>
            </a:r>
            <a:pPr indent="0" marL="0">
              <a:buNone/>
            </a:pPr>
            <a:r>
              <a:rPr lang="en-US" sz="1150" b="1" dirty="0">
                <a:solidFill>
                  <a:srgbClr val="E8D9B4"/>
                </a:solidFill>
              </a:rPr>
              <a:t>standardise client integrations</a:t>
            </a:r>
            <a:pPr indent="0" marL="0">
              <a:buNone/>
            </a:pPr>
            <a:r>
              <a:rPr lang="en-US" sz="1150" dirty="0">
                <a:solidFill>
                  <a:srgbClr val="F2EEE4"/>
                </a:solidFill>
              </a:rPr>
              <a:t>? If the former, define the capabilities Order owns and let adoption follow them. If the latter, fix API semantics, lifecycle events, idempotency and payment correlation first.</a:t>
            </a:r>
            <a:endParaRPr lang="en-US" sz="1150" dirty="0"/>
          </a:p>
        </p:txBody>
      </p:sp>
      <p:sp>
        <p:nvSpPr>
          <p:cNvPr id="25" name="Slide Number Placeholder 0"/>
          <p:cNvSpPr>
            <a:spLocks noGrp="1"/>
          </p:cNvSpPr>
          <p:nvPr>
            <p:ph type="sldNum" sz="quarter" idx="4294967295"/>
          </p:nvPr>
        </p:nvSpPr>
        <p:spPr>
          <a:xfrm>
            <a:off x="11430000" y="6419088"/>
            <a:ext cx="36576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9AA2AE"/>
                </a:solidFill>
                <a:latin typeface="Consolas"/>
                <a:ea typeface="Consolas"/>
                <a:cs typeface="Consolas"/>
              </a:defRPr>
            </a:lvl1pPr>
          </a:lstStyle>
          <a:p>
            <a:pPr algn="r"/>
            <a:fld id="{F7021451-1387-4CA6-816F-3879F97B5CBC}" type="slidenum">
              <a:rPr b="0" lang="en-US"/>
              <a:t>20</a:t>
            </a:fld>
            <a:endParaRPr lang="en-US"/>
          </a:p>
        </p:txBody>
      </p:sp>
    </p:spTree>
  </p:cSld>
  <p:clrMapOvr>
    <a:masterClrMapping/>
  </p:clrMapOvr>
</p:sld>
</file>

<file path=ppt/theme/theme1.xml><?xml version="1.0" encoding="utf-8"?>
<a:theme xmlns:a="http://schemas.openxmlformats.org/drawingml/2006/main" name="Midnight Executive">
  <a:themeElements>
    <a:clrScheme name="Midnight Executive">
      <a:dk1>
        <a:srgbClr val="0F1A2B"/>
      </a:dk1>
      <a:lt1>
        <a:srgbClr val="FFFFFF"/>
      </a:lt1>
      <a:dk2>
        <a:srgbClr val="1A1F2B"/>
      </a:dk2>
      <a:lt2>
        <a:srgbClr val="FBFAF7"/>
      </a:lt2>
      <a:accent1>
        <a:srgbClr val="B8892F"/>
      </a:accent1>
      <a:accent2>
        <a:srgbClr val="26706A"/>
      </a:accent2>
      <a:accent3>
        <a:srgbClr val="9B2C2C"/>
      </a:accent3>
      <a:accent4>
        <a:srgbClr val="D9A03C"/>
      </a:accent4>
      <a:accent5>
        <a:srgbClr val="E8D9B4"/>
      </a:accent5>
      <a:accent6>
        <a:srgbClr val="6B7482"/>
      </a:accent6>
      <a:hlink>
        <a:srgbClr val="26706A"/>
      </a:hlink>
      <a:folHlink>
        <a:srgbClr val="B8892F"/>
      </a:folHlink>
    </a:clrScheme>
    <a:fontScheme name="Midnight Executiv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Payment Intent and Payment Attempt</dc:title>
  <dc:subject>PptxGenJS Presentation</dc:subject>
  <dc:creator>JPMorgan Chase Merchant Services</dc:creator>
  <cp:lastModifiedBy>JPMorgan Chase Merchant Services</cp:lastModifiedBy>
  <cp:revision>1</cp:revision>
  <dcterms:created xsi:type="dcterms:W3CDTF">2026-10-16T04:21:32Z</dcterms:created>
  <dcterms:modified xsi:type="dcterms:W3CDTF">2026-10-16T04:21:32Z</dcterms:modified>
</cp:coreProperties>
</file>